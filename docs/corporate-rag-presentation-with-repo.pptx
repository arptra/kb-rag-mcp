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4977f58b11459c" /><Relationship Type="http://schemas.openxmlformats.org/officeDocument/2006/relationships/extended-properties" Target="/docProps/app.xml" Id="R78216cbd0b474807" /><Relationship Type="http://schemas.openxmlformats.org/officeDocument/2006/relationships/officeDocument" Target="/ppt/presentation.xml" Id="Ra633ca65330b4cc5" /></Relationships>
</file>

<file path=ppt/presentation.xml><?xml version="1.0" encoding="utf-8"?>
<p:presentation xmlns:p="http://schemas.openxmlformats.org/presentationml/2006/main">
  <p:sldMasterIdLst>
    <p:sldMasterId xmlns:r="http://schemas.openxmlformats.org/officeDocument/2006/relationships" id="2147483648" r:id="R12e0f9b27c2a48c2"/>
  </p:sldMasterIdLst>
  <p:notesMasterIdLst>
    <p:notesMasterId xmlns:r="http://schemas.openxmlformats.org/officeDocument/2006/relationships" r:id="Rbc059272436e4f94"/>
  </p:notesMasterIdLst>
  <p:sldIdLst>
    <p:sldId xmlns:r="http://schemas.openxmlformats.org/officeDocument/2006/relationships" id="256" r:id="Ree0657e321714753"/>
    <p:sldId xmlns:r="http://schemas.openxmlformats.org/officeDocument/2006/relationships" id="257" r:id="R27300fbd4d954dd2"/>
    <p:sldId xmlns:r="http://schemas.openxmlformats.org/officeDocument/2006/relationships" id="258" r:id="Re99d332c207245ea"/>
    <p:sldId xmlns:r="http://schemas.openxmlformats.org/officeDocument/2006/relationships" id="259" r:id="Rc88b79a2acdd4a03"/>
    <p:sldId xmlns:r="http://schemas.openxmlformats.org/officeDocument/2006/relationships" id="260" r:id="R19fcdc09808e4f4e"/>
    <p:sldId xmlns:r="http://schemas.openxmlformats.org/officeDocument/2006/relationships" id="261" r:id="R0b25056d811b4658"/>
    <p:sldId xmlns:r="http://schemas.openxmlformats.org/officeDocument/2006/relationships" id="262" r:id="R8392823a2f9d48b4"/>
    <p:sldId xmlns:r="http://schemas.openxmlformats.org/officeDocument/2006/relationships" id="263" r:id="R699a0c6e22f14210"/>
    <p:sldId xmlns:r="http://schemas.openxmlformats.org/officeDocument/2006/relationships" id="264" r:id="Re859d05367904cd7"/>
    <p:sldId xmlns:r="http://schemas.openxmlformats.org/officeDocument/2006/relationships" id="265" r:id="R566a4e45c9ac457b"/>
    <p:sldId xmlns:r="http://schemas.openxmlformats.org/officeDocument/2006/relationships" id="266" r:id="R267efdb7d5c1410e"/>
    <p:sldId xmlns:r="http://schemas.openxmlformats.org/officeDocument/2006/relationships" id="267" r:id="R69cabe18432b4cd5"/>
    <p:sldId xmlns:r="http://schemas.openxmlformats.org/officeDocument/2006/relationships" id="268" r:id="R00a6c8be635c4039"/>
    <p:sldId xmlns:r="http://schemas.openxmlformats.org/officeDocument/2006/relationships" id="269" r:id="Rbfd7bb44f2d345d2"/>
    <p:sldId xmlns:r="http://schemas.openxmlformats.org/officeDocument/2006/relationships" id="270" r:id="R09d65799442c494a"/>
    <p:sldId xmlns:r="http://schemas.openxmlformats.org/officeDocument/2006/relationships" id="271" r:id="Rd7c4edeaaa764d13"/>
    <p:sldId xmlns:r="http://schemas.openxmlformats.org/officeDocument/2006/relationships" id="272" r:id="R8e077e5b4e2a47d3"/>
    <p:sldId xmlns:r="http://schemas.openxmlformats.org/officeDocument/2006/relationships" id="273" r:id="R874992132cde4cf7"/>
    <p:sldId xmlns:r="http://schemas.openxmlformats.org/officeDocument/2006/relationships" id="274" r:id="Rda6f739c718e4ee2"/>
    <p:sldId xmlns:r="http://schemas.openxmlformats.org/officeDocument/2006/relationships" id="275" r:id="Rc6091d74f26b4ab0"/>
    <p:sldId xmlns:r="http://schemas.openxmlformats.org/officeDocument/2006/relationships" id="276" r:id="R50ef67abab1643db"/>
    <p:sldId xmlns:r="http://schemas.openxmlformats.org/officeDocument/2006/relationships" id="277" r:id="R3669a84b3f94477d"/>
    <p:sldId xmlns:r="http://schemas.openxmlformats.org/officeDocument/2006/relationships" id="278" r:id="Rfdab4e8974924a42"/>
    <p:sldId xmlns:r="http://schemas.openxmlformats.org/officeDocument/2006/relationships" id="279" r:id="Rb537256a17dd48e6"/>
    <p:sldId xmlns:r="http://schemas.openxmlformats.org/officeDocument/2006/relationships" id="280" r:id="R596d17f9385b460b"/>
    <p:sldId xmlns:r="http://schemas.openxmlformats.org/officeDocument/2006/relationships" id="281" r:id="R149e4cf2e8e64486"/>
    <p:sldId xmlns:r="http://schemas.openxmlformats.org/officeDocument/2006/relationships" id="282" r:id="R380379e867d3405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770aca028f46ec" /><Relationship Type="http://schemas.openxmlformats.org/officeDocument/2006/relationships/slideMaster" Target="/ppt/slideMasters/slideMaster1.xml" Id="R12e0f9b27c2a48c2" /><Relationship Type="http://schemas.openxmlformats.org/officeDocument/2006/relationships/notesMaster" Target="/ppt/notesMasters/notesMaster1.xml" Id="Rbc059272436e4f94" /><Relationship Type="http://schemas.openxmlformats.org/officeDocument/2006/relationships/presProps" Target="/ppt/presProps.xml" Id="Ra4b476c566f346a2" /><Relationship Type="http://schemas.openxmlformats.org/officeDocument/2006/relationships/tableStyles" Target="/ppt/tableStyles.xml" Id="R2aecdf2ee34c4300" /><Relationship Type="http://schemas.openxmlformats.org/officeDocument/2006/relationships/slide" Target="/ppt/slides/slide1.xml" Id="Ree0657e321714753" /><Relationship Type="http://schemas.openxmlformats.org/officeDocument/2006/relationships/slide" Target="/ppt/slides/slide2.xml" Id="R27300fbd4d954dd2" /><Relationship Type="http://schemas.openxmlformats.org/officeDocument/2006/relationships/slide" Target="/ppt/slides/slide3.xml" Id="Re99d332c207245ea" /><Relationship Type="http://schemas.openxmlformats.org/officeDocument/2006/relationships/slide" Target="/ppt/slides/slide4.xml" Id="Rc88b79a2acdd4a03" /><Relationship Type="http://schemas.openxmlformats.org/officeDocument/2006/relationships/slide" Target="/ppt/slides/slide5.xml" Id="R19fcdc09808e4f4e" /><Relationship Type="http://schemas.openxmlformats.org/officeDocument/2006/relationships/slide" Target="/ppt/slides/slide6.xml" Id="R0b25056d811b4658" /><Relationship Type="http://schemas.openxmlformats.org/officeDocument/2006/relationships/slide" Target="/ppt/slides/slide7.xml" Id="R8392823a2f9d48b4" /><Relationship Type="http://schemas.openxmlformats.org/officeDocument/2006/relationships/slide" Target="/ppt/slides/slide8.xml" Id="R699a0c6e22f14210" /><Relationship Type="http://schemas.openxmlformats.org/officeDocument/2006/relationships/slide" Target="/ppt/slides/slide9.xml" Id="Re859d05367904cd7" /><Relationship Type="http://schemas.openxmlformats.org/officeDocument/2006/relationships/slide" Target="/ppt/slides/slide10.xml" Id="R566a4e45c9ac457b" /><Relationship Type="http://schemas.openxmlformats.org/officeDocument/2006/relationships/slide" Target="/ppt/slides/slide11.xml" Id="R267efdb7d5c1410e" /><Relationship Type="http://schemas.openxmlformats.org/officeDocument/2006/relationships/slide" Target="/ppt/slides/slide12.xml" Id="R69cabe18432b4cd5" /><Relationship Type="http://schemas.openxmlformats.org/officeDocument/2006/relationships/slide" Target="/ppt/slides/slide13.xml" Id="R00a6c8be635c4039" /><Relationship Type="http://schemas.openxmlformats.org/officeDocument/2006/relationships/slide" Target="/ppt/slides/slide14.xml" Id="Rbfd7bb44f2d345d2" /><Relationship Type="http://schemas.openxmlformats.org/officeDocument/2006/relationships/slide" Target="/ppt/slides/slide15.xml" Id="R09d65799442c494a" /><Relationship Type="http://schemas.openxmlformats.org/officeDocument/2006/relationships/slide" Target="/ppt/slides/slide16.xml" Id="Rd7c4edeaaa764d13" /><Relationship Type="http://schemas.openxmlformats.org/officeDocument/2006/relationships/slide" Target="/ppt/slides/slide17.xml" Id="R8e077e5b4e2a47d3" /><Relationship Type="http://schemas.openxmlformats.org/officeDocument/2006/relationships/slide" Target="/ppt/slides/slide18.xml" Id="R874992132cde4cf7" /><Relationship Type="http://schemas.openxmlformats.org/officeDocument/2006/relationships/slide" Target="/ppt/slides/slide19.xml" Id="Rda6f739c718e4ee2" /><Relationship Type="http://schemas.openxmlformats.org/officeDocument/2006/relationships/slide" Target="/ppt/slides/slide20.xml" Id="Rc6091d74f26b4ab0" /><Relationship Type="http://schemas.openxmlformats.org/officeDocument/2006/relationships/slide" Target="/ppt/slides/slide21.xml" Id="R50ef67abab1643db" /><Relationship Type="http://schemas.openxmlformats.org/officeDocument/2006/relationships/slide" Target="/ppt/slides/slide22.xml" Id="R3669a84b3f94477d" /><Relationship Type="http://schemas.openxmlformats.org/officeDocument/2006/relationships/slide" Target="/ppt/slides/slide23.xml" Id="Rfdab4e8974924a42" /><Relationship Type="http://schemas.openxmlformats.org/officeDocument/2006/relationships/slide" Target="/ppt/slides/slide24.xml" Id="Rb537256a17dd48e6" /><Relationship Type="http://schemas.openxmlformats.org/officeDocument/2006/relationships/slide" Target="/ppt/slides/slide25.xml" Id="R596d17f9385b460b" /><Relationship Type="http://schemas.openxmlformats.org/officeDocument/2006/relationships/slide" Target="/ppt/slides/slide26.xml" Id="R149e4cf2e8e64486" /><Relationship Type="http://schemas.openxmlformats.org/officeDocument/2006/relationships/slide" Target="/ppt/slides/slide27.xml" Id="R380379e867d3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2f1b2973dd41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a2bdc4772a4319" /><Relationship Type="http://schemas.openxmlformats.org/officeDocument/2006/relationships/notesMaster" Target="/ppt/notesMasters/notesMaster1.xml" Id="R288e4f47e1e54b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d9b0f888474684" /><Relationship Type="http://schemas.openxmlformats.org/officeDocument/2006/relationships/notesMaster" Target="/ppt/notesMasters/notesMaster1.xml" Id="Red90c9127e6641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89f52394df477b" /><Relationship Type="http://schemas.openxmlformats.org/officeDocument/2006/relationships/notesMaster" Target="/ppt/notesMasters/notesMaster1.xml" Id="Rd95ab58b6c3e44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c01cf441684f86" /><Relationship Type="http://schemas.openxmlformats.org/officeDocument/2006/relationships/notesMaster" Target="/ppt/notesMasters/notesMaster1.xml" Id="R5eaae8b6d61741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843445de5a407e" /><Relationship Type="http://schemas.openxmlformats.org/officeDocument/2006/relationships/notesMaster" Target="/ppt/notesMasters/notesMaster1.xml" Id="R573afa975f7b42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f5dd93594c44c3" /><Relationship Type="http://schemas.openxmlformats.org/officeDocument/2006/relationships/notesMaster" Target="/ppt/notesMasters/notesMaster1.xml" Id="R62c55e575e6343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30a7cf1027467c" /><Relationship Type="http://schemas.openxmlformats.org/officeDocument/2006/relationships/notesMaster" Target="/ppt/notesMasters/notesMaster1.xml" Id="R78238c57ab9145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0b5ef9781e4879" /><Relationship Type="http://schemas.openxmlformats.org/officeDocument/2006/relationships/notesMaster" Target="/ppt/notesMasters/notesMaster1.xml" Id="Rff699c51851e42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c924bff1b64118" /><Relationship Type="http://schemas.openxmlformats.org/officeDocument/2006/relationships/notesMaster" Target="/ppt/notesMasters/notesMaster1.xml" Id="R389266f6fc7d41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f82931015e42cb" /><Relationship Type="http://schemas.openxmlformats.org/officeDocument/2006/relationships/notesMaster" Target="/ppt/notesMasters/notesMaster1.xml" Id="Rf90c265bf4c04a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fae1c3c030478a" /><Relationship Type="http://schemas.openxmlformats.org/officeDocument/2006/relationships/notesMaster" Target="/ppt/notesMasters/notesMaster1.xml" Id="R726b971be2424b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7076fe236947c6" /><Relationship Type="http://schemas.openxmlformats.org/officeDocument/2006/relationships/notesMaster" Target="/ppt/notesMasters/notesMaster1.xml" Id="Rd84f56ddf2e449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22c44e462c428e" /><Relationship Type="http://schemas.openxmlformats.org/officeDocument/2006/relationships/notesMaster" Target="/ppt/notesMasters/notesMaster1.xml" Id="R113f40cfb09249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e2a7d3e6b44cbe" /><Relationship Type="http://schemas.openxmlformats.org/officeDocument/2006/relationships/notesMaster" Target="/ppt/notesMasters/notesMaster1.xml" Id="Rca6e09d4e34d4b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cf08f3b32b465d" /><Relationship Type="http://schemas.openxmlformats.org/officeDocument/2006/relationships/notesMaster" Target="/ppt/notesMasters/notesMaster1.xml" Id="Rffa19f4c014449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c0b807b4d741a8" /><Relationship Type="http://schemas.openxmlformats.org/officeDocument/2006/relationships/notesMaster" Target="/ppt/notesMasters/notesMaster1.xml" Id="Rb8789104aec744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adc80760e44d92" /><Relationship Type="http://schemas.openxmlformats.org/officeDocument/2006/relationships/notesMaster" Target="/ppt/notesMasters/notesMaster1.xml" Id="R439b8ebdd52f40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b537d32da14143" /><Relationship Type="http://schemas.openxmlformats.org/officeDocument/2006/relationships/notesMaster" Target="/ppt/notesMasters/notesMaster1.xml" Id="R0c068a78f3f441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77dceab4b1402f" /><Relationship Type="http://schemas.openxmlformats.org/officeDocument/2006/relationships/notesMaster" Target="/ppt/notesMasters/notesMaster1.xml" Id="R5aea5704b53641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ba1d2679734cbe" /><Relationship Type="http://schemas.openxmlformats.org/officeDocument/2006/relationships/notesMaster" Target="/ppt/notesMasters/notesMaster1.xml" Id="Rb01ef06fcfbe47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eb6a8f692d47e3" /><Relationship Type="http://schemas.openxmlformats.org/officeDocument/2006/relationships/notesMaster" Target="/ppt/notesMasters/notesMaster1.xml" Id="Ref8f05375eb042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c04561482e45e0" /><Relationship Type="http://schemas.openxmlformats.org/officeDocument/2006/relationships/notesMaster" Target="/ppt/notesMasters/notesMaster1.xml" Id="R30b48789b9f041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244c107b0384bdd" /><Relationship Type="http://schemas.openxmlformats.org/officeDocument/2006/relationships/notesMaster" Target="/ppt/notesMasters/notesMaster1.xml" Id="R26a9daa36ad145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d9558d243ef4778" /><Relationship Type="http://schemas.openxmlformats.org/officeDocument/2006/relationships/notesMaster" Target="/ppt/notesMasters/notesMaster1.xml" Id="R2dd16f50b87742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459a518d614125" /><Relationship Type="http://schemas.openxmlformats.org/officeDocument/2006/relationships/notesMaster" Target="/ppt/notesMasters/notesMaster1.xml" Id="R7f3532c395c64f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e27091d2884b4d" /><Relationship Type="http://schemas.openxmlformats.org/officeDocument/2006/relationships/notesMaster" Target="/ppt/notesMasters/notesMaster1.xml" Id="R71233c133e8449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62a9616a3e04931" /><Relationship Type="http://schemas.openxmlformats.org/officeDocument/2006/relationships/notesMaster" Target="/ppt/notesMasters/notesMaster1.xml" Id="Rb4bb726f8f9c43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 Применение RAG в SDD-разработке АС с 300+ микросервисами</a:t>
            </a:r>
          </a:p>
          <a:p xmlns:a="http://schemas.openxmlformats.org/drawingml/2006/main">
            <a:r>
              <a:t/>
            </a:r>
          </a:p>
          <a:p xmlns:a="http://schemas.openxmlformats.org/drawingml/2006/main">
            <a:r>
              <a:t>Сегодня я покажу, как мы готовим контекст для изменения большой системы, в которой знания распределены по множеству репозиториев и команд. Под SDD здесь понимается разработка от спецификации: сначала мы описываем требуемое поведение и проверяем предпосылки, затем формируем изменения.</a:t>
            </a:r>
          </a:p>
          <a:p xmlns:a="http://schemas.openxmlformats.org/drawingml/2006/main">
            <a:r>
              <a:t/>
            </a:r>
          </a:p>
          <a:p xmlns:a="http://schemas.openxmlformats.org/drawingml/2006/main">
            <a:r>
              <a:t>Ключевая трудность возникает ещё до написания кода. По короткому требованию нужно определить, где уже реализовано похожее поведение, какие правила действуют сейчас, кто владеет данными и какие сервисы могут быть затронуты. Одной генеративной модели недостаточно, если ей не дать проверяемые сведения о нашей системе.</a:t>
            </a:r>
          </a:p>
          <a:p xmlns:a="http://schemas.openxmlformats.org/drawingml/2006/main">
            <a:r>
              <a:t/>
            </a:r>
          </a:p>
          <a:p xmlns:a="http://schemas.openxmlformats.org/drawingml/2006/main">
            <a:r>
              <a:t>В проекте для этого есть два разных механизма. RAG ищет фрагменты документов, а статический граф помогает переходить между сервисами и их интерфейсами. Подключённый LLM-клиент получает результаты этих инструментов и составляет объяснение или план. Мы отдельно разберём, что делает обычный Python-код, а где действительно используется нейросеть.</a:t>
            </a:r>
          </a:p>
          <a:p xmlns:a="http://schemas.openxmlformats.org/drawingml/2006/main">
            <a:r>
              <a:t/>
            </a:r>
          </a:p>
          <a:p xmlns:a="http://schemas.openxmlformats.org/drawingml/2006/main">
            <a:r>
              <a:t>Исходные заметки и ссылки:</a:t>
            </a:r>
          </a:p>
          <a:p xmlns:a="http://schemas.openxmlformats.org/drawingml/2006/main">
            <a:r>
              <a:t>Тема доклада — не просто поиск по документам. Речь о том, как общий контекст помогает вести разработку по спецификации в большой автоматизированной системе.</a:t>
            </a:r>
          </a:p>
          <a:p xmlns:a="http://schemas.openxmlformats.org/drawingml/2006/main">
            <a:r>
              <a:t/>
            </a:r>
          </a:p>
          <a:p xmlns:a="http://schemas.openxmlformats.org/drawingml/2006/main">
            <a:r>
              <a:t>Структура простая: сначала покажем проблему и её последствия, затем решение и рабочий процесс, а в конце — ограничения, выводы и живые экраны GigaCode.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 Анализ требований и текущего состояния перед планированием изменений</a:t>
            </a:r>
          </a:p>
          <a:p xmlns:a="http://schemas.openxmlformats.org/drawingml/2006/main">
            <a:r>
              <a:t/>
            </a:r>
          </a:p>
          <a:p xmlns:a="http://schemas.openxmlformats.org/drawingml/2006/main">
            <a:r>
              <a:t>Возьмём учебный пример: клиент должен получить возможность переносить дату платежа. Из этой фразы ещё не следует, какой сервис нужно менять. Сначала нужно выяснить, кто хранит график, кто проверяет допустимость переноса и какие потребители узнают об изменении.</a:t>
            </a:r>
          </a:p>
          <a:p xmlns:a="http://schemas.openxmlformats.org/drawingml/2006/main">
            <a:r>
              <a:t/>
            </a:r>
          </a:p>
          <a:p xmlns:a="http://schemas.openxmlformats.org/drawingml/2006/main">
            <a:r>
              <a:t>Предположение «наверняка понадобятся уведомления» ещё не является подтверждённым фактом. Мы должны найти документ, контракт или участок исходников, который связывает эти компоненты с нашим сценарием. Только после этого сервис попадает в подтверждённую область изменения.</a:t>
            </a:r>
          </a:p>
          <a:p xmlns:a="http://schemas.openxmlformats.org/drawingml/2006/main">
            <a:r>
              <a:t/>
            </a:r>
          </a:p>
          <a:p xmlns:a="http://schemas.openxmlformats.org/drawingml/2006/main">
            <a:r>
              <a:t>Такой порядок отделяет три вещи: текущее поведение, предположение о нём и предлагаемое новое поведение. Если смешать их, модель может убедительно описать ещё не существующую функцию как уже работающую. Наша задача — сохранить эту границу в спецификации и плане.</a:t>
            </a:r>
          </a:p>
          <a:p xmlns:a="http://schemas.openxmlformats.org/drawingml/2006/main">
            <a:r>
              <a:t/>
            </a:r>
          </a:p>
          <a:p xmlns:a="http://schemas.openxmlformats.org/drawingml/2006/main">
            <a:r>
              <a:t>Исходные заметки и ссылки:</a:t>
            </a:r>
          </a:p>
          <a:p xmlns:a="http://schemas.openxmlformats.org/drawingml/2006/main">
            <a:r>
              <a:t>Начинаем с обычной задачи из бэклога: «перенести дату платежа по кредиту физлица». В ней нет ответа, где хранится график платежей, какой сервис принимает решение и какие условия уже действуют.</a:t>
            </a:r>
          </a:p>
          <a:p xmlns:a="http://schemas.openxmlformats.org/drawingml/2006/main">
            <a:r>
              <a:t/>
            </a:r>
          </a:p>
          <a:p xmlns:a="http://schemas.openxmlformats.org/drawingml/2006/main">
            <a:r>
              <a:t>Обычная рабочая картина: открыть первый репозиторий, написать владельцу, получить ссылку на другой сервис, потом найти правило или контракт, который меняет границы задачи. План появляется только после этого.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3. Планирование изменений в системе из 300+ микросервисов</a:t>
            </a:r>
          </a:p>
          <a:p xmlns:a="http://schemas.openxmlformats.org/drawingml/2006/main">
            <a:r>
              <a:t/>
            </a:r>
          </a:p>
          <a:p xmlns:a="http://schemas.openxmlformats.org/drawingml/2006/main">
            <a:r>
              <a:t>При большом количестве сервисов стоимость изменения определяется не только числом строк кода. Важны владельцы, контракты и последовательность выпуска. Изменение события у одного производителя может затронуть несколько потребителей, а изменение HTTP-интерфейса требует проверки вызывающей стороны.</a:t>
            </a:r>
          </a:p>
          <a:p xmlns:a="http://schemas.openxmlformats.org/drawingml/2006/main">
            <a:r>
              <a:t/>
            </a:r>
          </a:p>
          <a:p xmlns:a="http://schemas.openxmlformats.org/drawingml/2006/main">
            <a:r>
              <a:t>При этом один Git-репозиторий не всегда соответствует одному сервису. В нём могут находиться несколько приложений и общие библиотеки. Поэтому анализу нужно сначала определить границы сервисов, а уже потом связывать вызовы между ними.</a:t>
            </a:r>
          </a:p>
          <a:p xmlns:a="http://schemas.openxmlformats.org/drawingml/2006/main">
            <a:r>
              <a:t/>
            </a:r>
          </a:p>
          <a:p xmlns:a="http://schemas.openxmlformats.org/drawingml/2006/main">
            <a:r>
              <a:t>Граф помогает найти кандидатов для проверки. Он не отменяет работу инженера и не гарантирует, что каждая реальная зависимость извлечена. Важно обнаружить сомнение до оценки и реализации, а не скрыть его под точным на вид списком задач.</a:t>
            </a:r>
          </a:p>
          <a:p xmlns:a="http://schemas.openxmlformats.org/drawingml/2006/main">
            <a:r>
              <a:t/>
            </a:r>
          </a:p>
          <a:p xmlns:a="http://schemas.openxmlformats.org/drawingml/2006/main">
            <a:r>
              <a:t>Исходные заметки и ссылки:</a:t>
            </a:r>
          </a:p>
          <a:p xmlns:a="http://schemas.openxmlformats.org/drawingml/2006/main">
            <a:r>
              <a:t>Большая система — это не просто много репозиториев. У каждого сервиса свой владелец, свой релизный цикл и свои договорённости с соседями.</a:t>
            </a:r>
          </a:p>
          <a:p xmlns:a="http://schemas.openxmlformats.org/drawingml/2006/main">
            <a:r>
              <a:t/>
            </a:r>
          </a:p>
          <a:p xmlns:a="http://schemas.openxmlformats.org/drawingml/2006/main">
            <a:r>
              <a:t>Поэтому фича может начинаться в одном сервисе, но быстро упереться в чужой контракт, событие, данные или правило доступа. Если узнать об этом после оценки, работу приходится пересобирать.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4. Ограничения централизованного ведения знаний</a:t>
            </a:r>
          </a:p>
          <a:p xmlns:a="http://schemas.openxmlformats.org/drawingml/2006/main">
            <a:r>
              <a:t/>
            </a:r>
          </a:p>
          <a:p xmlns:a="http://schemas.openxmlformats.org/drawingml/2006/main">
            <a:r>
              <a:t>Исходники и спецификации продолжают жить у команд. Поисковая система при этом всё равно создаёт технические копии: нормализованные документы, чанки, числовой индекс и снимки графа. Поэтому «единый доступ» не означает отсутствие хранения данных на сервере.</a:t>
            </a:r>
          </a:p>
          <a:p xmlns:a="http://schemas.openxmlformats.org/drawingml/2006/main">
            <a:r>
              <a:t/>
            </a:r>
          </a:p>
          <a:p xmlns:a="http://schemas.openxmlformats.org/drawingml/2006/main">
            <a:r>
              <a:t>Разделение ответственности такое: команда отвечает за первоисточник, приложение готовит из него индекс, а пользователь может вернуться от результата поиска к источнику. Если документ в Git изменился, старый индекс не станет актуальным сам по себе только потому, что мы задали новый вопрос. Его нужно обновить предусмотренным процессом импорта и переиндексации.</a:t>
            </a:r>
          </a:p>
          <a:p xmlns:a="http://schemas.openxmlformats.org/drawingml/2006/main">
            <a:r>
              <a:t/>
            </a:r>
          </a:p>
          <a:p xmlns:a="http://schemas.openxmlformats.org/drawingml/2006/main">
            <a:r>
              <a:t>Таким образом, центральный индекс облегчает доступ, но не становится независимым автором истины. Актуальность и качество первичных материалов остаются отдельной задачей.</a:t>
            </a:r>
          </a:p>
          <a:p xmlns:a="http://schemas.openxmlformats.org/drawingml/2006/main">
            <a:r>
              <a:t/>
            </a:r>
          </a:p>
          <a:p xmlns:a="http://schemas.openxmlformats.org/drawingml/2006/main">
            <a:r>
              <a:t>Исходные заметки и ссылки:</a:t>
            </a:r>
          </a:p>
          <a:p xmlns:a="http://schemas.openxmlformats.org/drawingml/2006/main">
            <a:r>
              <a:t>Частая первая мысль — собрать все знания в один общий репозиторий или один большой документ. Но это создаёт новую точку ожидания: любой владелец сервиса должен ещё обновить центральную копию.</a:t>
            </a:r>
          </a:p>
          <a:p xmlns:a="http://schemas.openxmlformats.org/drawingml/2006/main">
            <a:r>
              <a:t/>
            </a:r>
          </a:p>
          <a:p xmlns:a="http://schemas.openxmlformats.org/drawingml/2006/main">
            <a:r>
              <a:t>Нам нужен не склад копий, а единый способ прийти от задачи к актуальным источникам: коду, документу, контракту и владельцу.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5. Анализ источников знаний и процесса поиска информации</a:t>
            </a:r>
          </a:p>
          <a:p xmlns:a="http://schemas.openxmlformats.org/drawingml/2006/main">
            <a:r>
              <a:t/>
            </a:r>
          </a:p>
          <a:p xmlns:a="http://schemas.openxmlformats.org/drawingml/2006/main">
            <a:r>
              <a:t>У разных источников разные роли. Спецификация объясняет ожидаемое поведение. Контракт задаёт интерфейс. Исходники показывают реализацию, а конфигурация помогает разрешить адреса, имена сервисов и темы сообщений.</a:t>
            </a:r>
          </a:p>
          <a:p xmlns:a="http://schemas.openxmlformats.org/drawingml/2006/main">
            <a:r>
              <a:t/>
            </a:r>
          </a:p>
          <a:p xmlns:a="http://schemas.openxmlformats.org/drawingml/2006/main">
            <a:r>
              <a:t>При ручном анализе мы переходим между этими источниками по памяти и ссылкам. В проекте часть такой навигации поддерживает граф, а подробности из документов поднимает RAG. Эти механизмы дополняют друг друга: похожий текст ещё не доказывает связь сервисов, а наличие ребра графа ещё не объясняет бизнес-правило.</a:t>
            </a:r>
          </a:p>
          <a:p xmlns:a="http://schemas.openxmlformats.org/drawingml/2006/main">
            <a:r>
              <a:t/>
            </a:r>
          </a:p>
          <a:p xmlns:a="http://schemas.openxmlformats.org/drawingml/2006/main">
            <a:r>
              <a:t>В ответе важны не только найденные слова, но и возможность проверить, откуда они взялись. Поэтому сохраняются ссылки, идентификаторы и доступные сведения об источнике. Если evidence недостаточно, это должно остаться открытым вопросом.</a:t>
            </a:r>
          </a:p>
          <a:p xmlns:a="http://schemas.openxmlformats.org/drawingml/2006/main">
            <a:r>
              <a:t/>
            </a:r>
          </a:p>
          <a:p xmlns:a="http://schemas.openxmlformats.org/drawingml/2006/main">
            <a:r>
              <a:t>Исходные заметки и ссылки:</a:t>
            </a:r>
          </a:p>
          <a:p xmlns:a="http://schemas.openxmlformats.org/drawingml/2006/main">
            <a:r>
              <a:t>Мы не начинаем с предположения, что документации нет. Она есть: в коде, в Confluence, в спецификациях и у людей, которые за сервис отвечают.</a:t>
            </a:r>
          </a:p>
          <a:p xmlns:a="http://schemas.openxmlformats.org/drawingml/2006/main">
            <a:r>
              <a:t/>
            </a:r>
          </a:p>
          <a:p xmlns:a="http://schemas.openxmlformats.org/drawingml/2006/main">
            <a:r>
              <a:t>Проблема в маршруте. Для каждой новой задачи нужно заново угадывать, с чего начать и не пропущен ли ещё один сервис.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6. Единый доступ к распределённым источникам знаний</a:t>
            </a:r>
          </a:p>
          <a:p xmlns:a="http://schemas.openxmlformats.org/drawingml/2006/main">
            <a:r>
              <a:t/>
            </a:r>
          </a:p>
          <a:p xmlns:a="http://schemas.openxmlformats.org/drawingml/2006/main">
            <a:r>
              <a:t>Технически здесь работает Python-приложение, которое предоставляет инструменты через MCP. MCP — это интерфейс обмена между клиентом и инструментами. Сам по себе он не является ни нейросетью, ни векторной базой.</a:t>
            </a:r>
          </a:p>
          <a:p xmlns:a="http://schemas.openxmlformats.org/drawingml/2006/main">
            <a:r>
              <a:t/>
            </a:r>
          </a:p>
          <a:p xmlns:a="http://schemas.openxmlformats.org/drawingml/2006/main">
            <a:r>
              <a:t>Клиент, например GigaCode, получает описание доступных инструментов и вызывает нужные операции с параметрами. Сервер возвращает результаты поиска или сведения из графа. После этого генеративная модель клиента использует эти результаты как контекст и формулирует ответ.</a:t>
            </a:r>
          </a:p>
          <a:p xmlns:a="http://schemas.openxmlformats.org/drawingml/2006/main">
            <a:r>
              <a:t/>
            </a:r>
          </a:p>
          <a:p xmlns:a="http://schemas.openxmlformats.org/drawingml/2006/main">
            <a:r>
              <a:t>Нужно различать сценарий поиска и всё приложение. Обычные инструменты чтения не меняют документы. Но в проекте также есть административные операции, импорт репозиториев и workflow создания SSOT с записью результата. Поэтому я не утверждаю, что абсолютно весь MCP-сервер и dashboard являются read-only.</a:t>
            </a:r>
          </a:p>
          <a:p xmlns:a="http://schemas.openxmlformats.org/drawingml/2006/main">
            <a:r>
              <a:t/>
            </a:r>
          </a:p>
          <a:p xmlns:a="http://schemas.openxmlformats.org/drawingml/2006/main">
            <a:r>
              <a:t>Также «локальный embedding» не означает, что генеративная модель клиента локальна. Доступ к внешней модели и передача контекста зависят от настроек клиента и выбранного режима работы.</a:t>
            </a:r>
          </a:p>
          <a:p xmlns:a="http://schemas.openxmlformats.org/drawingml/2006/main">
            <a:r>
              <a:t/>
            </a:r>
          </a:p>
          <a:p xmlns:a="http://schemas.openxmlformats.org/drawingml/2006/main">
            <a:r>
              <a:t>Где открыть: регистрация MCP-инструментов (/Users/artapr/Documents/confuence-mcp-rag/src/corporate_kb/mcp/server.py), поисковые операции (/Users/artapr/Documents/confuence-mcp-rag/src/corporate_kb/mcp/tools.py:24).</a:t>
            </a:r>
          </a:p>
          <a:p xmlns:a="http://schemas.openxmlformats.org/drawingml/2006/main">
            <a:r>
              <a:t/>
            </a:r>
          </a:p>
          <a:p xmlns:a="http://schemas.openxmlformats.org/drawingml/2006/main">
            <a:r>
              <a:t>Исходные заметки и ссылки:</a:t>
            </a:r>
          </a:p>
          <a:p xmlns:a="http://schemas.openxmlformats.org/drawingml/2006/main">
            <a:r>
              <a:t>Здесь нет идеи заставить все команды работать в одном репозитории или документе. У них уже есть свои рабочие места и владельцы.</a:t>
            </a:r>
          </a:p>
          <a:p xmlns:a="http://schemas.openxmlformats.org/drawingml/2006/main">
            <a:r>
              <a:t/>
            </a:r>
          </a:p>
          <a:p xmlns:a="http://schemas.openxmlformats.org/drawingml/2006/main">
            <a:r>
              <a:t>Мы добавляем поверх них слой навигации: RAG находит факты в источниках, граф подсказывает, по каким сервисам идти дальше.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7. Подготовка источников и построение RAG-индекса</a:t>
            </a:r>
          </a:p>
          <a:p xmlns:a="http://schemas.openxmlformats.org/drawingml/2006/main">
            <a:r>
              <a:t/>
            </a:r>
          </a:p>
          <a:p xmlns:a="http://schemas.openxmlformats.org/drawingml/2006/main">
            <a:r>
              <a:t>Сначала приложение получает поддерживаемые документы. В сценарии импорта Git это, в частности, материалы из каталогов OpenSpec. Можно работать и с другими поддерживаемыми файлами, включая подготовленный SSOT — сводное описание сервиса.</a:t>
            </a:r>
          </a:p>
          <a:p xmlns:a="http://schemas.openxmlformats.org/drawingml/2006/main">
            <a:r>
              <a:t/>
            </a:r>
          </a:p>
          <a:p xmlns:a="http://schemas.openxmlformats.org/drawingml/2006/main">
            <a:r>
              <a:t>После загрузки текст нормализуется и разбивается на фрагменты. Для каждого фрагмента вычисляется вектор. Вместе с фрагментом сохраняются его связь с документом, путь и метаданные. Не нужно считать, что для любого произвольного файла автоматически известны корректный владелец, сервис и Git-ревизия: доступность этих полей зависит от происхождения и подготовки источника.</a:t>
            </a:r>
          </a:p>
          <a:p xmlns:a="http://schemas.openxmlformats.org/drawingml/2006/main">
            <a:r>
              <a:t/>
            </a:r>
          </a:p>
          <a:p xmlns:a="http://schemas.openxmlformats.org/drawingml/2006/main">
            <a:r>
              <a:t>Java и Kotlin анализируются отдельным механизмом построения графа. Подключение репозитория не означает автоматической векторизации абсолютно всего исходного кода. А если SSOT был сгенерирован моделью, он требует проверки. Наличие ссылки позволяет проверить утверждение, но не делает его истинным автоматически.</a:t>
            </a:r>
          </a:p>
          <a:p xmlns:a="http://schemas.openxmlformats.org/drawingml/2006/main">
            <a:r>
              <a:t/>
            </a:r>
          </a:p>
          <a:p xmlns:a="http://schemas.openxmlformats.org/drawingml/2006/main">
            <a:r>
              <a:t>Где открыть: загрузчик файлов (/Users/artapr/Documents/confuence-mcp-rag/src/corporate_kb/loaders/filesystem.py:18), создание Document и метаданных (/Users/artapr/Documents/confuence-mcp-rag/src/corporate_kb/loaders/base.py:43), исключение графовых документов из RAG (/Users/artapr/Documents/confuence-mcp-rag/src/corporate_kb/service.py:275).</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Путь документов: src/corporate_kb/loaders/filesystem.py; loaders/normalizer.py; chunking/structural_chunker.py; service.py:275–334. В индекс попадают поддерживаемые документы; исходники отдельно анализирует граф. Graph-документы исключаются из RAG. Revision зависит от метаданных источника. Генерация SSOT и последующая индексация: src/corporate_kb/catalog.py.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8. Как OpenSpec попадает в базу знаний</a:t>
            </a:r>
          </a:p>
          <a:p xmlns:a="http://schemas.openxmlformats.org/drawingml/2006/main">
            <a:r>
              <a:t/>
            </a:r>
          </a:p>
          <a:p xmlns:a="http://schemas.openxmlformats.org/drawingml/2006/main">
            <a:r>
              <a:t>В этой реализации OpenSpec выступает источником документации внутри репозитория. Импорт находит каталоги с именем `openspec`, в том числе внутри модулей. Затем копирует поддерживаемые текстовые файлы в knowledge-каталог выбранного индекса.</a:t>
            </a:r>
          </a:p>
          <a:p xmlns:a="http://schemas.openxmlformats.org/drawingml/2006/main">
            <a:r>
              <a:t/>
            </a:r>
          </a:p>
          <a:p xmlns:a="http://schemas.openxmlformats.org/drawingml/2006/main">
            <a:r>
              <a:t>После копирования работает тот же путь, что и для остальных документов: нормализация, чанкинг, получение векторов и сохранение индекса. Сам импорт не запускает OpenSpec CLI и не выполняет за пользователя полный SDD-процесс.</a:t>
            </a:r>
          </a:p>
          <a:p xmlns:a="http://schemas.openxmlformats.org/drawingml/2006/main">
            <a:r>
              <a:t/>
            </a:r>
          </a:p>
          <a:p xmlns:a="http://schemas.openxmlformats.org/drawingml/2006/main">
            <a:r>
              <a:t>Если каталога OpenSpec нет, это не означает, что исходники нельзя проанализировать. Граф может строиться отдельно. Но именно этот источник не добавит в RAG документы OpenSpec, которых в репозитории нет. Это важное различие между «репозиторий подключён» и «в текстовом поиске уже есть достаточная документация».</a:t>
            </a:r>
          </a:p>
          <a:p xmlns:a="http://schemas.openxmlformats.org/drawingml/2006/main">
            <a:r>
              <a:t/>
            </a:r>
          </a:p>
          <a:p xmlns:a="http://schemas.openxmlformats.org/drawingml/2006/main">
            <a:r>
              <a:t>Где открыть: импорт и построение индекса (/Users/artapr/Documents/confuence-mcp-rag/src/corporate_kb/catalog.py:2166), поиск каталогов (/Users/artapr/Documents/confuence-mcp-rag/src/corporate_kb/catalog.py:3864), синхронизация OpenSpec (/Users/artapr/Documents/confuence-mcp-rag/src/corporate_kb/catalog.py:3964).</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src/corporate_kb/catalog.py:2166 (import and rebuild), 2218 (graph), 3864 (_find_openspecs), 3964 (_sync_openspec). src/corporate_kb/loaders/filesystem.py:18: поддержаны Markdown, HTML и текстовые форматы (.txt, .rst, .adoc, .log, .csv, .tsv, .json, .jsonl, .yaml, .yml, .xml, .properties). Бинарные PDF/DOCX/PPTX этим загрузчиком не парсятся.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9. Что именно превращается в один вектор</a:t>
            </a:r>
          </a:p>
          <a:p xmlns:a="http://schemas.openxmlformats.org/drawingml/2006/main">
            <a:r>
              <a:t/>
            </a:r>
          </a:p>
          <a:p xmlns:a="http://schemas.openxmlformats.org/drawingml/2006/main">
            <a:r>
              <a:t>Единица индексации здесь — чанк, то есть фрагмент документа. Это не обязательно весь файл и тем более не весь сервис. Большой документ делится на несколько фрагментов, поэтому у него может быть несколько векторов.</a:t>
            </a:r>
          </a:p>
          <a:p xmlns:a="http://schemas.openxmlformats.org/drawingml/2006/main">
            <a:r>
              <a:t/>
            </a:r>
          </a:p>
          <a:p xmlns:a="http://schemas.openxmlformats.org/drawingml/2006/main">
            <a:r>
              <a:t>Чанкер учитывает структуру: заголовки, абзацы, списки, таблицы и блоки кода. В проверенных настройках целевой размер составляет 700 условных токенов, верхний ориентир 900, а параметр перекрытия равен 80. Но это оценка через регулярное выражение, а не токенизатор конкретной LLM. Кроме того, таблицу или блок кода алгоритм может оставить целиком, даже если он больше 900.</a:t>
            </a:r>
          </a:p>
          <a:p xmlns:a="http://schemas.openxmlformats.org/drawingml/2006/main">
            <a:r>
              <a:t/>
            </a:r>
          </a:p>
          <a:p xmlns:a="http://schemas.openxmlformats.org/drawingml/2006/main">
            <a:r>
              <a:t>Перекрытие тоже нужно понимать аккуратно. Это перенос подходящих блоков в соседний фрагмент в пределах бюджета, а не обещание, что у любых двух чанков ровно 80 общих токенов.</a:t>
            </a:r>
          </a:p>
          <a:p xmlns:a="http://schemas.openxmlformats.org/drawingml/2006/main">
            <a:r>
              <a:t/>
            </a:r>
          </a:p>
          <a:p xmlns:a="http://schemas.openxmlformats.org/drawingml/2006/main">
            <a:r>
              <a:t>Перед векторизацией к тексту добавляется контекст: название документа, путь заголовков, тип документа и, если они есть, сервис, домен и authority. Итоговая строка называется `embedding_text`. Именно её получает провайдер. Поэтому сходство зависит не только от тела фрагмента, но и от добавленных подписей.</a:t>
            </a:r>
          </a:p>
          <a:p xmlns:a="http://schemas.openxmlformats.org/drawingml/2006/main">
            <a:r>
              <a:t/>
            </a:r>
          </a:p>
          <a:p xmlns:a="http://schemas.openxmlformats.org/drawingml/2006/main">
            <a:r>
              <a:t>Если спросят, почему мы не просто режем каждые 700 токенов: фиксированный разрез способен разорвать таблицу или пример кода. Здесь приоритет отдаётся сохранению структуры. Обратная сторона — размеры получаются неодинаковыми и оценку нужно учитывать при выборе модели с ограничением длины входа.</a:t>
            </a:r>
          </a:p>
          <a:p xmlns:a="http://schemas.openxmlformats.org/drawingml/2006/main">
            <a:r>
              <a:t/>
            </a:r>
          </a:p>
          <a:p xmlns:a="http://schemas.openxmlformats.org/drawingml/2006/main">
            <a:r>
              <a:t>Где открыть: структурный чанкинг (/Users/artapr/Documents/confuence-mcp-rag/src/corporate_kb/chunking/structural_chunker.py:56), перекрытие (/Users/artapr/Documents/confuence-mcp-rag/src/corporate_kb/chunking/structural_chunker.py:168), embedding_text (/Users/artapr/Documents/confuence-mcp-rag/src/corporate_kb/chunking/structural_chunker.py:202), передача провайдеру (/Users/artapr/Documents/confuence-mcp-rag/src/corporate_kb/service.py:334).</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src/corporate_kb/loaders/normalizer.py:26; chunking/structural_chunker.py:23 (regex token estimate), 56 (structural split), 92–96 (unsplittable code/tables), 202 (embedding_text). src/corporate_kb/config.py:40; service.py:334. Вектор описывает не весь репозиторий и не обязательно весь документ, а обогащённый текст отдельного чанка.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10. Хеширование при индексации и лексическом поиске</a:t>
            </a:r>
          </a:p>
          <a:p xmlns:a="http://schemas.openxmlformats.org/drawingml/2006/main">
            <a:r>
              <a:t/>
            </a:r>
          </a:p>
          <a:p xmlns:a="http://schemas.openxmlformats.org/drawingml/2006/main">
            <a:r>
              <a:t>Слово «хеширование» здесь используется в двух разных смыслах. Первый — идентификация содержимого и проверка совместимости кеша. Второй — построение числовых признаков текста для поиска.</a:t>
            </a:r>
          </a:p>
          <a:p xmlns:a="http://schemas.openxmlformats.org/drawingml/2006/main">
            <a:r>
              <a:t/>
            </a:r>
          </a:p>
          <a:p xmlns:a="http://schemas.openxmlformats.org/drawingml/2006/main">
            <a:r>
              <a:t>Для идентификации загрузчик считает `content_hash` от нормализованного текста вместе с метаданными. Этот хеш участвует в идентификаторе документа, а идентификатор чанка дополнительно зависит от раздела, позиции и текста фрагмента. Это детерминированные идентификаторы: при одинаковых входах результат воспроизводится.</a:t>
            </a:r>
          </a:p>
          <a:p xmlns:a="http://schemas.openxmlformats.org/drawingml/2006/main">
            <a:r>
              <a:t/>
            </a:r>
          </a:p>
          <a:p xmlns:a="http://schemas.openxmlformats.org/drawingml/2006/main">
            <a:r>
              <a:t>Но из этого не следует, что ID отдельного фрагмента останется прежним при любом изменении соседнего текста. В текущей реализации изменение документа или значимых для хеша метаданных может изменить ID всех его чанков. При разрешённом повторном использовании код ищет в совместимом кеше совпадающий `chunk_id`. Если совпадения нет, вектор вычисляется заново.</a:t>
            </a:r>
          </a:p>
          <a:p xmlns:a="http://schemas.openxmlformats.org/drawingml/2006/main">
            <a:r>
              <a:t/>
            </a:r>
          </a:p>
          <a:p xmlns:a="http://schemas.openxmlformats.org/drawingml/2006/main">
            <a:r>
              <a:t>Второй вид хеширования устроен иначе. Там SHA-256 применяется к каждому словесному или символьному признаку, чтобы выбрать координату и знак в числовом векторе. Эти операции нельзя смешивать: хеш идентичности помогает обновлять индекс, а feature hashing делает представление для сравнения текстов.</a:t>
            </a:r>
          </a:p>
          <a:p xmlns:a="http://schemas.openxmlformats.org/drawingml/2006/main">
            <a:r>
              <a:t/>
            </a:r>
          </a:p>
          <a:p xmlns:a="http://schemas.openxmlformats.org/drawingml/2006/main">
            <a:r>
              <a:t>Если спросят, сохраняется ли весь старый индекс при одном изменении: алгоритм пересобирает структуру нового индекса и может переиспользовать часть векторов по совпавшим ID. Это не специализированное транзакционное хранилище с независимым SQL UPDATE каждого чанка.</a:t>
            </a:r>
          </a:p>
          <a:p xmlns:a="http://schemas.openxmlformats.org/drawingml/2006/main">
            <a:r>
              <a:t/>
            </a:r>
          </a:p>
          <a:p xmlns:a="http://schemas.openxmlformats.org/drawingml/2006/main">
            <a:r>
              <a:t>Где открыть: content_hash и document_id (/Users/artapr/Documents/confuence-mcp-rag/src/corporate_kb/loaders/base.py:68), chunk_id (/Users/artapr/Documents/confuence-mcp-rag/src/corporate_kb/chunking/structural_chunker.py:56), повторное использование (/Users/artapr/Documents/confuence-mcp-rag/src/corporate_kb/service.py:319), совместимость кеша (/Users/artapr/Documents/confuence-mcp-rag/src/corporate_kb/cache/manager.py:186).</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src/corporate_kb/chunking/structural_chunker.py: генерация chunk_id включает document_id, heading, chunk_index, document.content_hash и хеш текста фрагмента. src/corporate_kb/service.py: rebuild / reuse_unchanged. src/corporate_kb/cache/manager.py: embedding_cache_identity проверяет совместимость провайдера, модели и размерности. Хеширование признаков: embeddings/hash_provider.py:46.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11. Провайдеры векторизации</a:t>
            </a:r>
          </a:p>
          <a:p xmlns:a="http://schemas.openxmlformats.org/drawingml/2006/main">
            <a:r>
              <a:t/>
            </a:r>
          </a:p>
          <a:p xmlns:a="http://schemas.openxmlformats.org/drawingml/2006/main">
            <a:r>
              <a:t>Сейчас в проверенной локальной конфигурации выбран `hash` и размерность 1024. Этот режим работает без нейросети и без весов embedding-модели. Название Qwen в настройках само по себе ничего не включает: решающим является выбор провайдера.</a:t>
            </a:r>
          </a:p>
          <a:p xmlns:a="http://schemas.openxmlformats.org/drawingml/2006/main">
            <a:r>
              <a:t/>
            </a:r>
          </a:p>
          <a:p xmlns:a="http://schemas.openxmlformats.org/drawingml/2006/main">
            <a:r>
              <a:t>Отдельно код поддерживает Sentence Transformers. В конфигурации указан путь к Qwen3-Embedding-0.6B, но этот путь используется только при выборе соответствующего провайдера. Тогда числовое представление получает обученная нейросеть. Для документов включена нормализация embedding, а для запроса предусмотрен query prompt модели или инструкция формата Instruct/Query.</a:t>
            </a:r>
          </a:p>
          <a:p xmlns:a="http://schemas.openxmlformats.org/drawingml/2006/main">
            <a:r>
              <a:t/>
            </a:r>
          </a:p>
          <a:p xmlns:a="http://schemas.openxmlformats.org/drawingml/2006/main">
            <a:r>
              <a:t>Для нейросетевого варианта автоматический выбор устройства идёт через CUDA, затем MPS, затем CPU. Параметр `local_files_only` запрещает автоматически скачивать недостающие веса. Это ограничение загрузки модели, а не универсальная гарантия отсутствия любых сетевых взаимодействий во всём приложении.</a:t>
            </a:r>
          </a:p>
          <a:p xmlns:a="http://schemas.openxmlformats.org/drawingml/2006/main">
            <a:r>
              <a:t/>
            </a:r>
          </a:p>
          <a:p xmlns:a="http://schemas.openxmlformats.org/drawingml/2006/main">
            <a:r>
              <a:t>При смене провайдера нельзя просто сравнивать новые запросы со старой матрицей. Числа должны принадлежать одному совместимому пространству признаков. Даже одинаковая размерность не делает hash-вектор и Qwen-вектор взаимозаменяемыми. Для нового провайдера нужен соответствующий индекс, и код проверяет идентичность кеша.</a:t>
            </a:r>
          </a:p>
          <a:p xmlns:a="http://schemas.openxmlformats.org/drawingml/2006/main">
            <a:r>
              <a:t/>
            </a:r>
          </a:p>
          <a:p xmlns:a="http://schemas.openxmlformats.org/drawingml/2006/main">
            <a:r>
              <a:t>Где открыть: фабрика провайдеров (/Users/artapr/Documents/confuence-mcp-rag/src/corporate_kb/service.py:34), Sentence Transformers (/Users/artapr/Documents/confuence-mcp-rag/src/corporate_kb/embeddings/sentence_transformer.py:66), настройки (/Users/artapr/Documents/confuence-mcp-rag/src/corporate_kb/config.py:17).</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Проверенные параметры .env: KB_EMBEDDING_PROVIDER=hash, KB_EMBEDDING_DIMENSION=1024, model=./models/Qwen3-Embedding-0.6B, local_files_only=true, device=auto, max_seq_length=2048, batch_size=8. Источники: src/corporate_kb/service.py:34; embeddings/sentence_transformer.py:66,104,136; cache/manager.py:186. Для запросов нейросетевой провайдер применяет query prompt модели либо Instruct/Query. Для документов encode(normalize_embeddings=True).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12. Как текст становится вектором из 1024 чисел</a:t>
            </a:r>
          </a:p>
          <a:p xmlns:a="http://schemas.openxmlformats.org/drawingml/2006/main">
            <a:r>
              <a:t/>
            </a:r>
          </a:p>
          <a:p xmlns:a="http://schemas.openxmlformats.org/drawingml/2006/main">
            <a:r>
              <a:t>Разберём точный алгоритм текущего hash-режима. Сначала текст переводится в нижний регистр. Регулярное выражение выделяет слова. Для каждого слова создаётся признак с префиксом `w:`. Затем добавляются символьные триграммы внутри слова с обозначенными границами `^` и `$`.</a:t>
            </a:r>
          </a:p>
          <a:p xmlns:a="http://schemas.openxmlformats.org/drawingml/2006/main">
            <a:r>
              <a:t/>
            </a:r>
          </a:p>
          <a:p xmlns:a="http://schemas.openxmlformats.org/drawingml/2006/main">
            <a:r>
              <a:t>Например, слово «кот» даёт четыре признака: `w:кот`, `c3:^ко`, `c3:кот`, `c3:от$`. Префиксы важны: словесный признак и триграмма с одинаковыми буквами являются разными входами хеш-функции.</a:t>
            </a:r>
          </a:p>
          <a:p xmlns:a="http://schemas.openxmlformats.org/drawingml/2006/main">
            <a:r>
              <a:t/>
            </a:r>
          </a:p>
          <a:p xmlns:a="http://schemas.openxmlformats.org/drawingml/2006/main">
            <a:r>
              <a:t>Дальше создаётся массив из 1024 нулей. Для каждого признака считается SHA-256. Первые восемь байтов результата читаются как целое число в порядке big-endian. Остаток от деления на 1024 определяет номер координаты. Один бит следующего байта определяет знак: плюс один или минус один. Это значение добавляется в выбранную координату.</a:t>
            </a:r>
          </a:p>
          <a:p xmlns:a="http://schemas.openxmlformats.org/drawingml/2006/main">
            <a:r>
              <a:t/>
            </a:r>
          </a:p>
          <a:p xmlns:a="http://schemas.openxmlformats.org/drawingml/2006/main">
            <a:r>
              <a:t>Когда обработаны все признаки, считаем длину вектора: квадратный корень из суммы квадратов координат. Если длина больше нуля, делим все координаты на неё. Это L2-нормализация. Если после накопления получился нулевой вектор, код оставляет его нулевым.</a:t>
            </a:r>
          </a:p>
          <a:p xmlns:a="http://schemas.openxmlformats.org/drawingml/2006/main">
            <a:r>
              <a:t/>
            </a:r>
          </a:p>
          <a:p xmlns:a="http://schemas.openxmlformats.org/drawingml/2006/main">
            <a:r>
              <a:t>Важно, что SHA-256 здесь не становится «вектором из 256 чисел». Его байты используются как детерминированный способ распределения признаков по нашему массиву. Размер массива задаётся отдельно.</a:t>
            </a:r>
          </a:p>
          <a:p xmlns:a="http://schemas.openxmlformats.org/drawingml/2006/main">
            <a:r>
              <a:t/>
            </a:r>
          </a:p>
          <a:p xmlns:a="http://schemas.openxmlformats.org/drawingml/2006/main">
            <a:r>
              <a:t>И координата номер 59 не означает «кредиты» или «платежи». Это корзина, куда по хешу могут попасть разные признаки. Такие столкновения называются коллизиями. Они могут усиливать или частично компенсировать друг друга. Поэтому алгоритм хорошо объясняется через совпадение терминов и частей слов, но ему нельзя приписывать гарантированное понимание смысла или синонимов.</a:t>
            </a:r>
          </a:p>
          <a:p xmlns:a="http://schemas.openxmlformats.org/drawingml/2006/main">
            <a:r>
              <a:t/>
            </a:r>
          </a:p>
          <a:p xmlns:a="http://schemas.openxmlformats.org/drawingml/2006/main">
            <a:r>
              <a:t>Если спросят про обучение: hash-провайдер не обучается на корпусе, не считает IDF и не строит словарь всех встретившихся слов. Он детерминированно преобразует каждый текст. Это позволяет работать автономно, но качество зависит от терминологии и коллизий.</a:t>
            </a:r>
          </a:p>
          <a:p xmlns:a="http://schemas.openxmlformats.org/drawingml/2006/main">
            <a:r>
              <a:t/>
            </a:r>
          </a:p>
          <a:p xmlns:a="http://schemas.openxmlformats.org/drawingml/2006/main">
            <a:r>
              <a:t>Где открыть: весь алгоритм `_embed` (/Users/artapr/Documents/confuence-mcp-rag/src/corporate_kb/embeddings/hash_provider.py:46). Проверенный пример координат и косинусов приведён в техническом справочнике.</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Точный алгоритм: src/corporate_kb/embeddings/hash_provider.py:46–65. dimension в классе настраивается, здесь 1024 из .env/config. SHA-256 используется отдельно для каждого строкового признака (с префиксом w: или c3:), а не как прямое преобразование всего документа в одно 256-битное число. index = int.from_bytes(digest[:8], "big") % dimension; sign = 1.0 if digest[8] &amp; 1 else -1.0; vector[index] += sign; normalize if norm&gt;0.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13. Один индекс на диске: NumPy-матрица и три JSON-файла</a:t>
            </a:r>
          </a:p>
          <a:p xmlns:a="http://schemas.openxmlformats.org/drawingml/2006/main">
            <a:r>
              <a:t/>
            </a:r>
          </a:p>
          <a:p xmlns:a="http://schemas.openxmlformats.org/drawingml/2006/main">
            <a:r>
              <a:t>После векторизации мы собираем векторы всех чанков в матрицу. Если фрагментов N, а размерность D, её форма — N на D. В проверенной конфигурации D равно 1024. Каждая строка соответствует одному чанку, каждая колонка — одной координате признакового пространства.</a:t>
            </a:r>
          </a:p>
          <a:p xmlns:a="http://schemas.openxmlformats.org/drawingml/2006/main">
            <a:r>
              <a:t/>
            </a:r>
          </a:p>
          <a:p xmlns:a="http://schemas.openxmlformats.org/drawingml/2006/main">
            <a:r>
              <a:t>Числа хранятся в формате `float32`, то есть по четыре байта на координату. Поэтому один вектор из 1024 чисел занимает 4096 байт, или четыре кибибайта. Это только числовые данные. Тексты документов, чанки, метаданные, объекты Python и временные массивы увеличивают реальное потребление памяти.</a:t>
            </a:r>
          </a:p>
          <a:p xmlns:a="http://schemas.openxmlformats.org/drawingml/2006/main">
            <a:r>
              <a:t/>
            </a:r>
          </a:p>
          <a:p xmlns:a="http://schemas.openxmlformats.org/drawingml/2006/main">
            <a:r>
              <a:t>На диске матрица записывается в `embeddings.npy`. Отдельно `chunks.json` хранит чанки, `documents.json` — нормализованные документы, а `manifest.json` — параметры и сведения для проверки совместимости кеша. Соответствие основано на порядке: строка i матрицы соответствует чанку i. В памяти дополнительно есть отображение `chunk_id` в номер строки.</a:t>
            </a:r>
          </a:p>
          <a:p xmlns:a="http://schemas.openxmlformats.org/drawingml/2006/main">
            <a:r>
              <a:t/>
            </a:r>
          </a:p>
          <a:p xmlns:a="http://schemas.openxmlformats.org/drawingml/2006/main">
            <a:r>
              <a:t>При загрузке используется read-only mmap. Это позволяет обращаться к содержимому NPY через отображение файла в память и избегать лишней полной копии на старте. Но это не означает работу вообще без оперативной памяти: страницы обслуживает операционная система, а выборка строк для поиска в текущем коде создаёт временный массив.</a:t>
            </a:r>
          </a:p>
          <a:p xmlns:a="http://schemas.openxmlformats.org/drawingml/2006/main">
            <a:r>
              <a:t/>
            </a:r>
          </a:p>
          <a:p xmlns:a="http://schemas.openxmlformats.org/drawingml/2006/main">
            <a:r>
              <a:t>Если спросят про масштаб: сто тысяч векторов по 1024 float32 — это 409,6 миллиона байт, примерно 390,6 MiB только для матрицы. Миллион — примерно 3,81 GiB. Это расчёт размера массива, а не измерение памяти процесса и не обещание скорости поиска.</a:t>
            </a:r>
          </a:p>
          <a:p xmlns:a="http://schemas.openxmlformats.org/drawingml/2006/main">
            <a:r>
              <a:t/>
            </a:r>
          </a:p>
          <a:p xmlns:a="http://schemas.openxmlformats.org/drawingml/2006/main">
            <a:r>
              <a:t>Где открыть: файлы кеша (/Users/artapr/Documents/confuence-mcp-rag/src/corporate_kb/cache/manager.py:55), mmap-загрузка (/Users/artapr/Documents/confuence-mcp-rag/src/corporate_kb/cache/manager.py:115), соответствие чанков и строк (/Users/artapr/Documents/confuence-mcp-rag/src/corporate_kb/stores/memory.py:32).</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src/corporate_kb/cache/manager.py:55 (cache files), 115 (np.load mmap_mode="r", allow_pickle=False), 186 (compatibility), 219 (save). src/corporate_kb/stores/memory.py:32 (row mapping), 96 (candidate matrix copy). Расчёт: 1024 × 4 байта = 4096 байт. Путь по умолчанию .cache/kb; managed indexes — .cache/kb/indexes/&lt;index-id&gt;/, в зависимости от конфигурации.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14. RAG-индекс и граф системы: два разных хранилища</a:t>
            </a:r>
          </a:p>
          <a:p xmlns:a="http://schemas.openxmlformats.org/drawingml/2006/main">
            <a:r>
              <a:t/>
            </a:r>
          </a:p>
          <a:p xmlns:a="http://schemas.openxmlformats.org/drawingml/2006/main">
            <a:r>
              <a:t>Если спросить, какая здесь база, точный ответ для текстового поиска: собственное хранилище `InMemoryKnowledgeStore`. Документы и чанки представлены объектами Python, а векторы — NumPy-матрицей. На диске сохраняются NPY и JSON. Отдельная векторная СУБД в этом поисковом пути не используется.</a:t>
            </a:r>
          </a:p>
          <a:p xmlns:a="http://schemas.openxmlformats.org/drawingml/2006/main">
            <a:r>
              <a:t/>
            </a:r>
          </a:p>
          <a:p xmlns:a="http://schemas.openxmlformats.org/drawingml/2006/main">
            <a:r>
              <a:t>Граф хранится отдельно. Статический анализ создаёт сущности, связи и evidence. Снимки подробного графа и сервисной карты сохраняются в JSON, в частности в `system_graph.json` и `service_map.json`. Эти рёбра не являются строками embedding-матрицы, а графовая навигация не сводится к cosine similarity.</a:t>
            </a:r>
          </a:p>
          <a:p xmlns:a="http://schemas.openxmlformats.org/drawingml/2006/main">
            <a:r>
              <a:t/>
            </a:r>
          </a:p>
          <a:p xmlns:a="http://schemas.openxmlformats.org/drawingml/2006/main">
            <a:r>
              <a:t>Поэтому вопросы «где описано правило?» и «кто вызывает этот сервис?» могут приводить к разным инструментам. В первом случае нужен поиск по документам. Во втором — обход и фильтрация графа с последующей проверкой evidence. Затем клиент может соединить эти сведения в общем ответе.</a:t>
            </a:r>
          </a:p>
          <a:p xmlns:a="http://schemas.openxmlformats.org/drawingml/2006/main">
            <a:r>
              <a:t/>
            </a:r>
          </a:p>
          <a:p xmlns:a="http://schemas.openxmlformats.org/drawingml/2006/main">
            <a:r>
              <a:t>Важное архитектурное разделение: графовые документы специально исключаются из обычного RAG-индекса. Иначе можно было бы повторно индексировать производные описания графа и смешивать источники с результатом анализа.</a:t>
            </a:r>
          </a:p>
          <a:p xmlns:a="http://schemas.openxmlformats.org/drawingml/2006/main">
            <a:r>
              <a:t/>
            </a:r>
          </a:p>
          <a:p xmlns:a="http://schemas.openxmlformats.org/drawingml/2006/main">
            <a:r>
              <a:t>Где открыть: векторное хранилище (/Users/artapr/Documents/confuence-mcp-rag/src/corporate_kb/stores/memory.py:13), store подробного графа (/Users/artapr/Documents/confuence-mcp-rag/src/gigacode_graph/store.py:20), store сервисной карты (/Users/artapr/Documents/confuence-mcp-rag/src/service_map/store.py:22).</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src/corporate_kb/stores/memory.py; cache/manager.py; service.py:275 (exclude graph documents). Граф: src/gigacode_graph/store.py:20; src/service_map/store.py:22; config.py:80. static-v2@2.0.0: src/gigacode_graph/algorithms/static_v2.py:17; registry.py:44. Встроенный алгоритм вынесен за registry, поддерживаются внешние plugins. JSON snapshots, не Neo4j. Vector retrieval path не использует PostgreSQL/pgvector, Qdrant, FAISS или HNSW.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15. Векторизация запроса и поиск релевантных фрагментов</a:t>
            </a:r>
          </a:p>
          <a:p xmlns:a="http://schemas.openxmlformats.org/drawingml/2006/main">
            <a:r>
              <a:t/>
            </a:r>
          </a:p>
          <a:p xmlns:a="http://schemas.openxmlformats.org/drawingml/2006/main">
            <a:r>
              <a:t>Когда пользователь задаёт вопрос, код вычисляет его вектор тем же совместимым провайдером, которым построен индекс. Документы при каждом вопросе заново не векторизируются: подготовленная матрица уже доступна поисковому сервису.</a:t>
            </a:r>
          </a:p>
          <a:p xmlns:a="http://schemas.openxmlformats.org/drawingml/2006/main">
            <a:r>
              <a:t/>
            </a:r>
          </a:p>
          <a:p xmlns:a="http://schemas.openxmlformats.org/drawingml/2006/main">
            <a:r>
              <a:t>Сначала выбираются чанки, подходящие по фильтрам метаданных. Затем для выбранных строк выполняется выражение `matrix @ query_vector`. Если выбранная матрица имеет форму M на 1024, а запрос — 1024, результат имеет длину M: по одному score на каждый выбранный чанк.</a:t>
            </a:r>
          </a:p>
          <a:p xmlns:a="http://schemas.openxmlformats.org/drawingml/2006/main">
            <a:r>
              <a:t/>
            </a:r>
          </a:p>
          <a:p xmlns:a="http://schemas.openxmlformats.org/drawingml/2006/main">
            <a:r>
              <a:t>Каждый score — сумма произведений соответствующих координат. Для нормализованных ненулевых векторов она равна косинусной близости. Значение характеризует близость представлений, но не вероятность правильного ответа и не вероятность истинности документа. В hash-режиме на него влияют также коллизии.</a:t>
            </a:r>
          </a:p>
          <a:p xmlns:a="http://schemas.openxmlformats.org/drawingml/2006/main">
            <a:r>
              <a:t/>
            </a:r>
          </a:p>
          <a:p xmlns:a="http://schemas.openxmlformats.org/drawingml/2006/main">
            <a:r>
              <a:t>После вычисления scores применяется порог, если он задан. Код выбирает наиболее высокие значения через частичный отбор `argpartition`, затем сортирует итоговые результаты. Здесь нет графа HNSW и нет приближённого обхода ANN: сравнение проходит по всем выбранным строкам.</a:t>
            </a:r>
          </a:p>
          <a:p xmlns:a="http://schemas.openxmlformats.org/drawingml/2006/main">
            <a:r>
              <a:t/>
            </a:r>
          </a:p>
          <a:p xmlns:a="http://schemas.openxmlformats.org/drawingml/2006/main">
            <a:r>
              <a:t>По вычислениям это примерно M умножить на D операций для произведения, не считая фильтрации, выделения памяти и последующей упаковки. Поэтому при росте корпуса необходимо измерять реальную задержку и пиковую память. Отсутствие отдельной СУБД упрощает состав системы, но не отменяет ограничений полного перебора.</a:t>
            </a:r>
          </a:p>
          <a:p xmlns:a="http://schemas.openxmlformats.org/drawingml/2006/main">
            <a:r>
              <a:t/>
            </a:r>
          </a:p>
          <a:p xmlns:a="http://schemas.openxmlformats.org/drawingml/2006/main">
            <a:r>
              <a:t>Где открыть: создание вектора запроса (/Users/artapr/Documents/confuence-mcp-rag/src/corporate_kb/service.py:186), фильтры и произведение (/Users/artapr/Documents/confuence-mcp-rag/src/corporate_kb/stores/memory.py:81), отбор top-k (/Users/artapr/Documents/confuence-mcp-rag/src/corporate_kb/stores/memory.py:98).</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src/corporate_kb/service.py:186; stores/memory.py:60–125. Сначала проверяются размерность и конечность query, затем применяются metadata filters. scores = self._embeddings[candidate_indices] @ query. После min_score выполняется argpartition и сортировка top-k. Поиск создаёт временную выбранную матрицу даже при mmap исходного массива.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16. Как найденные фрагменты попадают в ответ</a:t>
            </a:r>
          </a:p>
          <a:p xmlns:a="http://schemas.openxmlformats.org/drawingml/2006/main">
            <a:r>
              <a:t/>
            </a:r>
          </a:p>
          <a:p xmlns:a="http://schemas.openxmlformats.org/drawingml/2006/main">
            <a:r>
              <a:t>Найти ближайшие векторы и сформировать контекст для модели — два разных этапа. Сервер не обязан отправлять клиенту полные тексты всех кандидатов. После ранжирования он отбирает и сокращает результаты.</a:t>
            </a:r>
          </a:p>
          <a:p xmlns:a="http://schemas.openxmlformats.org/drawingml/2006/main">
            <a:r>
              <a:t/>
            </a:r>
          </a:p>
          <a:p xmlns:a="http://schemas.openxmlformats.org/drawingml/2006/main">
            <a:r>
              <a:t>В стандартных настройках рассматривается до 12 кандидатов и возвращается до трёх результатов, не более одного чанка из одного документа. Для каждой выдержки установлен бюджет до 260 условных токенов. Отдельный общий бюджет 1000 относится к текстам выдержек, а не ко всему JSON-ответу, системному prompt или контексту модели.</a:t>
            </a:r>
          </a:p>
          <a:p xmlns:a="http://schemas.openxmlformats.org/drawingml/2006/main">
            <a:r>
              <a:t/>
            </a:r>
          </a:p>
          <a:p xmlns:a="http://schemas.openxmlformats.org/drawingml/2006/main">
            <a:r>
              <a:t>Эти числа настраиваются и означают верхние ограничения, а не гарантию ровно трёх результатов. Фильтры, порог, наличие документов и правила разнообразия могут уменьшить количество. При трёх выдержках по 260 их суммарный текст уже ограничен 780 условными токенами, хотя общий бюджет настроен на 1000.</a:t>
            </a:r>
          </a:p>
          <a:p xmlns:a="http://schemas.openxmlformats.org/drawingml/2006/main">
            <a:r>
              <a:t/>
            </a:r>
          </a:p>
          <a:p xmlns:a="http://schemas.openxmlformats.org/drawingml/2006/main">
            <a:r>
              <a:t>Сокращение здесь извлекающее. Обычный код оценивает предложения по пересечению слов и префиксов с вопросом. Дополнительная LLM для пересказа этих выдержек не вызывается. На выходе MCP отдаёт текст, score и citation. И уже клиентская модель формулирует ответ. При необходимости клиент может запросить дополнительные детали отдельным инструментом.</a:t>
            </a:r>
          </a:p>
          <a:p xmlns:a="http://schemas.openxmlformats.org/drawingml/2006/main">
            <a:r>
              <a:t/>
            </a:r>
          </a:p>
          <a:p xmlns:a="http://schemas.openxmlformats.org/drawingml/2006/main">
            <a:r>
              <a:t>Если спросят, где reranker: отдельной обученной reranker-модели в этом пути нет. Переотбор по разнообразию документов и выбор предложений — полезные операции, но их не нужно выдавать за cross-encoder reranking.</a:t>
            </a:r>
          </a:p>
          <a:p xmlns:a="http://schemas.openxmlformats.org/drawingml/2006/main">
            <a:r>
              <a:t/>
            </a:r>
          </a:p>
          <a:p xmlns:a="http://schemas.openxmlformats.org/drawingml/2006/main">
            <a:r>
              <a:t>Где открыть: вход поиска и candidate_k (/Users/artapr/Documents/confuence-mcp-rag/src/corporate_kb/mcp/tools.py:56), упаковка результатов (/Users/artapr/Documents/confuence-mcp-rag/src/corporate_kb/mcp/tools.py:361), извлечение выдержек (/Users/artapr/Documents/confuence-mcp-rag/src/corporate_kb/context.py:23), формат результата (/Users/artapr/Documents/confuence-mcp-rag/src/corporate_kb/mcp/tools.py:414).</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src/corporate_kb/mcp/tools.py:56–71: status=current, top_k=3, candidate_k=min(20,max(top_k,search_candidate_k)); top_k допускает 1–20. tools.py:361–396: упаковка, max_chunks_per_document=1, excerpt_tokens=260, context_tokens=1000. Budget считает только excerpts, не JSON, метаданные или весь prompt. Для трёх выдержек по 260 верхняя сумма 780. src/corporate_kb/context.py:23: extractive compression по словам и пятисимвольным префиксам, не reranker-модель. tools.py:414: text/score/citation.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17. Построение графа межсервисных связей</a:t>
            </a:r>
          </a:p>
          <a:p xmlns:a="http://schemas.openxmlformats.org/drawingml/2006/main">
            <a:r>
              <a:t/>
            </a:r>
          </a:p>
          <a:p xmlns:a="http://schemas.openxmlformats.org/drawingml/2006/main">
            <a:r>
              <a:t>Теперь перейдём от текстов к структуре системы. Граф строится по исходникам, контрактам и конфигурации. Он связывает сервисы, интерфейсы и другие распознанные сущности, сохраняя сведения, на основании которых появилась связь.</a:t>
            </a:r>
          </a:p>
          <a:p xmlns:a="http://schemas.openxmlformats.org/drawingml/2006/main">
            <a:r>
              <a:t/>
            </a:r>
          </a:p>
          <a:p xmlns:a="http://schemas.openxmlformats.org/drawingml/2006/main">
            <a:r>
              <a:t>Evidence может включать репозиторий, commit, файл, строку и фрагмент кода. Это даёт возможность перейти от нарисованной линии к конкретному основанию. Но важно помнить происхождение такого графа: он извлечён статическим анализом, а не наблюдением за работающим приложением.</a:t>
            </a:r>
          </a:p>
          <a:p xmlns:a="http://schemas.openxmlformats.org/drawingml/2006/main">
            <a:r>
              <a:t/>
            </a:r>
          </a:p>
          <a:p xmlns:a="http://schemas.openxmlformats.org/drawingml/2006/main">
            <a:r>
              <a:t>Поэтому граф может показать потенциальный вызов, который не выполняется в конкретном runtime-сценарии. И наоборот, динамический маршрут может остаться нераспознанным. Для доказательства фактического выполнения нужны другие источники, например трассировка и тесты.</a:t>
            </a:r>
          </a:p>
          <a:p xmlns:a="http://schemas.openxmlformats.org/drawingml/2006/main">
            <a:r>
              <a:t/>
            </a:r>
          </a:p>
          <a:p xmlns:a="http://schemas.openxmlformats.org/drawingml/2006/main">
            <a:r>
              <a:t>Где открыть: модели графа и evidence (/Users/artapr/Documents/confuence-mcp-rag/src/gigacode_graph/models.py:51), встроенный алгоритм (/Users/artapr/Documents/confuence-mcp-rag/src/gigacode_graph/algorithms/static_v2.py:17).</a:t>
            </a:r>
          </a:p>
          <a:p xmlns:a="http://schemas.openxmlformats.org/drawingml/2006/main">
            <a:r>
              <a:t/>
            </a:r>
          </a:p>
          <a:p xmlns:a="http://schemas.openxmlformats.org/drawingml/2006/main">
            <a:r>
              <a:t>Исходные заметки и ссылки:</a:t>
            </a:r>
          </a:p>
          <a:p xmlns:a="http://schemas.openxmlformats.org/drawingml/2006/main">
            <a:r>
              <a:t>Граф отвечает на первый практический вопрос: куда вообще смотреть. Он извлекается из исходников и объявленных контрактов: HTTP-вызовов, Kafka-топиков и конфигурации.</a:t>
            </a:r>
          </a:p>
          <a:p xmlns:a="http://schemas.openxmlformats.org/drawingml/2006/main">
            <a:r>
              <a:t/>
            </a:r>
          </a:p>
          <a:p xmlns:a="http://schemas.openxmlformats.org/drawingml/2006/main">
            <a:r>
              <a:t>Это не запись того, что прямо сейчас происходит в проде. Граф показывает обоснованный маршрут для анализа; точные детали добираются RAG-поиском и затем проверяются.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18. Статический анализ репозиториев для построения графа</a:t>
            </a:r>
          </a:p>
          <a:p xmlns:a="http://schemas.openxmlformats.org/drawingml/2006/main">
            <a:r>
              <a:t/>
            </a:r>
          </a:p>
          <a:p xmlns:a="http://schemas.openxmlformats.org/drawingml/2006/main">
            <a:r>
              <a:t>Сначала анализ определяет модули и границы сервисов. Для этого используются descriptors Maven и Gradle, явные описания и признаки Spring-приложений. Затем исходники Java и Kotlin разбирает Tree-sitter.</a:t>
            </a:r>
          </a:p>
          <a:p xmlns:a="http://schemas.openxmlformats.org/drawingml/2006/main">
            <a:r>
              <a:t/>
            </a:r>
          </a:p>
          <a:p xmlns:a="http://schemas.openxmlformats.org/drawingml/2006/main">
            <a:r>
              <a:t>Tree-sitter даёт синтаксическую структуру кода. Поверх неё работают правила проекта, которые распознают поддерживаемые контроллеры, клиенты, listeners, producers и вызовы. Это не полное воспроизведение компилятора JVM и не запуск приложения с настоящей конфигурацией окружения.</a:t>
            </a:r>
          </a:p>
          <a:p xmlns:a="http://schemas.openxmlformats.org/drawingml/2006/main">
            <a:r>
              <a:t/>
            </a:r>
          </a:p>
          <a:p xmlns:a="http://schemas.openxmlformats.org/drawingml/2006/main">
            <a:r>
              <a:t>В репозитории алгоритмы выделены в отдельный пакет с интерфейсом и registry. Встроенная реализация называется `static-v2`, версия `2.0.0`. Механизм подключения внешних plugins позволяет расширять набор алгоритмов, но наличие registry само по себе не означает, что в поставке уже есть множество встроенных анализаторов.</a:t>
            </a:r>
          </a:p>
          <a:p xmlns:a="http://schemas.openxmlformats.org/drawingml/2006/main">
            <a:r>
              <a:t/>
            </a:r>
          </a:p>
          <a:p xmlns:a="http://schemas.openxmlformats.org/drawingml/2006/main">
            <a:r>
              <a:t>Результат публикуется как снимок. При его интерпретации нужно смотреть на ревизию, диагностику, статус завершения и полноту анализа. Возможность показать частичный результат удобна, но такой результат нельзя называть полной картой системы.</a:t>
            </a:r>
          </a:p>
          <a:p xmlns:a="http://schemas.openxmlformats.org/drawingml/2006/main">
            <a:r>
              <a:t/>
            </a:r>
          </a:p>
          <a:p xmlns:a="http://schemas.openxmlformats.org/drawingml/2006/main">
            <a:r>
              <a:t>Где открыть: static-v2 (/Users/artapr/Documents/confuence-mcp-rag/src/gigacode_graph/algorithms/static_v2.py:17), registry (/Users/artapr/Documents/confuence-mcp-rag/src/gigacode_graph/algorithms/registry.py:44). Подробный разбор вынесения алгоритмов находится в техническом справочнике.</a:t>
            </a:r>
          </a:p>
          <a:p xmlns:a="http://schemas.openxmlformats.org/drawingml/2006/main">
            <a:r>
              <a:t/>
            </a:r>
          </a:p>
          <a:p xmlns:a="http://schemas.openxmlformats.org/drawingml/2006/main">
            <a:r>
              <a:t>Исходные заметки и ссылки:</a:t>
            </a:r>
          </a:p>
          <a:p xmlns:a="http://schemas.openxmlformats.org/drawingml/2006/main">
            <a:r>
              <a:t>Первый важный момент: базовая карта не требует доступа к работающим сервисам. Мы не вызываем их HTTP API, не читаем production-трафик, не запускаем Maven или Gradle и не исполняем код. Входные данные — checkout репозитория и его конфигурация.</a:t>
            </a:r>
          </a:p>
          <a:p xmlns:a="http://schemas.openxmlformats.org/drawingml/2006/main">
            <a:r>
              <a:t/>
            </a:r>
          </a:p>
          <a:p xmlns:a="http://schemas.openxmlformats.org/drawingml/2006/main">
            <a:r>
              <a:t>Сначала layout-проход выделяет сервисные модули по дескрипторам сборки, manifest и spring.application.name. Затем Tree-sitter разбирает Java и Kotlin как текстовую структуру: он видит контроллеры, клиентов, Kafka-listener'ы и producer'ы, но ничего не выполняет.</a:t>
            </a:r>
          </a:p>
          <a:p xmlns:a="http://schemas.openxmlformats.org/drawingml/2006/main">
            <a:r>
              <a:t/>
            </a:r>
          </a:p>
          <a:p xmlns:a="http://schemas.openxmlformats.org/drawingml/2006/main">
            <a:r>
              <a:t>Итог — обычный versioned JSON snapshot с узлами, связями и ссылками на строки исходников. Поэтому быстрый режим можно использовать как воспроизводимый первый проход без запуска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19. Выявление межсервисных связей по коду и контрактам</a:t>
            </a:r>
          </a:p>
          <a:p xmlns:a="http://schemas.openxmlformats.org/drawingml/2006/main">
            <a:r>
              <a:t/>
            </a:r>
          </a:p>
          <a:p xmlns:a="http://schemas.openxmlformats.org/drawingml/2006/main">
            <a:r>
              <a:t>Для HTTP анализатор собирает сведения о клиенте и пытается сопоставить их с принимающей стороной. В разных случаях помогают alias или host сервиса, HTTP-метод и нормализованный путь. Конфигурационные значения нужно предварительно разрешить, насколько это возможно статически.</a:t>
            </a:r>
          </a:p>
          <a:p xmlns:a="http://schemas.openxmlformats.org/drawingml/2006/main">
            <a:r>
              <a:t/>
            </a:r>
          </a:p>
          <a:p xmlns:a="http://schemas.openxmlformats.org/drawingml/2006/main">
            <a:r>
              <a:t>Важная оговорка: нельзя утверждать, что любое ребро появляется только при полном совпадении всех трёх признаков. Некоторые пути разрешения могут дать связь по alias сервиса без полного контракта. Поэтому рядом с ребром нужны confidence, evidence и сведения о неразрешённых частях.</a:t>
            </a:r>
          </a:p>
          <a:p xmlns:a="http://schemas.openxmlformats.org/drawingml/2006/main">
            <a:r>
              <a:t/>
            </a:r>
          </a:p>
          <a:p xmlns:a="http://schemas.openxmlformats.org/drawingml/2006/main">
            <a:r>
              <a:t>Для Kafka важным признаком служит topic. Но само совпадение темы не доказывает, что сообщения реально проходят между компонентами в конкретном окружении: runtime-конфигурация, права и фактические подписки остаются отдельным вопросом.</a:t>
            </a:r>
          </a:p>
          <a:p xmlns:a="http://schemas.openxmlformats.org/drawingml/2006/main">
            <a:r>
              <a:t/>
            </a:r>
          </a:p>
          <a:p xmlns:a="http://schemas.openxmlformats.org/drawingml/2006/main">
            <a:r>
              <a:t>Наша цель на этом этапе — получить проверяемый маршрут анализа. Если есть несколько целей или динамическое значение, неоднозначность не должна исчезать только ради красивой картинки.</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src/gigacode_graph/algorithms/static_v2.py; src/gigacode_graph/extractors. HTTP допускает разные пути разрешения: сервисный alias/host, совпадение контракта и эвристики. Поэтому нельзя утверждать, что абсолютно для каждого ребра обязательны одновременно alias, method и path. Confidence/evidence определяют, насколько надёжна связь.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20. Уровни достоверности и неразрешённые связи графа</a:t>
            </a:r>
          </a:p>
          <a:p xmlns:a="http://schemas.openxmlformats.org/drawingml/2006/main">
            <a:r>
              <a:t/>
            </a:r>
          </a:p>
          <a:p xmlns:a="http://schemas.openxmlformats.org/drawingml/2006/main">
            <a:r>
              <a:t>Уровни confidence помогают различать происхождение и силу оснований: декларацию, сильное статическое совпадение, более слабую гипотезу или неразрешённую связь. Они не являются откалиброванными вероятностями вроде «HIGH означает 95 процентов».</a:t>
            </a:r>
          </a:p>
          <a:p xmlns:a="http://schemas.openxmlformats.org/drawingml/2006/main">
            <a:r>
              <a:t/>
            </a:r>
          </a:p>
          <a:p xmlns:a="http://schemas.openxmlformats.org/drawingml/2006/main">
            <a:r>
              <a:t>Дополнительно предусмотрена проверка через GigaCode. Она работает с ограниченными пакетами кандидатов. Однако нужно различать подтверждение уже существующего ребра и предложение нового ребра. Для новых discovered edges код строже проверяет evidence с обеих сторон и совместимую точку входа.</a:t>
            </a:r>
          </a:p>
          <a:p xmlns:a="http://schemas.openxmlformats.org/drawingml/2006/main">
            <a:r>
              <a:t/>
            </a:r>
          </a:p>
          <a:p xmlns:a="http://schemas.openxmlformats.org/drawingml/2006/main">
            <a:r>
              <a:t>Для подтверждения или переназначения существующего кандидата нельзя обещать универсальное требование нового валидного evidence и точного target entrypoint. В этой ветке правила отличаются, а исходное ребро уже могло иметь собственные основания. Поэтому даже после LLM-проверки я предлагаю открывать evidence и смотреть, что именно подтверждено.</a:t>
            </a:r>
          </a:p>
          <a:p xmlns:a="http://schemas.openxmlformats.org/drawingml/2006/main">
            <a:r>
              <a:t/>
            </a:r>
          </a:p>
          <a:p xmlns:a="http://schemas.openxmlformats.org/drawingml/2006/main">
            <a:r>
              <a:t>Если вопрос аудитории звучит «можно ли слепо доверять зелёной или синей линии?», ответ — нет. Цвет помогает выбрать глубину проверки, но не заменяет проверку критичного вывода по исходнику, контракту и окружению.</a:t>
            </a:r>
          </a:p>
          <a:p xmlns:a="http://schemas.openxmlformats.org/drawingml/2006/main">
            <a:r>
              <a:t/>
            </a:r>
          </a:p>
          <a:p xmlns:a="http://schemas.openxmlformats.org/drawingml/2006/main">
            <a:r>
              <a:t>Где открыть: валидация ответов verifier (/Users/artapr/Documents/confuence-mcp-rag/src/corporate_kb/graph_verifier.py:449), проверка новых discovered edges (/Users/artapr/Documents/confuence-mcp-rag/src/corporate_kb/graph_verifier.py:529). Если расположение файла в ветке изменилось, найдите `discovered_edges` через `rg`.</a:t>
            </a:r>
          </a:p>
          <a:p xmlns:a="http://schemas.openxmlformats.org/drawingml/2006/main">
            <a:r>
              <a:t/>
            </a:r>
          </a:p>
          <a:p xmlns:a="http://schemas.openxmlformats.org/drawingml/2006/main">
            <a:r>
              <a:t>Исходные заметки и ссылки:</a:t>
            </a:r>
          </a:p>
          <a:p xmlns:a="http://schemas.openxmlformats.org/drawingml/2006/main">
            <a:r>
              <a:t>Проверено по локальному репозиторию confuence-mcp-rag, 24.09.2026. Параметры относятся к проверенной конфигурации, а не ко всем развёртываниям.</a:t>
            </a:r>
          </a:p>
          <a:p xmlns:a="http://schemas.openxmlformats.org/drawingml/2006/main">
            <a:r>
              <a:t/>
            </a:r>
          </a:p>
          <a:p xmlns:a="http://schemas.openxmlformats.org/drawingml/2006/main">
            <a:r>
              <a:t>src/gigacode_graph: bounded verification и targeted discovery. Подтверждение существующего кандидата и добавление новой обнаруженной связи имеют разные проверки; нельзя объединять их в одно универсальное требование точного entrypoint. Уровень confidence — качество доказательств, не измеренная вероятность.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21. Алгоритм планирования межсервисных изменений</a:t>
            </a:r>
          </a:p>
          <a:p xmlns:a="http://schemas.openxmlformats.org/drawingml/2006/main">
            <a:r>
              <a:t/>
            </a:r>
          </a:p>
          <a:p xmlns:a="http://schemas.openxmlformats.org/drawingml/2006/main">
            <a:r>
              <a:t>Когда подготовлены документы и граф, агент может разбирать задачу по шагам. Сначала фиксирует цель и ожидаемое поведение. Затем ищет точку входа, проходит по связанным сервисам и поднимает источники из соответствующих индексов.</a:t>
            </a:r>
          </a:p>
          <a:p xmlns:a="http://schemas.openxmlformats.org/drawingml/2006/main">
            <a:r>
              <a:t/>
            </a:r>
          </a:p>
          <a:p xmlns:a="http://schemas.openxmlformats.org/drawingml/2006/main">
            <a:r>
              <a:t>Далее нужно подтвердить область изменения. Сервис, который просто встретился при обходе графа, ещё не обязательно нужно менять. После этого формируется план: контракты, реализация, тесты, риски и порядок выпуска.</a:t>
            </a:r>
          </a:p>
          <a:p xmlns:a="http://schemas.openxmlformats.org/drawingml/2006/main">
            <a:r>
              <a:t/>
            </a:r>
          </a:p>
          <a:p xmlns:a="http://schemas.openxmlformats.org/drawingml/2006/main">
            <a:r>
              <a:t>Если данных не хватает, процесс должен сохранять неизвестное. Это не равно провалу поиска: явный вопрос владельцу сервиса полезнее, чем уверенно выдуманный endpoint или таблица. Перед публикацией задач агент показывает план и проверяет, какие действия действительно согласованы.</a:t>
            </a:r>
          </a:p>
          <a:p xmlns:a="http://schemas.openxmlformats.org/drawingml/2006/main">
            <a:r>
              <a:t/>
            </a:r>
          </a:p>
          <a:p xmlns:a="http://schemas.openxmlformats.org/drawingml/2006/main">
            <a:r>
              <a:t>Где открыть: planning workflow (/Users/artapr/Documents/confuence-mcp-rag/skills/plan-feature-with-system-graph/SKILL.md:40).</a:t>
            </a:r>
          </a:p>
          <a:p xmlns:a="http://schemas.openxmlformats.org/drawingml/2006/main">
            <a:r>
              <a:t/>
            </a:r>
          </a:p>
          <a:p xmlns:a="http://schemas.openxmlformats.org/drawingml/2006/main">
            <a:r>
              <a:t>Исходные заметки и ссылки:</a:t>
            </a:r>
          </a:p>
          <a:p xmlns:a="http://schemas.openxmlformats.org/drawingml/2006/main">
            <a:r>
              <a:t>Здесь показываем рабочую механику. Планирование начинается не с «какой код написать», а с поиска точки входа. После неё граф сужает область, RAG поднимает детали, а сервисы получают статус подтверждённого или кандидата.</a:t>
            </a:r>
          </a:p>
          <a:p xmlns:a="http://schemas.openxmlformats.org/drawingml/2006/main">
            <a:r>
              <a:t/>
            </a:r>
          </a:p>
          <a:p xmlns:a="http://schemas.openxmlformats.org/drawingml/2006/main">
            <a:r>
              <a:t>Это важно для реальной работы: если данных не хватает, процесс не делает вид, что всё понял. Неизвестное остаётся в плане отдельным пунктом и превращается в задачу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22. Формат PLAN_OUTPUT_V1 и проверка плана изменений</a:t>
            </a:r>
          </a:p>
          <a:p xmlns:a="http://schemas.openxmlformats.org/drawingml/2006/main">
            <a:r>
              <a:t/>
            </a:r>
          </a:p>
          <a:p xmlns:a="http://schemas.openxmlformats.org/drawingml/2006/main">
            <a:r>
              <a:t>План нужен разным читателям. Бизнесу важно резюме поведения и риска, инженеру — изменения по сервисам, контрактам и данным. Формат `PLAN_OUTPUT_V1` связывает эти части в один документ с источниками и открытыми вопросами.</a:t>
            </a:r>
          </a:p>
          <a:p xmlns:a="http://schemas.openxmlformats.org/drawingml/2006/main">
            <a:r>
              <a:t/>
            </a:r>
          </a:p>
          <a:p xmlns:a="http://schemas.openxmlformats.org/drawingml/2006/main">
            <a:r>
              <a:t>В нём отдельно представлены область задачи, целевой сценарий, карта сервисов, инженерный план, контракты, последовательность выпуска, приёмка, неизвестные и Jira-черновики. Связи между фактами, изменениями и проверками помогают увидеть пробелы.</a:t>
            </a:r>
          </a:p>
          <a:p xmlns:a="http://schemas.openxmlformats.org/drawingml/2006/main">
            <a:r>
              <a:t/>
            </a:r>
          </a:p>
          <a:p xmlns:a="http://schemas.openxmlformats.org/drawingml/2006/main">
            <a:r>
              <a:t>Отдельный skill проверки должен искать несогласованность и неподтверждённые утверждения. Но skill — это инструкции для агента, а не математическое доказательство корректности и не встроенный в Python компилятор спецификации. Его эффективность зависит от исполнения инструкций, доступных инструментов и качества источников.</a:t>
            </a:r>
          </a:p>
          <a:p xmlns:a="http://schemas.openxmlformats.org/drawingml/2006/main">
            <a:r>
              <a:t/>
            </a:r>
          </a:p>
          <a:p xmlns:a="http://schemas.openxmlformats.org/drawingml/2006/main">
            <a:r>
              <a:t>Где открыть: контракт результата (/Users/artapr/Documents/confuence-mcp-rag/skills/plan-feature-with-system-graph/references/plan-output-contract.md:1), проверка фичи (/Users/artapr/Documents/confuence-mcp-rag/skills/verify-cross-service-feature/SKILL.md).</a:t>
            </a:r>
          </a:p>
          <a:p xmlns:a="http://schemas.openxmlformats.org/drawingml/2006/main">
            <a:r>
              <a:t/>
            </a:r>
          </a:p>
          <a:p xmlns:a="http://schemas.openxmlformats.org/drawingml/2006/main">
            <a:r>
              <a:t>Исходные заметки и ссылки:</a:t>
            </a:r>
          </a:p>
          <a:p xmlns:a="http://schemas.openxmlformats.org/drawingml/2006/main">
            <a:r>
              <a:t>До этого слайда мы объяснили, как достаём знания. Здесь показываем, во что они превращаются. Ответ планировщика теперь имеет одинаковую структуру: короткое резюме для бизнеса, затем сервисная карта, изменения, контракты, тесты, риски, evidence и Jira drafts.</a:t>
            </a:r>
          </a:p>
          <a:p xmlns:a="http://schemas.openxmlformats.org/drawingml/2006/main">
            <a:r>
              <a:t/>
            </a:r>
          </a:p>
          <a:p xmlns:a="http://schemas.openxmlformats.org/drawingml/2006/main">
            <a:r>
              <a:t>Verifier используется до и после планирования. Он проверяет не красоту текста, а то, не добавили ли в план несуществующий сервис, контракт или файл.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23. Планирование межсервисных изменений в GigaCode</a:t>
            </a:r>
          </a:p>
          <a:p xmlns:a="http://schemas.openxmlformats.org/drawingml/2006/main">
            <a:r>
              <a:t/>
            </a:r>
          </a:p>
          <a:p xmlns:a="http://schemas.openxmlformats.org/drawingml/2006/main">
            <a:r>
              <a:t>Для пользователя результат выглядит как единый план, но за ним стоят разные операции. Граф определяет маршрут исследования, RAG поднимает тексты, а модель связывает найденные сведения с новым требованием.</a:t>
            </a:r>
          </a:p>
          <a:p xmlns:a="http://schemas.openxmlformats.org/drawingml/2006/main">
            <a:r>
              <a:t/>
            </a:r>
          </a:p>
          <a:p xmlns:a="http://schemas.openxmlformats.org/drawingml/2006/main">
            <a:r>
              <a:t>Нужно сохранять видимую границу между тем, что система уже делает, и тем, что мы предлагаем реализовать. Ссылка на исходник подтверждает текущее состояние, но не превращает проектное решение в уже существующую реализацию.</a:t>
            </a:r>
          </a:p>
          <a:p xmlns:a="http://schemas.openxmlformats.org/drawingml/2006/main">
            <a:r>
              <a:t/>
            </a:r>
          </a:p>
          <a:p xmlns:a="http://schemas.openxmlformats.org/drawingml/2006/main">
            <a:r>
              <a:t>Практический критерий хорошего результата такой: по каждому важному изменению можно объяснить, зачем оно нужно, что его подтверждает, кто затронут и как проверить результат. А по каждому неизвестному есть понятное следующее действие, например чтение контракта или вопрос владельцу.</a:t>
            </a:r>
          </a:p>
          <a:p xmlns:a="http://schemas.openxmlformats.org/drawingml/2006/main">
            <a:r>
              <a:t/>
            </a:r>
          </a:p>
          <a:p xmlns:a="http://schemas.openxmlformats.org/drawingml/2006/main">
            <a:r>
              <a:t>Исходные заметки и ссылки:</a:t>
            </a:r>
          </a:p>
          <a:p xmlns:a="http://schemas.openxmlformats.org/drawingml/2006/main">
            <a:r>
              <a:t>Заменить заглушку реальным скриншотом GigaCode. Лучше показать верх ответа с вызванным skill и часть таблицы плана, где видны service/repository, evidence и unknowns.</a:t>
            </a:r>
          </a:p>
          <a:p xmlns:a="http://schemas.openxmlformats.org/drawingml/2006/main">
            <a:r>
              <a:t/>
            </a:r>
          </a:p>
          <a:p xmlns:a="http://schemas.openxmlformats.org/drawingml/2006/main">
            <a:r>
              <a:t>Во время доклада не читать весь ответ. Подсветить четыре элемента справа: маршрут, источники, конкретные изменения и честно указанные неизвестные.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24. Создание задач Jira на основе согласованного плана</a:t>
            </a:r>
          </a:p>
          <a:p xmlns:a="http://schemas.openxmlformats.org/drawingml/2006/main">
            <a:r>
              <a:t/>
            </a:r>
          </a:p>
          <a:p xmlns:a="http://schemas.openxmlformats.org/drawingml/2006/main">
            <a:r>
              <a:t>Публикация в Jira — отдельная фаза. Сначала агент показывает черновики и разрешает целевой проект через доступный клиентский Jira MCP. Корпоративный knowledge MCP и Jira MCP — разные источники полномочий.</a:t>
            </a:r>
          </a:p>
          <a:p xmlns:a="http://schemas.openxmlformats.org/drawingml/2006/main">
            <a:r>
              <a:t/>
            </a:r>
          </a:p>
          <a:p xmlns:a="http://schemas.openxmlformats.org/drawingml/2006/main">
            <a:r>
              <a:t>В текущем описанном test-mode workflow все задачи идут в один явно выбранный проект, по одной задаче на каждый подтверждённый затронутый сервис. Это правило конкретного сценария, а не универсальная архитектура Jira для всех организаций.</a:t>
            </a:r>
          </a:p>
          <a:p xmlns:a="http://schemas.openxmlformats.org/drawingml/2006/main">
            <a:r>
              <a:t/>
            </a:r>
          </a:p>
          <a:p xmlns:a="http://schemas.openxmlformats.org/drawingml/2006/main">
            <a:r>
              <a:t>Выбор проекта относится к показанным черновикам. Если изменился состав задач или назначение, нужно снова сверить намерение пользователя. При отсутствии нужного коннектора или прав агент должен оставить черновики и объяснить, чего не хватает, а не выдавать вымышленные номера задач.</a:t>
            </a:r>
          </a:p>
          <a:p xmlns:a="http://schemas.openxmlformats.org/drawingml/2006/main">
            <a:r>
              <a:t/>
            </a:r>
          </a:p>
          <a:p xmlns:a="http://schemas.openxmlformats.org/drawingml/2006/main">
            <a:r>
              <a:t>После создания результат читается обратно. При этом «ноль скрытых записей» на слайде описывает предписанный workflow. Сам текст skill не заменяет серверный контроль доступа и аудит действий.</a:t>
            </a:r>
          </a:p>
          <a:p xmlns:a="http://schemas.openxmlformats.org/drawingml/2006/main">
            <a:r>
              <a:t/>
            </a:r>
          </a:p>
          <a:p xmlns:a="http://schemas.openxmlformats.org/drawingml/2006/main">
            <a:r>
              <a:t>Где открыть: правила публикации Jira (/Users/artapr/Documents/confuence-mcp-rag/skills/plan-feature-with-system-graph/SKILL.md:73).</a:t>
            </a:r>
          </a:p>
          <a:p xmlns:a="http://schemas.openxmlformats.org/drawingml/2006/main">
            <a:r>
              <a:t/>
            </a:r>
          </a:p>
          <a:p xmlns:a="http://schemas.openxmlformats.org/drawingml/2006/main">
            <a:r>
              <a:t>Исходные заметки и ссылки:</a:t>
            </a:r>
          </a:p>
          <a:p xmlns:a="http://schemas.openxmlformats.org/drawingml/2006/main">
            <a:r>
              <a:t>Заменить заглушку реальным скриншотом GigaCode: вопрос о Jira-пространстве, выбранный проект и итоговую таблицу service → Jira key → URL.</a:t>
            </a:r>
          </a:p>
          <a:p xmlns:a="http://schemas.openxmlformats.org/drawingml/2006/main">
            <a:r>
              <a:t/>
            </a:r>
          </a:p>
          <a:p xmlns:a="http://schemas.openxmlformats.org/drawingml/2006/main">
            <a:r>
              <a:t>Важно честно назвать границу текущего тестового режима: все задачи создаются в одном выбранном проекте, одна Task на подтверждённый сервис, с назначением на текущего Jira-пользователя. Автоматической маршрутизации по нескольким командным проектам, эпиков и связей этот сценарий пока не обещает.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25. Проверяемость результатов и ограничения подхода</a:t>
            </a:r>
          </a:p>
          <a:p xmlns:a="http://schemas.openxmlformats.org/drawingml/2006/main">
            <a:r>
              <a:t/>
            </a:r>
          </a:p>
          <a:p xmlns:a="http://schemas.openxmlformats.org/drawingml/2006/main">
            <a:r>
              <a:t>Перечислю ограничения прямо. Качество RAG зависит от полноты и актуальности документов. Hash-поиск зависит от терминологии и допускает коллизии. Статический граф ограничен поддерживаемыми конструкциями и не наблюдает runtime. Сгенерированный SSOT и итоговый план могут содержать ошибки.</a:t>
            </a:r>
          </a:p>
          <a:p xmlns:a="http://schemas.openxmlformats.org/drawingml/2006/main">
            <a:r>
              <a:t/>
            </a:r>
          </a:p>
          <a:p xmlns:a="http://schemas.openxmlformats.org/drawingml/2006/main">
            <a:r>
              <a:t>Есть и эксплуатационные вопросы: размер корпуса, пиковая память полного поиска, параллельные запросы, обновление кеша и защита доступа. Фильтр по сервису или домену сам по себе не является ACL. До общего корпоративного использования необходимо определить границы доступа и проверить конкретную схему развёртывания.</a:t>
            </a:r>
          </a:p>
          <a:p xmlns:a="http://schemas.openxmlformats.org/drawingml/2006/main">
            <a:r>
              <a:t/>
            </a:r>
          </a:p>
          <a:p xmlns:a="http://schemas.openxmlformats.org/drawingml/2006/main">
            <a:r>
              <a:t>Мы не скрываем эти ограничения за score и confidence. Для улучшения качества нужны проверочные вопросы с известными релевантными источниками, измерение retrieval и разбор ошибок. Скорость, качество поиска и правильность финального ответа — три разных измеряемых свойства.</a:t>
            </a:r>
          </a:p>
          <a:p xmlns:a="http://schemas.openxmlformats.org/drawingml/2006/main">
            <a:r>
              <a:t/>
            </a:r>
          </a:p>
          <a:p xmlns:a="http://schemas.openxmlformats.org/drawingml/2006/main">
            <a:r>
              <a:t>Если спросят о доказанной эффективности: в репозитории есть тесты и инструменты оценки, но сам факт их наличия не доказывает production-эффект. Числа нужно показывать вместе с конкретным корпусом, сценарием, оборудованием и методикой.</a:t>
            </a:r>
          </a:p>
          <a:p xmlns:a="http://schemas.openxmlformats.org/drawingml/2006/main">
            <a:r>
              <a:t/>
            </a:r>
          </a:p>
          <a:p xmlns:a="http://schemas.openxmlformats.org/drawingml/2006/main">
            <a:r>
              <a:t>Исходные заметки и ссылки:</a:t>
            </a:r>
          </a:p>
          <a:p xmlns:a="http://schemas.openxmlformats.org/drawingml/2006/main">
            <a:r>
              <a:t>Здесь не надо спорить про магию модели. Правило очень простое: важный факт должен вести к источнику, который можно открыть и проверить.</a:t>
            </a:r>
          </a:p>
          <a:p xmlns:a="http://schemas.openxmlformats.org/drawingml/2006/main">
            <a:r>
              <a:t/>
            </a:r>
          </a:p>
          <a:p xmlns:a="http://schemas.openxmlformats.org/drawingml/2006/main">
            <a:r>
              <a:t>Если источника не хватает, не закрываем этот пробел красивой формулировкой. Фиксируем вопрос, владельца решения и следующий шаг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26. Результаты применения общего контекста в SDD-разработке</a:t>
            </a:r>
          </a:p>
          <a:p xmlns:a="http://schemas.openxmlformats.org/drawingml/2006/main">
            <a:r>
              <a:t/>
            </a:r>
          </a:p>
          <a:p xmlns:a="http://schemas.openxmlformats.org/drawingml/2006/main">
            <a:r>
              <a:t>Ожидаемая польза для бизнеса — раньше увидеть затронутые команды и неизвестные. Для разработки — быстрее дойти до нужного источника и связать изменения с контрактами, тестами и порядком выпуска.</a:t>
            </a:r>
          </a:p>
          <a:p xmlns:a="http://schemas.openxmlformats.org/drawingml/2006/main">
            <a:r>
              <a:t/>
            </a:r>
          </a:p>
          <a:p xmlns:a="http://schemas.openxmlformats.org/drawingml/2006/main">
            <a:r>
              <a:t>Я называю это ожидаемой пользой подхода, а не обещаю фиксированное ускорение на основании одной архитектуры. Чтобы заявлять, например, о сокращении времени анализа на определённый процент, нужно отдельно измерить одинаковые задачи с системой и без неё.</a:t>
            </a:r>
          </a:p>
          <a:p xmlns:a="http://schemas.openxmlformats.org/drawingml/2006/main">
            <a:r>
              <a:t/>
            </a:r>
          </a:p>
          <a:p xmlns:a="http://schemas.openxmlformats.org/drawingml/2006/main">
            <a:r>
              <a:t>Главный принцип остаётся простым: система помогает подготовить контекст и маршрут проверки. Ответственность за источник, архитектурное решение и согласование изменения остаётся у людей. Чем легче вернуться от вывода к evidence, тем проще этот результат проверить и использовать.</a:t>
            </a:r>
          </a:p>
          <a:p xmlns:a="http://schemas.openxmlformats.org/drawingml/2006/main">
            <a:r>
              <a:t/>
            </a:r>
          </a:p>
          <a:p xmlns:a="http://schemas.openxmlformats.org/drawingml/2006/main">
            <a:r>
              <a:t>Исходные заметки и ссылки:</a:t>
            </a:r>
          </a:p>
          <a:p xmlns:a="http://schemas.openxmlformats.org/drawingml/2006/main">
            <a:r>
              <a:t>Финальный тезис: это не просто более удобный поиск. Общий контекст связывает спецификацию, текущее состояние системы, план изменений и постановку задач.</a:t>
            </a:r>
          </a:p>
          <a:p xmlns:a="http://schemas.openxmlformats.org/drawingml/2006/main">
            <a:r>
              <a:t/>
            </a:r>
          </a:p>
          <a:p xmlns:a="http://schemas.openxmlformats.org/drawingml/2006/main">
            <a:r>
              <a:t>После вывода вернуться к реальным скриншотам или перейти в live demo: вызвать feature skill, показать сервисный план, прогнать аудит и подтвердить создание задач в выбранном Jira-проекте.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Подробная речь к слайду 27. Хотите использовать проект?</a:t>
            </a:r>
          </a:p>
          <a:p xmlns:a="http://schemas.openxmlformats.org/drawingml/2006/main">
            <a:r>
              <a:t/>
            </a:r>
          </a:p>
          <a:p xmlns:a="http://schemas.openxmlformats.org/drawingml/2006/main">
            <a:r>
              <a:t>Если вы хотите попробовать этот подход на своих репозиториях, здесь будет QR-код на проект и ссылка. В репозитории можно посмотреть реализацию, инструкции и тесты.</a:t>
            </a:r>
          </a:p>
          <a:p xmlns:a="http://schemas.openxmlformats.org/drawingml/2006/main">
            <a:r>
              <a:t/>
            </a:r>
          </a:p>
          <a:p xmlns:a="http://schemas.openxmlformats.org/drawingml/2006/main">
            <a:r>
              <a:t>Я предлагаю начать с небольшого набора документов и вопросов, для которых вы заранее знаете правильные источники. Сначала проверить импорт, поиск и ссылки, затем сравнить hash-режим с нейросетевой векторизацией, если она нужна вашему сценарию. Анализ графа лучше тоже начать с нескольких понятных сервисов, чтобы можно было вручную проверить связи.</a:t>
            </a:r>
          </a:p>
          <a:p xmlns:a="http://schemas.openxmlformats.org/drawingml/2006/main">
            <a:r>
              <a:t/>
            </a:r>
          </a:p>
          <a:p xmlns:a="http://schemas.openxmlformats.org/drawingml/2006/main">
            <a:r>
              <a:t>Перед загрузкой внутренних материалов необходимо согласовать доступ и проверить, где работает подключённая генеративная модель. Локальный индекс не отменяет возможную передачу найденного контекста клиентской модели.</a:t>
            </a:r>
          </a:p>
          <a:p xmlns:a="http://schemas.openxmlformats.org/drawingml/2006/main">
            <a:r>
              <a:t/>
            </a:r>
          </a:p>
          <a:p xmlns:a="http://schemas.openxmlformats.org/drawingml/2006/main">
            <a:r>
              <a:t>Спасибо. Если есть технические вопросы, можем открыть код и пройти весь путь от `embedding_text` до произведения матрицы на вектор запроса.</a:t>
            </a:r>
          </a:p>
          <a:p xmlns:a="http://schemas.openxmlformats.org/drawingml/2006/main">
            <a:r>
              <a:t/>
            </a:r>
          </a:p>
          <a:p xmlns:a="http://schemas.openxmlformats.org/drawingml/2006/main">
            <a:r>
              <a:t>Примечание докладчику: произносите «здесь QR-код» только после замены плейсхолдера настоящим кодом. Пока на слайде обозначено место для него и для ссылки.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67ef7c274744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296785cece4d33" /><Relationship Type="http://schemas.openxmlformats.org/officeDocument/2006/relationships/slideLayout" Target="/ppt/slideLayouts/slideLayout1.xml" Id="R4133e871a98840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33e871a98840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bafa233c674f66" /><Relationship Type="http://schemas.openxmlformats.org/officeDocument/2006/relationships/notesSlide" Target="/ppt/notesSlides/notesSlide1.xml" Id="R47eac11ca29245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1747be4e304060" /><Relationship Type="http://schemas.openxmlformats.org/officeDocument/2006/relationships/notesSlide" Target="/ppt/notesSlides/notesSlide2.xml" Id="R6f7ec30768a645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cb1df22fc546ef" /><Relationship Type="http://schemas.openxmlformats.org/officeDocument/2006/relationships/notesSlide" Target="/ppt/notesSlides/notesSlide3.xml" Id="R63482bc6a79240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87bc16750a453e" /><Relationship Type="http://schemas.openxmlformats.org/officeDocument/2006/relationships/notesSlide" Target="/ppt/notesSlides/notesSlide4.xml" Id="R8375fdc1734042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e2e6feca364446" /><Relationship Type="http://schemas.openxmlformats.org/officeDocument/2006/relationships/notesSlide" Target="/ppt/notesSlides/notesSlide5.xml" Id="Rbefc44eed6044c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0e02bf01534ef5" /><Relationship Type="http://schemas.openxmlformats.org/officeDocument/2006/relationships/notesSlide" Target="/ppt/notesSlides/notesSlide6.xml" Id="R2fe1565910104d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7a3184be0f4737" /><Relationship Type="http://schemas.openxmlformats.org/officeDocument/2006/relationships/notesSlide" Target="/ppt/notesSlides/notesSlide7.xml" Id="Rd9cc1f44b36a44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e961dda14b40ea" /><Relationship Type="http://schemas.openxmlformats.org/officeDocument/2006/relationships/notesSlide" Target="/ppt/notesSlides/notesSlide8.xml" Id="R206f4217d5554e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4a609d47e4b4d" /><Relationship Type="http://schemas.openxmlformats.org/officeDocument/2006/relationships/notesSlide" Target="/ppt/notesSlides/notesSlide9.xml" Id="R5f263ab56df741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bedc6f6d4b4642" /><Relationship Type="http://schemas.openxmlformats.org/officeDocument/2006/relationships/notesSlide" Target="/ppt/notesSlides/notesSlide10.xml" Id="Rc74935104aba41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31dea87f6b4273" /><Relationship Type="http://schemas.openxmlformats.org/officeDocument/2006/relationships/notesSlide" Target="/ppt/notesSlides/notesSlide11.xml" Id="R027d07cce5ca4a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5693b41d294fae" /><Relationship Type="http://schemas.openxmlformats.org/officeDocument/2006/relationships/notesSlide" Target="/ppt/notesSlides/notesSlide12.xml" Id="R62f3a940c00e49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3a8cde4285486f" /><Relationship Type="http://schemas.openxmlformats.org/officeDocument/2006/relationships/notesSlide" Target="/ppt/notesSlides/notesSlide13.xml" Id="R614751a0904140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00e042fcee4886" /><Relationship Type="http://schemas.openxmlformats.org/officeDocument/2006/relationships/notesSlide" Target="/ppt/notesSlides/notesSlide14.xml" Id="R9ed21c0441cc45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bd8933148b45e4" /><Relationship Type="http://schemas.openxmlformats.org/officeDocument/2006/relationships/notesSlide" Target="/ppt/notesSlides/notesSlide15.xml" Id="R16a3bee5858940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a820b35910343db" /><Relationship Type="http://schemas.openxmlformats.org/officeDocument/2006/relationships/notesSlide" Target="/ppt/notesSlides/notesSlide16.xml" Id="Rbe21cdf85bfe40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ffaa8ab76ad418d" /><Relationship Type="http://schemas.openxmlformats.org/officeDocument/2006/relationships/notesSlide" Target="/ppt/notesSlides/notesSlide17.xml" Id="R4d4104ce43b74f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0aed06eccf4b80" /><Relationship Type="http://schemas.openxmlformats.org/officeDocument/2006/relationships/notesSlide" Target="/ppt/notesSlides/notesSlide18.xml" Id="Red2b74a3327741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a31dfc43b74289" /><Relationship Type="http://schemas.openxmlformats.org/officeDocument/2006/relationships/notesSlide" Target="/ppt/notesSlides/notesSlide19.xml" Id="Ra33e281a78bb43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838b3cbb55d431c" /><Relationship Type="http://schemas.openxmlformats.org/officeDocument/2006/relationships/notesSlide" Target="/ppt/notesSlides/notesSlide20.xml" Id="R5fa1f4aa18484d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c8014b3fee942a3" /><Relationship Type="http://schemas.openxmlformats.org/officeDocument/2006/relationships/notesSlide" Target="/ppt/notesSlides/notesSlide21.xml" Id="R84c904f0d4174f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ed411ab76934bff" /><Relationship Type="http://schemas.openxmlformats.org/officeDocument/2006/relationships/notesSlide" Target="/ppt/notesSlides/notesSlide22.xml" Id="R9db27e0b139245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4be982c2d784664" /><Relationship Type="http://schemas.openxmlformats.org/officeDocument/2006/relationships/notesSlide" Target="/ppt/notesSlides/notesSlide23.xml" Id="R9473b03746bc41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9c22fb283f645d7" /><Relationship Type="http://schemas.openxmlformats.org/officeDocument/2006/relationships/notesSlide" Target="/ppt/notesSlides/notesSlide24.xml" Id="R5ea84613f59345d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b9811e6c1f145d6" /><Relationship Type="http://schemas.openxmlformats.org/officeDocument/2006/relationships/notesSlide" Target="/ppt/notesSlides/notesSlide25.xml" Id="R6850837fa0e6487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ba5c9f40c20475a" /><Relationship Type="http://schemas.openxmlformats.org/officeDocument/2006/relationships/notesSlide" Target="/ppt/notesSlides/notesSlide26.xml" Id="Ra16b0980991942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3e80ef289774493" /><Relationship Type="http://schemas.openxmlformats.org/officeDocument/2006/relationships/notesSlide" Target="/ppt/notesSlides/notesSlide27.xml" Id="R947cb16e03374ecb" /></Relationships>
</file>

<file path=ppt/slides/slide1.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1" name="Рамка слайда">
            <a:extLst xmlns:a="http://schemas.openxmlformats.org/drawingml/2006/main">
              <a:ext uri="{FF2B5EF4-FFF2-40B4-BE49-F238E27FC236}">
                <a16:creationId xmlns:a16="http://schemas.microsoft.com/office/drawing/2014/main" id="{499386F7-B245-4C62-B03C-8700184F5E16}"/>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19A3826F-BDEE-4A45-99AF-6D3A21C17B64}"/>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E3629EBC-C6E5-4F9D-9CB5-02D44111ADB3}"/>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57D2289B-BA5D-43C6-BF26-AD85DC304F34}"/>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01 / 27</a:t>
            </a:r>
          </a:p>
        </p:txBody>
      </p:sp>
      <p:sp>
        <p:nvSpPr>
          <p:cNvPr id="5" name="Надзаголовок">
            <a:extLst xmlns:a="http://schemas.openxmlformats.org/drawingml/2006/main">
              <a:ext uri="{FF2B5EF4-FFF2-40B4-BE49-F238E27FC236}">
                <a16:creationId xmlns:a16="http://schemas.microsoft.com/office/drawing/2014/main" id="{972F736C-72F8-43DF-8C2E-5C0393CBC036}"/>
              </a:ext>
            </a:extLst>
          </p:cNvPr>
          <p:cNvSpPr>
            <a:spLocks xmlns:a="http://schemas.openxmlformats.org/drawingml/2006/main" noGrp="1"/>
          </p:cNvSpPr>
          <p:nvPr/>
        </p:nvSpPr>
        <p:spPr>
          <a:xfrm xmlns:a="http://schemas.openxmlformats.org/drawingml/2006/main">
            <a:off x="762000" y="1276350"/>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КОРПОРАТИВНАЯ РАЗРАБОТКА · RAG · SDD</a:t>
            </a:r>
          </a:p>
        </p:txBody>
      </p:sp>
      <p:sp>
        <p:nvSpPr>
          <p:cNvPr id="6" name="Титульный заголовок">
            <a:extLst xmlns:a="http://schemas.openxmlformats.org/drawingml/2006/main">
              <a:ext uri="{FF2B5EF4-FFF2-40B4-BE49-F238E27FC236}">
                <a16:creationId xmlns:a16="http://schemas.microsoft.com/office/drawing/2014/main" id="{ABBE3F5D-776B-4013-8DF4-51015568A287}"/>
              </a:ext>
            </a:extLst>
          </p:cNvPr>
          <p:cNvSpPr>
            <a:spLocks xmlns:a="http://schemas.openxmlformats.org/drawingml/2006/main" noGrp="1"/>
          </p:cNvSpPr>
          <p:nvPr/>
        </p:nvSpPr>
        <p:spPr>
          <a:xfrm xmlns:a="http://schemas.openxmlformats.org/drawingml/2006/main">
            <a:off x="762000" y="2133600"/>
            <a:ext cx="138112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5475" b="1">
                <a:solidFill>
                  <a:srgbClr val="F4F8FB"/>
                </a:solidFill>
                <a:latin typeface="Arial"/>
                <a:ea typeface="Arial"/>
                <a:cs typeface="Arial"/>
              </a:defRPr>
            </a:pPr>
            <a:r>
              <a:rPr sz="5475" b="1">
                <a:solidFill>
                  <a:srgbClr val="F4F8FB"/>
                </a:solidFill>
                <a:latin typeface="Arial"/>
                <a:ea typeface="Arial"/>
                <a:cs typeface="Arial"/>
              </a:rPr>
              <a:t>Применение RAG</a:t>
            </a:r>
          </a:p>
          <a:p xmlns:a="http://schemas.openxmlformats.org/drawingml/2006/main">
            <a:pPr algn="l">
              <a:spcBef>
                <a:spcPts val="0"/>
              </a:spcBef>
              <a:spcAft>
                <a:spcPts val="0"/>
              </a:spcAft>
              <a:buNone/>
              <a:defRPr sz="5475" b="1">
                <a:solidFill>
                  <a:srgbClr val="F4F8FB"/>
                </a:solidFill>
                <a:latin typeface="Arial"/>
                <a:ea typeface="Arial"/>
                <a:cs typeface="Arial"/>
              </a:defRPr>
            </a:pPr>
            <a:r>
              <a:rPr sz="5475" b="1">
                <a:solidFill>
                  <a:srgbClr val="F4F8FB"/>
                </a:solidFill>
                <a:latin typeface="Arial"/>
                <a:ea typeface="Arial"/>
                <a:cs typeface="Arial"/>
              </a:rPr>
              <a:t>в SDD-разработке АС</a:t>
            </a:r>
          </a:p>
          <a:p xmlns:a="http://schemas.openxmlformats.org/drawingml/2006/main">
            <a:pPr algn="l">
              <a:spcBef>
                <a:spcPts val="0"/>
              </a:spcBef>
              <a:spcAft>
                <a:spcPts val="0"/>
              </a:spcAft>
              <a:buNone/>
              <a:defRPr sz="5475" b="1">
                <a:solidFill>
                  <a:srgbClr val="F4F8FB"/>
                </a:solidFill>
                <a:latin typeface="Arial"/>
                <a:ea typeface="Arial"/>
                <a:cs typeface="Arial"/>
              </a:defRPr>
            </a:pPr>
            <a:r>
              <a:rPr sz="5475" b="1">
                <a:solidFill>
                  <a:srgbClr val="54D7FF"/>
                </a:solidFill>
                <a:latin typeface="Arial"/>
                <a:ea typeface="Arial"/>
                <a:cs typeface="Arial"/>
              </a:rPr>
              <a:t>с 300+ микросервисами</a:t>
            </a:r>
          </a:p>
        </p:txBody>
      </p:sp>
      <p:sp>
        <p:nvSpPr>
          <p:cNvPr id="7" name="Титульный акцент">
            <a:extLst xmlns:a="http://schemas.openxmlformats.org/drawingml/2006/main">
              <a:ext uri="{FF2B5EF4-FFF2-40B4-BE49-F238E27FC236}">
                <a16:creationId xmlns:a16="http://schemas.microsoft.com/office/drawing/2014/main" id="{D0A41A81-AA20-4760-AEF3-4EABF2892B48}"/>
              </a:ext>
            </a:extLst>
          </p:cNvPr>
          <p:cNvSpPr>
            <a:spLocks xmlns:a="http://schemas.openxmlformats.org/drawingml/2006/main" noGrp="1"/>
          </p:cNvSpPr>
          <p:nvPr/>
        </p:nvSpPr>
        <p:spPr>
          <a:xfrm xmlns:a="http://schemas.openxmlformats.org/drawingml/2006/main">
            <a:off x="762000" y="5305425"/>
            <a:ext cx="5905500" cy="38100"/>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Титульный акцент 2">
            <a:extLst xmlns:a="http://schemas.openxmlformats.org/drawingml/2006/main">
              <a:ext uri="{FF2B5EF4-FFF2-40B4-BE49-F238E27FC236}">
                <a16:creationId xmlns:a16="http://schemas.microsoft.com/office/drawing/2014/main" id="{B41E3B10-822D-46E2-A613-8C62F9C18400}"/>
              </a:ext>
            </a:extLst>
          </p:cNvPr>
          <p:cNvSpPr>
            <a:spLocks xmlns:a="http://schemas.openxmlformats.org/drawingml/2006/main" noGrp="1"/>
          </p:cNvSpPr>
          <p:nvPr/>
        </p:nvSpPr>
        <p:spPr>
          <a:xfrm xmlns:a="http://schemas.openxmlformats.org/drawingml/2006/main">
            <a:off x="6667500" y="5305425"/>
            <a:ext cx="1714500" cy="38100"/>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9" name="Подзаголовок">
            <a:extLst xmlns:a="http://schemas.openxmlformats.org/drawingml/2006/main">
              <a:ext uri="{FF2B5EF4-FFF2-40B4-BE49-F238E27FC236}">
                <a16:creationId xmlns:a16="http://schemas.microsoft.com/office/drawing/2014/main" id="{68186AF0-633C-4C45-8121-836CB94D071E}"/>
              </a:ext>
            </a:extLst>
          </p:cNvPr>
          <p:cNvSpPr>
            <a:spLocks xmlns:a="http://schemas.openxmlformats.org/drawingml/2006/main" noGrp="1"/>
          </p:cNvSpPr>
          <p:nvPr/>
        </p:nvSpPr>
        <p:spPr>
          <a:xfrm xmlns:a="http://schemas.openxmlformats.org/drawingml/2006/main">
            <a:off x="762000" y="5762625"/>
            <a:ext cx="121920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325" b="0">
                <a:solidFill>
                  <a:srgbClr val="A4B8C9"/>
                </a:solidFill>
                <a:latin typeface="Arial"/>
                <a:ea typeface="Arial"/>
                <a:cs typeface="Arial"/>
              </a:defRPr>
            </a:pPr>
            <a:r>
              <a:rPr sz="2325" b="0">
                <a:solidFill>
                  <a:srgbClr val="A4B8C9"/>
                </a:solidFill>
                <a:latin typeface="Arial"/>
                <a:ea typeface="Arial"/>
                <a:cs typeface="Arial"/>
              </a:rPr>
              <a:t>От короткого требования — к проверяемому плану изменений, связанному с документами, кодом и зависимостями системы.</a:t>
            </a:r>
          </a:p>
        </p:txBody>
      </p:sp>
      <p:sp>
        <p:nvSpPr>
          <p:cNvPr id="10" name="Темы выступления">
            <a:extLst xmlns:a="http://schemas.openxmlformats.org/drawingml/2006/main">
              <a:ext uri="{FF2B5EF4-FFF2-40B4-BE49-F238E27FC236}">
                <a16:creationId xmlns:a16="http://schemas.microsoft.com/office/drawing/2014/main" id="{17B4936F-1B7A-4757-8715-7EDD083A4C3A}"/>
              </a:ext>
            </a:extLst>
          </p:cNvPr>
          <p:cNvSpPr>
            <a:spLocks xmlns:a="http://schemas.openxmlformats.org/drawingml/2006/main" noGrp="1"/>
          </p:cNvSpPr>
          <p:nvPr/>
        </p:nvSpPr>
        <p:spPr>
          <a:xfrm xmlns:a="http://schemas.openxmlformats.org/drawingml/2006/main">
            <a:off x="762000" y="7305675"/>
            <a:ext cx="1219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проблема    /    решение    /    результат</a:t>
            </a:r>
          </a:p>
        </p:txBody>
      </p:sp>
    </p:spTree>
    <p:extLst>
      <p:ext uri="{BB962C8B-B14F-4D97-AF65-F5344CB8AC3E}">
        <p14:creationId xmlns:p14="http://schemas.microsoft.com/office/powerpoint/2010/main" val="545208169"/>
      </p:ext>
    </p:extLst>
  </p:cSld>
</p:sld>
</file>

<file path=ppt/slides/slide2.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33" name="Рамка слайда">
            <a:extLst xmlns:a="http://schemas.openxmlformats.org/drawingml/2006/main">
              <a:ext uri="{FF2B5EF4-FFF2-40B4-BE49-F238E27FC236}">
                <a16:creationId xmlns:a16="http://schemas.microsoft.com/office/drawing/2014/main" id="{5A80D373-311A-4C93-8FD8-08300F2521FD}"/>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2448C17D-7309-45EF-A2EB-E00C05CA5F83}"/>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E3F578CC-5E90-47A2-9528-A7743C4BE7D1}"/>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16490156-78D7-476F-810A-4955064559EC}"/>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02 / 27</a:t>
            </a:r>
          </a:p>
        </p:txBody>
      </p:sp>
      <p:sp>
        <p:nvSpPr>
          <p:cNvPr id="5" name="Надзаголовок">
            <a:extLst xmlns:a="http://schemas.openxmlformats.org/drawingml/2006/main">
              <a:ext uri="{FF2B5EF4-FFF2-40B4-BE49-F238E27FC236}">
                <a16:creationId xmlns:a16="http://schemas.microsoft.com/office/drawing/2014/main" id="{092DBF8C-29BD-4DFB-B274-4FF9372AE5F9}"/>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ИСХОДНЫЕ ДАННЫЕ ДЛЯ ПЛАНИРОВАНИЯ</a:t>
            </a:r>
          </a:p>
        </p:txBody>
      </p:sp>
      <p:sp>
        <p:nvSpPr>
          <p:cNvPr id="6" name="Заголовок">
            <a:extLst xmlns:a="http://schemas.openxmlformats.org/drawingml/2006/main">
              <a:ext uri="{FF2B5EF4-FFF2-40B4-BE49-F238E27FC236}">
                <a16:creationId xmlns:a16="http://schemas.microsoft.com/office/drawing/2014/main" id="{2378A691-375E-4168-B4B2-7C688C602D27}"/>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Анализ требований и текущего состояния</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BD73"/>
                </a:solidFill>
                <a:latin typeface="Arial"/>
                <a:ea typeface="Arial"/>
                <a:cs typeface="Arial"/>
              </a:rPr>
              <a:t>перед планированием изменений</a:t>
            </a:r>
          </a:p>
        </p:txBody>
      </p:sp>
      <p:sp>
        <p:nvSpPr>
          <p:cNvPr id="7" name="Переход 1">
            <a:extLst xmlns:a="http://schemas.openxmlformats.org/drawingml/2006/main">
              <a:ext uri="{FF2B5EF4-FFF2-40B4-BE49-F238E27FC236}">
                <a16:creationId xmlns:a16="http://schemas.microsoft.com/office/drawing/2014/main" id="{D07DED5A-471C-4A7B-B962-FEE978065717}"/>
              </a:ext>
            </a:extLst>
          </p:cNvPr>
          <p:cNvSpPr>
            <a:spLocks xmlns:a="http://schemas.openxmlformats.org/drawingml/2006/main" noGrp="1"/>
          </p:cNvSpPr>
          <p:nvPr/>
        </p:nvSpPr>
        <p:spPr>
          <a:xfrm xmlns:a="http://schemas.openxmlformats.org/drawingml/2006/main">
            <a:off x="316039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8" name="Переход 2">
            <a:extLst xmlns:a="http://schemas.openxmlformats.org/drawingml/2006/main">
              <a:ext uri="{FF2B5EF4-FFF2-40B4-BE49-F238E27FC236}">
                <a16:creationId xmlns:a16="http://schemas.microsoft.com/office/drawing/2014/main" id="{14E4FC90-6360-41D0-8251-26F03D55423B}"/>
              </a:ext>
            </a:extLst>
          </p:cNvPr>
          <p:cNvSpPr>
            <a:spLocks xmlns:a="http://schemas.openxmlformats.org/drawingml/2006/main" noGrp="1"/>
          </p:cNvSpPr>
          <p:nvPr/>
        </p:nvSpPr>
        <p:spPr>
          <a:xfrm xmlns:a="http://schemas.openxmlformats.org/drawingml/2006/main">
            <a:off x="600646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9" name="Переход 3">
            <a:extLst xmlns:a="http://schemas.openxmlformats.org/drawingml/2006/main">
              <a:ext uri="{FF2B5EF4-FFF2-40B4-BE49-F238E27FC236}">
                <a16:creationId xmlns:a16="http://schemas.microsoft.com/office/drawing/2014/main" id="{4BF56F48-F8B4-45ED-8207-BAED19324367}"/>
              </a:ext>
            </a:extLst>
          </p:cNvPr>
          <p:cNvSpPr>
            <a:spLocks xmlns:a="http://schemas.openxmlformats.org/drawingml/2006/main" noGrp="1"/>
          </p:cNvSpPr>
          <p:nvPr/>
        </p:nvSpPr>
        <p:spPr>
          <a:xfrm xmlns:a="http://schemas.openxmlformats.org/drawingml/2006/main">
            <a:off x="885253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10" name="Переход 4">
            <a:extLst xmlns:a="http://schemas.openxmlformats.org/drawingml/2006/main">
              <a:ext uri="{FF2B5EF4-FFF2-40B4-BE49-F238E27FC236}">
                <a16:creationId xmlns:a16="http://schemas.microsoft.com/office/drawing/2014/main" id="{DA8E9B7A-BF18-45DA-8625-176B4875D711}"/>
              </a:ext>
            </a:extLst>
          </p:cNvPr>
          <p:cNvSpPr>
            <a:spLocks xmlns:a="http://schemas.openxmlformats.org/drawingml/2006/main" noGrp="1"/>
          </p:cNvSpPr>
          <p:nvPr/>
        </p:nvSpPr>
        <p:spPr>
          <a:xfrm xmlns:a="http://schemas.openxmlformats.org/drawingml/2006/main">
            <a:off x="1169860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11" name="Шаг 1">
            <a:extLst xmlns:a="http://schemas.openxmlformats.org/drawingml/2006/main">
              <a:ext uri="{FF2B5EF4-FFF2-40B4-BE49-F238E27FC236}">
                <a16:creationId xmlns:a16="http://schemas.microsoft.com/office/drawing/2014/main" id="{70E70B4C-DC7C-4613-A012-282DAA783530}"/>
              </a:ext>
            </a:extLst>
          </p:cNvPr>
          <p:cNvSpPr>
            <a:spLocks xmlns:a="http://schemas.openxmlformats.org/drawingml/2006/main" noGrp="1"/>
          </p:cNvSpPr>
          <p:nvPr/>
        </p:nvSpPr>
        <p:spPr>
          <a:xfrm xmlns:a="http://schemas.openxmlformats.org/drawingml/2006/main">
            <a:off x="76200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12" name="Акцент шага 1">
            <a:extLst xmlns:a="http://schemas.openxmlformats.org/drawingml/2006/main">
              <a:ext uri="{FF2B5EF4-FFF2-40B4-BE49-F238E27FC236}">
                <a16:creationId xmlns:a16="http://schemas.microsoft.com/office/drawing/2014/main" id="{8B3C2CDF-D5C1-46A8-94AA-36F0EFEED6CE}"/>
              </a:ext>
            </a:extLst>
          </p:cNvPr>
          <p:cNvSpPr>
            <a:spLocks xmlns:a="http://schemas.openxmlformats.org/drawingml/2006/main" noGrp="1"/>
          </p:cNvSpPr>
          <p:nvPr/>
        </p:nvSpPr>
        <p:spPr>
          <a:xfrm xmlns:a="http://schemas.openxmlformats.org/drawingml/2006/main">
            <a:off x="990600" y="3333750"/>
            <a:ext cx="187452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3" name="Название шага 1">
            <a:extLst xmlns:a="http://schemas.openxmlformats.org/drawingml/2006/main">
              <a:ext uri="{FF2B5EF4-FFF2-40B4-BE49-F238E27FC236}">
                <a16:creationId xmlns:a16="http://schemas.microsoft.com/office/drawing/2014/main" id="{042E3686-B4A4-4097-9AC3-36CF69736AE4}"/>
              </a:ext>
            </a:extLst>
          </p:cNvPr>
          <p:cNvSpPr>
            <a:spLocks xmlns:a="http://schemas.openxmlformats.org/drawingml/2006/main" noGrp="1"/>
          </p:cNvSpPr>
          <p:nvPr/>
        </p:nvSpPr>
        <p:spPr>
          <a:xfrm xmlns:a="http://schemas.openxmlformats.org/drawingml/2006/main">
            <a:off x="85725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Задача</a:t>
            </a:r>
          </a:p>
        </p:txBody>
      </p:sp>
      <p:sp>
        <p:nvSpPr>
          <p:cNvPr id="14" name="Описание шага 1">
            <a:extLst xmlns:a="http://schemas.openxmlformats.org/drawingml/2006/main">
              <a:ext uri="{FF2B5EF4-FFF2-40B4-BE49-F238E27FC236}">
                <a16:creationId xmlns:a16="http://schemas.microsoft.com/office/drawing/2014/main" id="{3C0439BA-E715-49DA-8067-25450C83991E}"/>
              </a:ext>
            </a:extLst>
          </p:cNvPr>
          <p:cNvSpPr>
            <a:spLocks xmlns:a="http://schemas.openxmlformats.org/drawingml/2006/main" noGrp="1"/>
          </p:cNvSpPr>
          <p:nvPr/>
        </p:nvSpPr>
        <p:spPr>
          <a:xfrm xmlns:a="http://schemas.openxmlformats.org/drawingml/2006/main">
            <a:off x="92392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что должно измениться для пользователя</a:t>
            </a:r>
          </a:p>
        </p:txBody>
      </p:sp>
      <p:sp>
        <p:nvSpPr>
          <p:cNvPr id="15" name="Шаг 2">
            <a:extLst xmlns:a="http://schemas.openxmlformats.org/drawingml/2006/main">
              <a:ext uri="{FF2B5EF4-FFF2-40B4-BE49-F238E27FC236}">
                <a16:creationId xmlns:a16="http://schemas.microsoft.com/office/drawing/2014/main" id="{D7E900D0-6BC5-462B-8444-C8CEE51E865F}"/>
              </a:ext>
            </a:extLst>
          </p:cNvPr>
          <p:cNvSpPr>
            <a:spLocks xmlns:a="http://schemas.openxmlformats.org/drawingml/2006/main" noGrp="1"/>
          </p:cNvSpPr>
          <p:nvPr/>
        </p:nvSpPr>
        <p:spPr>
          <a:xfrm xmlns:a="http://schemas.openxmlformats.org/drawingml/2006/main">
            <a:off x="360807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16" name="Акцент шага 2">
            <a:extLst xmlns:a="http://schemas.openxmlformats.org/drawingml/2006/main">
              <a:ext uri="{FF2B5EF4-FFF2-40B4-BE49-F238E27FC236}">
                <a16:creationId xmlns:a16="http://schemas.microsoft.com/office/drawing/2014/main" id="{DC813766-98BB-4F9F-82A1-A3B9DBE16699}"/>
              </a:ext>
            </a:extLst>
          </p:cNvPr>
          <p:cNvSpPr>
            <a:spLocks xmlns:a="http://schemas.openxmlformats.org/drawingml/2006/main" noGrp="1"/>
          </p:cNvSpPr>
          <p:nvPr/>
        </p:nvSpPr>
        <p:spPr>
          <a:xfrm xmlns:a="http://schemas.openxmlformats.org/drawingml/2006/main">
            <a:off x="3836670" y="3333750"/>
            <a:ext cx="187452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7" name="Название шага 2">
            <a:extLst xmlns:a="http://schemas.openxmlformats.org/drawingml/2006/main">
              <a:ext uri="{FF2B5EF4-FFF2-40B4-BE49-F238E27FC236}">
                <a16:creationId xmlns:a16="http://schemas.microsoft.com/office/drawing/2014/main" id="{4AC13461-D8FC-4356-9F32-8754D8F619FC}"/>
              </a:ext>
            </a:extLst>
          </p:cNvPr>
          <p:cNvSpPr>
            <a:spLocks xmlns:a="http://schemas.openxmlformats.org/drawingml/2006/main" noGrp="1"/>
          </p:cNvSpPr>
          <p:nvPr/>
        </p:nvSpPr>
        <p:spPr>
          <a:xfrm xmlns:a="http://schemas.openxmlformats.org/drawingml/2006/main">
            <a:off x="370332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Кто</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отвечает</a:t>
            </a:r>
          </a:p>
        </p:txBody>
      </p:sp>
      <p:sp>
        <p:nvSpPr>
          <p:cNvPr id="18" name="Описание шага 2">
            <a:extLst xmlns:a="http://schemas.openxmlformats.org/drawingml/2006/main">
              <a:ext uri="{FF2B5EF4-FFF2-40B4-BE49-F238E27FC236}">
                <a16:creationId xmlns:a16="http://schemas.microsoft.com/office/drawing/2014/main" id="{901FA6A9-AFFA-4501-9600-FD4D57C4F059}"/>
              </a:ext>
            </a:extLst>
          </p:cNvPr>
          <p:cNvSpPr>
            <a:spLocks xmlns:a="http://schemas.openxmlformats.org/drawingml/2006/main" noGrp="1"/>
          </p:cNvSpPr>
          <p:nvPr/>
        </p:nvSpPr>
        <p:spPr>
          <a:xfrm xmlns:a="http://schemas.openxmlformats.org/drawingml/2006/main">
            <a:off x="376999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где начинается процесс и кто его меняет</a:t>
            </a:r>
          </a:p>
        </p:txBody>
      </p:sp>
      <p:sp>
        <p:nvSpPr>
          <p:cNvPr id="19" name="Шаг 3">
            <a:extLst xmlns:a="http://schemas.openxmlformats.org/drawingml/2006/main">
              <a:ext uri="{FF2B5EF4-FFF2-40B4-BE49-F238E27FC236}">
                <a16:creationId xmlns:a16="http://schemas.microsoft.com/office/drawing/2014/main" id="{9CA098F8-1ECC-4AFF-A46C-A4FE814E8800}"/>
              </a:ext>
            </a:extLst>
          </p:cNvPr>
          <p:cNvSpPr>
            <a:spLocks xmlns:a="http://schemas.openxmlformats.org/drawingml/2006/main" noGrp="1"/>
          </p:cNvSpPr>
          <p:nvPr/>
        </p:nvSpPr>
        <p:spPr>
          <a:xfrm xmlns:a="http://schemas.openxmlformats.org/drawingml/2006/main">
            <a:off x="645414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0" name="Акцент шага 3">
            <a:extLst xmlns:a="http://schemas.openxmlformats.org/drawingml/2006/main">
              <a:ext uri="{FF2B5EF4-FFF2-40B4-BE49-F238E27FC236}">
                <a16:creationId xmlns:a16="http://schemas.microsoft.com/office/drawing/2014/main" id="{EA20AB86-1B5B-4AFE-A90B-7255BF25A2A4}"/>
              </a:ext>
            </a:extLst>
          </p:cNvPr>
          <p:cNvSpPr>
            <a:spLocks xmlns:a="http://schemas.openxmlformats.org/drawingml/2006/main" noGrp="1"/>
          </p:cNvSpPr>
          <p:nvPr/>
        </p:nvSpPr>
        <p:spPr>
          <a:xfrm xmlns:a="http://schemas.openxmlformats.org/drawingml/2006/main">
            <a:off x="6682740" y="3333750"/>
            <a:ext cx="187452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1" name="Название шага 3">
            <a:extLst xmlns:a="http://schemas.openxmlformats.org/drawingml/2006/main">
              <a:ext uri="{FF2B5EF4-FFF2-40B4-BE49-F238E27FC236}">
                <a16:creationId xmlns:a16="http://schemas.microsoft.com/office/drawing/2014/main" id="{A28C6251-9216-4F54-BD27-7F469025F891}"/>
              </a:ext>
            </a:extLst>
          </p:cNvPr>
          <p:cNvSpPr>
            <a:spLocks xmlns:a="http://schemas.openxmlformats.org/drawingml/2006/main" noGrp="1"/>
          </p:cNvSpPr>
          <p:nvPr/>
        </p:nvSpPr>
        <p:spPr>
          <a:xfrm xmlns:a="http://schemas.openxmlformats.org/drawingml/2006/main">
            <a:off x="654939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Что уже</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работает</a:t>
            </a:r>
          </a:p>
        </p:txBody>
      </p:sp>
      <p:sp>
        <p:nvSpPr>
          <p:cNvPr id="22" name="Описание шага 3">
            <a:extLst xmlns:a="http://schemas.openxmlformats.org/drawingml/2006/main">
              <a:ext uri="{FF2B5EF4-FFF2-40B4-BE49-F238E27FC236}">
                <a16:creationId xmlns:a16="http://schemas.microsoft.com/office/drawing/2014/main" id="{0652C023-5F6A-47D1-9994-71F16CF74E74}"/>
              </a:ext>
            </a:extLst>
          </p:cNvPr>
          <p:cNvSpPr>
            <a:spLocks xmlns:a="http://schemas.openxmlformats.org/drawingml/2006/main" noGrp="1"/>
          </p:cNvSpPr>
          <p:nvPr/>
        </p:nvSpPr>
        <p:spPr>
          <a:xfrm xmlns:a="http://schemas.openxmlformats.org/drawingml/2006/main">
            <a:off x="661606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правила · код · спецификации · ADR</a:t>
            </a:r>
          </a:p>
        </p:txBody>
      </p:sp>
      <p:sp>
        <p:nvSpPr>
          <p:cNvPr id="23" name="Шаг 4">
            <a:extLst xmlns:a="http://schemas.openxmlformats.org/drawingml/2006/main">
              <a:ext uri="{FF2B5EF4-FFF2-40B4-BE49-F238E27FC236}">
                <a16:creationId xmlns:a16="http://schemas.microsoft.com/office/drawing/2014/main" id="{AB242E1B-9049-4E82-9EFD-8E22769DEBDA}"/>
              </a:ext>
            </a:extLst>
          </p:cNvPr>
          <p:cNvSpPr>
            <a:spLocks xmlns:a="http://schemas.openxmlformats.org/drawingml/2006/main" noGrp="1"/>
          </p:cNvSpPr>
          <p:nvPr/>
        </p:nvSpPr>
        <p:spPr>
          <a:xfrm xmlns:a="http://schemas.openxmlformats.org/drawingml/2006/main">
            <a:off x="930021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4" name="Акцент шага 4">
            <a:extLst xmlns:a="http://schemas.openxmlformats.org/drawingml/2006/main">
              <a:ext uri="{FF2B5EF4-FFF2-40B4-BE49-F238E27FC236}">
                <a16:creationId xmlns:a16="http://schemas.microsoft.com/office/drawing/2014/main" id="{97C47780-825D-418A-93AE-39694BBEE0D0}"/>
              </a:ext>
            </a:extLst>
          </p:cNvPr>
          <p:cNvSpPr>
            <a:spLocks xmlns:a="http://schemas.openxmlformats.org/drawingml/2006/main" noGrp="1"/>
          </p:cNvSpPr>
          <p:nvPr/>
        </p:nvSpPr>
        <p:spPr>
          <a:xfrm xmlns:a="http://schemas.openxmlformats.org/drawingml/2006/main">
            <a:off x="9528810" y="3333750"/>
            <a:ext cx="187452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5" name="Название шага 4">
            <a:extLst xmlns:a="http://schemas.openxmlformats.org/drawingml/2006/main">
              <a:ext uri="{FF2B5EF4-FFF2-40B4-BE49-F238E27FC236}">
                <a16:creationId xmlns:a16="http://schemas.microsoft.com/office/drawing/2014/main" id="{005C5950-140B-425C-9684-5FB49C3549FC}"/>
              </a:ext>
            </a:extLst>
          </p:cNvPr>
          <p:cNvSpPr>
            <a:spLocks xmlns:a="http://schemas.openxmlformats.org/drawingml/2006/main" noGrp="1"/>
          </p:cNvSpPr>
          <p:nvPr/>
        </p:nvSpPr>
        <p:spPr>
          <a:xfrm xmlns:a="http://schemas.openxmlformats.org/drawingml/2006/main">
            <a:off x="939546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Кого</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заденет</a:t>
            </a:r>
          </a:p>
        </p:txBody>
      </p:sp>
      <p:sp>
        <p:nvSpPr>
          <p:cNvPr id="26" name="Описание шага 4">
            <a:extLst xmlns:a="http://schemas.openxmlformats.org/drawingml/2006/main">
              <a:ext uri="{FF2B5EF4-FFF2-40B4-BE49-F238E27FC236}">
                <a16:creationId xmlns:a16="http://schemas.microsoft.com/office/drawing/2014/main" id="{A3682E07-10F4-4011-8F95-2866E4B96255}"/>
              </a:ext>
            </a:extLst>
          </p:cNvPr>
          <p:cNvSpPr>
            <a:spLocks xmlns:a="http://schemas.openxmlformats.org/drawingml/2006/main" noGrp="1"/>
          </p:cNvSpPr>
          <p:nvPr/>
        </p:nvSpPr>
        <p:spPr>
          <a:xfrm xmlns:a="http://schemas.openxmlformats.org/drawingml/2006/main">
            <a:off x="946213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API · Kafka · данные · другие команды</a:t>
            </a:r>
          </a:p>
        </p:txBody>
      </p:sp>
      <p:sp>
        <p:nvSpPr>
          <p:cNvPr id="27" name="Шаг 5">
            <a:extLst xmlns:a="http://schemas.openxmlformats.org/drawingml/2006/main">
              <a:ext uri="{FF2B5EF4-FFF2-40B4-BE49-F238E27FC236}">
                <a16:creationId xmlns:a16="http://schemas.microsoft.com/office/drawing/2014/main" id="{3ABF50D6-FB7C-44EC-BD39-0EA68E5D770A}"/>
              </a:ext>
            </a:extLst>
          </p:cNvPr>
          <p:cNvSpPr>
            <a:spLocks xmlns:a="http://schemas.openxmlformats.org/drawingml/2006/main" noGrp="1"/>
          </p:cNvSpPr>
          <p:nvPr/>
        </p:nvSpPr>
        <p:spPr>
          <a:xfrm xmlns:a="http://schemas.openxmlformats.org/drawingml/2006/main">
            <a:off x="1214628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8" name="Акцент шага 5">
            <a:extLst xmlns:a="http://schemas.openxmlformats.org/drawingml/2006/main">
              <a:ext uri="{FF2B5EF4-FFF2-40B4-BE49-F238E27FC236}">
                <a16:creationId xmlns:a16="http://schemas.microsoft.com/office/drawing/2014/main" id="{ACF42AC6-339B-4FEE-A216-BE56218544DF}"/>
              </a:ext>
            </a:extLst>
          </p:cNvPr>
          <p:cNvSpPr>
            <a:spLocks xmlns:a="http://schemas.openxmlformats.org/drawingml/2006/main" noGrp="1"/>
          </p:cNvSpPr>
          <p:nvPr/>
        </p:nvSpPr>
        <p:spPr>
          <a:xfrm xmlns:a="http://schemas.openxmlformats.org/drawingml/2006/main">
            <a:off x="12374880" y="3333750"/>
            <a:ext cx="187452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9" name="Название шага 5">
            <a:extLst xmlns:a="http://schemas.openxmlformats.org/drawingml/2006/main">
              <a:ext uri="{FF2B5EF4-FFF2-40B4-BE49-F238E27FC236}">
                <a16:creationId xmlns:a16="http://schemas.microsoft.com/office/drawing/2014/main" id="{01C7EF9A-D608-447E-99EE-11F99E6EF271}"/>
              </a:ext>
            </a:extLst>
          </p:cNvPr>
          <p:cNvSpPr>
            <a:spLocks xmlns:a="http://schemas.openxmlformats.org/drawingml/2006/main" noGrp="1"/>
          </p:cNvSpPr>
          <p:nvPr/>
        </p:nvSpPr>
        <p:spPr>
          <a:xfrm xmlns:a="http://schemas.openxmlformats.org/drawingml/2006/main">
            <a:off x="1224153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Что делать</a:t>
            </a:r>
          </a:p>
        </p:txBody>
      </p:sp>
      <p:sp>
        <p:nvSpPr>
          <p:cNvPr id="30" name="Описание шага 5">
            <a:extLst xmlns:a="http://schemas.openxmlformats.org/drawingml/2006/main">
              <a:ext uri="{FF2B5EF4-FFF2-40B4-BE49-F238E27FC236}">
                <a16:creationId xmlns:a16="http://schemas.microsoft.com/office/drawing/2014/main" id="{32F54C1C-95DC-4512-A5D8-20CB66F35F19}"/>
              </a:ext>
            </a:extLst>
          </p:cNvPr>
          <p:cNvSpPr>
            <a:spLocks xmlns:a="http://schemas.openxmlformats.org/drawingml/2006/main" noGrp="1"/>
          </p:cNvSpPr>
          <p:nvPr/>
        </p:nvSpPr>
        <p:spPr>
          <a:xfrm xmlns:a="http://schemas.openxmlformats.org/drawingml/2006/main">
            <a:off x="1230820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сервисы · тесты · порядок изменений</a:t>
            </a:r>
          </a:p>
        </p:txBody>
      </p:sp>
      <p:sp>
        <p:nvSpPr>
          <p:cNvPr id="31" name="Акцент вывода">
            <a:extLst xmlns:a="http://schemas.openxmlformats.org/drawingml/2006/main">
              <a:ext uri="{FF2B5EF4-FFF2-40B4-BE49-F238E27FC236}">
                <a16:creationId xmlns:a16="http://schemas.microsoft.com/office/drawing/2014/main" id="{15E0D15E-D36E-4493-BB8F-4822CB36E79A}"/>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32" name="Ключевой вывод">
            <a:extLst xmlns:a="http://schemas.openxmlformats.org/drawingml/2006/main">
              <a:ext uri="{FF2B5EF4-FFF2-40B4-BE49-F238E27FC236}">
                <a16:creationId xmlns:a16="http://schemas.microsoft.com/office/drawing/2014/main" id="{4E34762D-1207-4F85-8906-87F8BC5317BE}"/>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1">
                <a:solidFill>
                  <a:srgbClr val="F4F8FB"/>
                </a:solidFill>
                <a:latin typeface="Arial"/>
                <a:ea typeface="Arial"/>
                <a:cs typeface="Arial"/>
              </a:rPr>
              <a:t>Код писать пока рано:</a:t>
            </a:r>
            <a:r>
              <a:rPr sz="1800" b="0">
                <a:solidFill>
                  <a:srgbClr val="A4B8C9"/>
                </a:solidFill>
                <a:latin typeface="Arial"/>
                <a:ea typeface="Arial"/>
                <a:cs typeface="Arial"/>
              </a:rPr>
              <a:t> сначала надо подтвердить текущее поведение, владельцев, контракты и границы изменения.</a:t>
            </a:r>
          </a:p>
        </p:txBody>
      </p:sp>
    </p:spTree>
    <p:extLst>
      <p:ext uri="{BB962C8B-B14F-4D97-AF65-F5344CB8AC3E}">
        <p14:creationId xmlns:p14="http://schemas.microsoft.com/office/powerpoint/2010/main" val="939164047"/>
      </p:ext>
    </p:extLst>
  </p:cSld>
</p:sld>
</file>

<file path=ppt/slides/slide3.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0" name="Рамка слайда">
            <a:extLst xmlns:a="http://schemas.openxmlformats.org/drawingml/2006/main">
              <a:ext uri="{FF2B5EF4-FFF2-40B4-BE49-F238E27FC236}">
                <a16:creationId xmlns:a16="http://schemas.microsoft.com/office/drawing/2014/main" id="{9C35BAFF-A0B4-499D-848F-3F000CA7E91C}"/>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893B94A1-66BF-484E-9887-D20B28553367}"/>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25362556-9B0B-4DEF-A217-19CD914B081B}"/>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6EF41192-B262-4873-91E7-F397CC8EDFEE}"/>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03 / 27</a:t>
            </a:r>
          </a:p>
        </p:txBody>
      </p:sp>
      <p:sp>
        <p:nvSpPr>
          <p:cNvPr id="5" name="Надзаголовок">
            <a:extLst xmlns:a="http://schemas.openxmlformats.org/drawingml/2006/main">
              <a:ext uri="{FF2B5EF4-FFF2-40B4-BE49-F238E27FC236}">
                <a16:creationId xmlns:a16="http://schemas.microsoft.com/office/drawing/2014/main" id="{E5CAB2BE-7D52-4151-AB1D-ADF556A5CF0A}"/>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МАСШТАБ И ЗАВИСИМОСТИ СИСТЕМЫ</a:t>
            </a:r>
          </a:p>
        </p:txBody>
      </p:sp>
      <p:sp>
        <p:nvSpPr>
          <p:cNvPr id="6" name="Заголовок">
            <a:extLst xmlns:a="http://schemas.openxmlformats.org/drawingml/2006/main">
              <a:ext uri="{FF2B5EF4-FFF2-40B4-BE49-F238E27FC236}">
                <a16:creationId xmlns:a16="http://schemas.microsoft.com/office/drawing/2014/main" id="{35110B8E-E49F-41F0-B452-CCD765DA11F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Планирование изменений</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7C8B"/>
                </a:solidFill>
                <a:latin typeface="Arial"/>
                <a:ea typeface="Arial"/>
                <a:cs typeface="Arial"/>
              </a:rPr>
              <a:t>в системе из 300+ микросервисов</a:t>
            </a:r>
          </a:p>
        </p:txBody>
      </p:sp>
      <p:sp>
        <p:nvSpPr>
          <p:cNvPr id="7" name="Масштаб">
            <a:extLst xmlns:a="http://schemas.openxmlformats.org/drawingml/2006/main">
              <a:ext uri="{FF2B5EF4-FFF2-40B4-BE49-F238E27FC236}">
                <a16:creationId xmlns:a16="http://schemas.microsoft.com/office/drawing/2014/main" id="{6CB2D882-ED58-4217-BCF1-5EDCD896BFCA}"/>
              </a:ext>
            </a:extLst>
          </p:cNvPr>
          <p:cNvSpPr>
            <a:spLocks xmlns:a="http://schemas.openxmlformats.org/drawingml/2006/main" noGrp="1"/>
          </p:cNvSpPr>
          <p:nvPr/>
        </p:nvSpPr>
        <p:spPr>
          <a:xfrm xmlns:a="http://schemas.openxmlformats.org/drawingml/2006/main">
            <a:off x="762000" y="3448050"/>
            <a:ext cx="4619625"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2450" b="1">
                <a:solidFill>
                  <a:srgbClr val="54D7FF"/>
                </a:solidFill>
                <a:latin typeface="Arial"/>
                <a:ea typeface="Arial"/>
                <a:cs typeface="Arial"/>
              </a:defRPr>
            </a:pPr>
            <a:r>
              <a:rPr sz="12450" b="1">
                <a:solidFill>
                  <a:srgbClr val="54D7FF"/>
                </a:solidFill>
                <a:latin typeface="Arial"/>
                <a:ea typeface="Arial"/>
                <a:cs typeface="Arial"/>
              </a:rPr>
              <a:t>300+</a:t>
            </a:r>
          </a:p>
        </p:txBody>
      </p:sp>
      <p:sp>
        <p:nvSpPr>
          <p:cNvPr id="8" name="Единицы масштаба">
            <a:extLst xmlns:a="http://schemas.openxmlformats.org/drawingml/2006/main">
              <a:ext uri="{FF2B5EF4-FFF2-40B4-BE49-F238E27FC236}">
                <a16:creationId xmlns:a16="http://schemas.microsoft.com/office/drawing/2014/main" id="{11C85B36-5DCD-4DA2-BC2E-3A1259CB04AC}"/>
              </a:ext>
            </a:extLst>
          </p:cNvPr>
          <p:cNvSpPr>
            <a:spLocks xmlns:a="http://schemas.openxmlformats.org/drawingml/2006/main" noGrp="1"/>
          </p:cNvSpPr>
          <p:nvPr/>
        </p:nvSpPr>
        <p:spPr>
          <a:xfrm xmlns:a="http://schemas.openxmlformats.org/drawingml/2006/main">
            <a:off x="838200" y="5324475"/>
            <a:ext cx="41338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0">
                <a:solidFill>
                  <a:srgbClr val="A4B8C9"/>
                </a:solidFill>
                <a:latin typeface="Arial"/>
                <a:ea typeface="Arial"/>
                <a:cs typeface="Arial"/>
              </a:defRPr>
            </a:pPr>
            <a:r>
              <a:rPr sz="2250" b="0">
                <a:solidFill>
                  <a:srgbClr val="A4B8C9"/>
                </a:solidFill>
                <a:latin typeface="Arial"/>
                <a:ea typeface="Arial"/>
                <a:cs typeface="Arial"/>
              </a:rPr>
              <a:t>сервисов, репозиториев</a:t>
            </a:r>
          </a:p>
          <a:p xmlns:a="http://schemas.openxmlformats.org/drawingml/2006/main">
            <a:pPr algn="l">
              <a:spcBef>
                <a:spcPts val="0"/>
              </a:spcBef>
              <a:spcAft>
                <a:spcPts val="0"/>
              </a:spcAft>
              <a:buNone/>
              <a:defRPr sz="2250" b="0">
                <a:solidFill>
                  <a:srgbClr val="A4B8C9"/>
                </a:solidFill>
                <a:latin typeface="Arial"/>
                <a:ea typeface="Arial"/>
                <a:cs typeface="Arial"/>
              </a:defRPr>
            </a:pPr>
            <a:r>
              <a:rPr sz="2250" b="0">
                <a:solidFill>
                  <a:srgbClr val="A4B8C9"/>
                </a:solidFill>
                <a:latin typeface="Arial"/>
                <a:ea typeface="Arial"/>
                <a:cs typeface="Arial"/>
              </a:rPr>
              <a:t>и контекстов команд</a:t>
            </a:r>
          </a:p>
        </p:txBody>
      </p:sp>
      <p:sp>
        <p:nvSpPr>
          <p:cNvPr id="9" name="Акцент границы 0">
            <a:extLst xmlns:a="http://schemas.openxmlformats.org/drawingml/2006/main">
              <a:ext uri="{FF2B5EF4-FFF2-40B4-BE49-F238E27FC236}">
                <a16:creationId xmlns:a16="http://schemas.microsoft.com/office/drawing/2014/main" id="{84655B5C-B6CE-43D5-A111-BD03C3C15EFE}"/>
              </a:ext>
            </a:extLst>
          </p:cNvPr>
          <p:cNvSpPr>
            <a:spLocks xmlns:a="http://schemas.openxmlformats.org/drawingml/2006/main" noGrp="1"/>
          </p:cNvSpPr>
          <p:nvPr/>
        </p:nvSpPr>
        <p:spPr>
          <a:xfrm xmlns:a="http://schemas.openxmlformats.org/drawingml/2006/main">
            <a:off x="5705475" y="3219450"/>
            <a:ext cx="38100" cy="1171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0" name="Граница 0">
            <a:extLst xmlns:a="http://schemas.openxmlformats.org/drawingml/2006/main">
              <a:ext uri="{FF2B5EF4-FFF2-40B4-BE49-F238E27FC236}">
                <a16:creationId xmlns:a16="http://schemas.microsoft.com/office/drawing/2014/main" id="{AEC0EC88-0626-430E-ABE2-613BA1A0F4C8}"/>
              </a:ext>
            </a:extLst>
          </p:cNvPr>
          <p:cNvSpPr>
            <a:spLocks xmlns:a="http://schemas.openxmlformats.org/drawingml/2006/main" noGrp="1"/>
          </p:cNvSpPr>
          <p:nvPr/>
        </p:nvSpPr>
        <p:spPr>
          <a:xfrm xmlns:a="http://schemas.openxmlformats.org/drawingml/2006/main">
            <a:off x="5953125" y="3248025"/>
            <a:ext cx="8258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У сервисов разные владельцы и релизы</a:t>
            </a:r>
          </a:p>
        </p:txBody>
      </p:sp>
      <p:sp>
        <p:nvSpPr>
          <p:cNvPr id="11" name="Последствие 0">
            <a:extLst xmlns:a="http://schemas.openxmlformats.org/drawingml/2006/main">
              <a:ext uri="{FF2B5EF4-FFF2-40B4-BE49-F238E27FC236}">
                <a16:creationId xmlns:a16="http://schemas.microsoft.com/office/drawing/2014/main" id="{BE65B7B1-9A5E-4687-83C9-598B377C4241}"/>
              </a:ext>
            </a:extLst>
          </p:cNvPr>
          <p:cNvSpPr>
            <a:spLocks xmlns:a="http://schemas.openxmlformats.org/drawingml/2006/main" noGrp="1"/>
          </p:cNvSpPr>
          <p:nvPr/>
        </p:nvSpPr>
        <p:spPr>
          <a:xfrm xmlns:a="http://schemas.openxmlformats.org/drawingml/2006/main">
            <a:off x="5953125" y="3724275"/>
            <a:ext cx="82486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Одна команда не может за другую принять решение, изменить контракт или выпустить сервис.</a:t>
            </a:r>
          </a:p>
        </p:txBody>
      </p:sp>
      <p:sp>
        <p:nvSpPr>
          <p:cNvPr id="12" name="Разделитель 0">
            <a:extLst xmlns:a="http://schemas.openxmlformats.org/drawingml/2006/main">
              <a:ext uri="{FF2B5EF4-FFF2-40B4-BE49-F238E27FC236}">
                <a16:creationId xmlns:a16="http://schemas.microsoft.com/office/drawing/2014/main" id="{F46C7C48-A183-4335-B644-78628CB95506}"/>
              </a:ext>
            </a:extLst>
          </p:cNvPr>
          <p:cNvSpPr>
            <a:spLocks xmlns:a="http://schemas.openxmlformats.org/drawingml/2006/main" noGrp="1"/>
          </p:cNvSpPr>
          <p:nvPr/>
        </p:nvSpPr>
        <p:spPr>
          <a:xfrm xmlns:a="http://schemas.openxmlformats.org/drawingml/2006/main">
            <a:off x="5953125" y="4486275"/>
            <a:ext cx="824865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3" name="Акцент границы 1">
            <a:extLst xmlns:a="http://schemas.openxmlformats.org/drawingml/2006/main">
              <a:ext uri="{FF2B5EF4-FFF2-40B4-BE49-F238E27FC236}">
                <a16:creationId xmlns:a16="http://schemas.microsoft.com/office/drawing/2014/main" id="{7DE35B8C-E488-4F8F-9B6F-A517EE6DEFF5}"/>
              </a:ext>
            </a:extLst>
          </p:cNvPr>
          <p:cNvSpPr>
            <a:spLocks xmlns:a="http://schemas.openxmlformats.org/drawingml/2006/main" noGrp="1"/>
          </p:cNvSpPr>
          <p:nvPr/>
        </p:nvSpPr>
        <p:spPr>
          <a:xfrm xmlns:a="http://schemas.openxmlformats.org/drawingml/2006/main">
            <a:off x="5705475" y="4600575"/>
            <a:ext cx="38100" cy="1171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4" name="Граница 1">
            <a:extLst xmlns:a="http://schemas.openxmlformats.org/drawingml/2006/main">
              <a:ext uri="{FF2B5EF4-FFF2-40B4-BE49-F238E27FC236}">
                <a16:creationId xmlns:a16="http://schemas.microsoft.com/office/drawing/2014/main" id="{32C70ECF-409B-49FE-ABCF-96BA4EF8E86D}"/>
              </a:ext>
            </a:extLst>
          </p:cNvPr>
          <p:cNvSpPr>
            <a:spLocks xmlns:a="http://schemas.openxmlformats.org/drawingml/2006/main" noGrp="1"/>
          </p:cNvSpPr>
          <p:nvPr/>
        </p:nvSpPr>
        <p:spPr>
          <a:xfrm xmlns:a="http://schemas.openxmlformats.org/drawingml/2006/main">
            <a:off x="5953125" y="4629150"/>
            <a:ext cx="8258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Границы проходят не только по коду</a:t>
            </a:r>
          </a:p>
        </p:txBody>
      </p:sp>
      <p:sp>
        <p:nvSpPr>
          <p:cNvPr id="15" name="Последствие 1">
            <a:extLst xmlns:a="http://schemas.openxmlformats.org/drawingml/2006/main">
              <a:ext uri="{FF2B5EF4-FFF2-40B4-BE49-F238E27FC236}">
                <a16:creationId xmlns:a16="http://schemas.microsoft.com/office/drawing/2014/main" id="{72CDF97E-122A-4A81-8EC4-C97D14962F9F}"/>
              </a:ext>
            </a:extLst>
          </p:cNvPr>
          <p:cNvSpPr>
            <a:spLocks xmlns:a="http://schemas.openxmlformats.org/drawingml/2006/main" noGrp="1"/>
          </p:cNvSpPr>
          <p:nvPr/>
        </p:nvSpPr>
        <p:spPr>
          <a:xfrm xmlns:a="http://schemas.openxmlformats.org/drawingml/2006/main">
            <a:off x="5953125" y="5105400"/>
            <a:ext cx="82486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HTTP, Kafka, данные, права доступа и правила бизнеса связывают репозитории между собой.</a:t>
            </a:r>
          </a:p>
        </p:txBody>
      </p:sp>
      <p:sp>
        <p:nvSpPr>
          <p:cNvPr id="16" name="Разделитель 1">
            <a:extLst xmlns:a="http://schemas.openxmlformats.org/drawingml/2006/main">
              <a:ext uri="{FF2B5EF4-FFF2-40B4-BE49-F238E27FC236}">
                <a16:creationId xmlns:a16="http://schemas.microsoft.com/office/drawing/2014/main" id="{D0BCDFBE-A4B1-4F35-9A2A-6FA34B124D61}"/>
              </a:ext>
            </a:extLst>
          </p:cNvPr>
          <p:cNvSpPr>
            <a:spLocks xmlns:a="http://schemas.openxmlformats.org/drawingml/2006/main" noGrp="1"/>
          </p:cNvSpPr>
          <p:nvPr/>
        </p:nvSpPr>
        <p:spPr>
          <a:xfrm xmlns:a="http://schemas.openxmlformats.org/drawingml/2006/main">
            <a:off x="5953125" y="5867400"/>
            <a:ext cx="824865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7" name="Акцент границы 2">
            <a:extLst xmlns:a="http://schemas.openxmlformats.org/drawingml/2006/main">
              <a:ext uri="{FF2B5EF4-FFF2-40B4-BE49-F238E27FC236}">
                <a16:creationId xmlns:a16="http://schemas.microsoft.com/office/drawing/2014/main" id="{DF4D0473-0875-477D-A833-2FDB59C204AC}"/>
              </a:ext>
            </a:extLst>
          </p:cNvPr>
          <p:cNvSpPr>
            <a:spLocks xmlns:a="http://schemas.openxmlformats.org/drawingml/2006/main" noGrp="1"/>
          </p:cNvSpPr>
          <p:nvPr/>
        </p:nvSpPr>
        <p:spPr>
          <a:xfrm xmlns:a="http://schemas.openxmlformats.org/drawingml/2006/main">
            <a:off x="5705475" y="5981700"/>
            <a:ext cx="38100" cy="1171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8" name="Граница 2">
            <a:extLst xmlns:a="http://schemas.openxmlformats.org/drawingml/2006/main">
              <a:ext uri="{FF2B5EF4-FFF2-40B4-BE49-F238E27FC236}">
                <a16:creationId xmlns:a16="http://schemas.microsoft.com/office/drawing/2014/main" id="{B514A9D0-03ED-4C10-8C01-422688937A5C}"/>
              </a:ext>
            </a:extLst>
          </p:cNvPr>
          <p:cNvSpPr>
            <a:spLocks xmlns:a="http://schemas.openxmlformats.org/drawingml/2006/main" noGrp="1"/>
          </p:cNvSpPr>
          <p:nvPr/>
        </p:nvSpPr>
        <p:spPr>
          <a:xfrm xmlns:a="http://schemas.openxmlformats.org/drawingml/2006/main">
            <a:off x="5953125" y="6010275"/>
            <a:ext cx="8258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Незнание всплывает дорого</a:t>
            </a:r>
          </a:p>
        </p:txBody>
      </p:sp>
      <p:sp>
        <p:nvSpPr>
          <p:cNvPr id="19" name="Последствие 2">
            <a:extLst xmlns:a="http://schemas.openxmlformats.org/drawingml/2006/main">
              <a:ext uri="{FF2B5EF4-FFF2-40B4-BE49-F238E27FC236}">
                <a16:creationId xmlns:a16="http://schemas.microsoft.com/office/drawing/2014/main" id="{72F81B60-9F5F-4333-B854-E7AB3F329B3D}"/>
              </a:ext>
            </a:extLst>
          </p:cNvPr>
          <p:cNvSpPr>
            <a:spLocks xmlns:a="http://schemas.openxmlformats.org/drawingml/2006/main" noGrp="1"/>
          </p:cNvSpPr>
          <p:nvPr/>
        </p:nvSpPr>
        <p:spPr>
          <a:xfrm xmlns:a="http://schemas.openxmlformats.org/drawingml/2006/main">
            <a:off x="5953125" y="6486525"/>
            <a:ext cx="82486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Зависимость, найденная после оценки, превращается в пересогласование, новые задачи и сдвиг срока.</a:t>
            </a:r>
          </a:p>
        </p:txBody>
      </p:sp>
    </p:spTree>
    <p:extLst>
      <p:ext uri="{BB962C8B-B14F-4D97-AF65-F5344CB8AC3E}">
        <p14:creationId xmlns:p14="http://schemas.microsoft.com/office/powerpoint/2010/main" val="1266442937"/>
      </p:ext>
    </p:extLst>
  </p:cSld>
</p:sld>
</file>

<file path=ppt/slides/slide4.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6" name="Рамка слайда">
            <a:extLst xmlns:a="http://schemas.openxmlformats.org/drawingml/2006/main">
              <a:ext uri="{FF2B5EF4-FFF2-40B4-BE49-F238E27FC236}">
                <a16:creationId xmlns:a16="http://schemas.microsoft.com/office/drawing/2014/main" id="{BCEB3163-F248-42CF-A332-66B821C3BC71}"/>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576BD146-ADF9-4798-8F8F-B84638B0D106}"/>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BBDC2F48-F502-4958-9518-C64AA9D08AB6}"/>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6F4F3309-DE0D-4256-9F33-A726D1ED46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04 / 27</a:t>
            </a:r>
          </a:p>
        </p:txBody>
      </p:sp>
      <p:sp>
        <p:nvSpPr>
          <p:cNvPr id="5" name="Надзаголовок">
            <a:extLst xmlns:a="http://schemas.openxmlformats.org/drawingml/2006/main">
              <a:ext uri="{FF2B5EF4-FFF2-40B4-BE49-F238E27FC236}">
                <a16:creationId xmlns:a16="http://schemas.microsoft.com/office/drawing/2014/main" id="{98E11FCF-8C7E-4EA3-9C95-B034D847E468}"/>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ОРГАНИЗАЦИЯ ЗНАНИЙ</a:t>
            </a:r>
          </a:p>
        </p:txBody>
      </p:sp>
      <p:sp>
        <p:nvSpPr>
          <p:cNvPr id="6" name="Заголовок">
            <a:extLst xmlns:a="http://schemas.openxmlformats.org/drawingml/2006/main">
              <a:ext uri="{FF2B5EF4-FFF2-40B4-BE49-F238E27FC236}">
                <a16:creationId xmlns:a16="http://schemas.microsoft.com/office/drawing/2014/main" id="{01E62305-2C2F-48CF-A026-4A445A3CA8CB}"/>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Ограничения централизованного</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7C8B"/>
                </a:solidFill>
                <a:latin typeface="Arial"/>
                <a:ea typeface="Arial"/>
                <a:cs typeface="Arial"/>
              </a:rPr>
              <a:t>ведения знаний</a:t>
            </a:r>
          </a:p>
        </p:txBody>
      </p:sp>
      <p:sp>
        <p:nvSpPr>
          <p:cNvPr id="7" name="Связь двух частей">
            <a:extLst xmlns:a="http://schemas.openxmlformats.org/drawingml/2006/main">
              <a:ext uri="{FF2B5EF4-FFF2-40B4-BE49-F238E27FC236}">
                <a16:creationId xmlns:a16="http://schemas.microsoft.com/office/drawing/2014/main" id="{6D580D6B-6E6E-4F96-B530-2F819A75DB42}"/>
              </a:ext>
            </a:extLst>
          </p:cNvPr>
          <p:cNvSpPr>
            <a:spLocks xmlns:a="http://schemas.openxmlformats.org/drawingml/2006/main" noGrp="1"/>
          </p:cNvSpPr>
          <p:nvPr/>
        </p:nvSpPr>
        <p:spPr>
          <a:xfrm xmlns:a="http://schemas.openxmlformats.org/drawingml/2006/main">
            <a:off x="7400925" y="4914900"/>
            <a:ext cx="428625" cy="190500"/>
          </a:xfrm>
          <a:prstGeom xmlns:a="http://schemas.openxmlformats.org/drawingml/2006/main" prst="rightArrow">
            <a:avLst/>
          </a:prstGeom>
          <a:solidFill xmlns:a="http://schemas.openxmlformats.org/drawingml/2006/main">
            <a:srgbClr val="A4B8C9"/>
          </a:solidFill>
          <a:ln xmlns:a="http://schemas.openxmlformats.org/drawingml/2006/main" w="0">
            <a:noFill/>
            <a:prstDash val="solid"/>
          </a:ln>
        </p:spPr>
      </p:sp>
      <p:sp>
        <p:nvSpPr>
          <p:cNvPr id="8" name="Область сравнения 0">
            <a:extLst xmlns:a="http://schemas.openxmlformats.org/drawingml/2006/main">
              <a:ext uri="{FF2B5EF4-FFF2-40B4-BE49-F238E27FC236}">
                <a16:creationId xmlns:a16="http://schemas.microsoft.com/office/drawing/2014/main" id="{4936E91D-D068-4C11-87A5-C2FAAA9FBCDA}"/>
              </a:ext>
            </a:extLst>
          </p:cNvPr>
          <p:cNvSpPr>
            <a:spLocks xmlns:a="http://schemas.openxmlformats.org/drawingml/2006/main" noGrp="1"/>
          </p:cNvSpPr>
          <p:nvPr/>
        </p:nvSpPr>
        <p:spPr>
          <a:xfrm xmlns:a="http://schemas.openxmlformats.org/drawingml/2006/main">
            <a:off x="762000" y="3162300"/>
            <a:ext cx="6334125" cy="4048125"/>
          </a:xfrm>
          <a:prstGeom xmlns:a="http://schemas.openxmlformats.org/drawingml/2006/main" prst="rect">
            <a:avLst/>
          </a:prstGeom>
          <a:gradFill xmlns:a="http://schemas.openxmlformats.org/drawingml/2006/main">
            <a:gsLst>
              <a:gs pos="0">
                <a:srgbClr val="FF7C8B">
                  <a:alpha val="8000"/>
                </a:srgbClr>
              </a:gs>
              <a:gs pos="100000">
                <a:srgbClr val="0D1B2C">
                  <a:alpha val="0"/>
                </a:srgbClr>
              </a:gs>
            </a:gsLst>
            <a:lin ang="5400000"/>
          </a:gradFill>
          <a:ln xmlns:a="http://schemas.openxmlformats.org/drawingml/2006/main" w="0">
            <a:noFill/>
            <a:prstDash val="solid"/>
          </a:ln>
        </p:spPr>
      </p:sp>
      <p:sp>
        <p:nvSpPr>
          <p:cNvPr id="9" name="Акцент сравнения 0">
            <a:extLst xmlns:a="http://schemas.openxmlformats.org/drawingml/2006/main">
              <a:ext uri="{FF2B5EF4-FFF2-40B4-BE49-F238E27FC236}">
                <a16:creationId xmlns:a16="http://schemas.microsoft.com/office/drawing/2014/main" id="{FCF4C6D6-4F84-4ED7-9BD5-7529F7030497}"/>
              </a:ext>
            </a:extLst>
          </p:cNvPr>
          <p:cNvSpPr>
            <a:spLocks xmlns:a="http://schemas.openxmlformats.org/drawingml/2006/main" noGrp="1"/>
          </p:cNvSpPr>
          <p:nvPr/>
        </p:nvSpPr>
        <p:spPr>
          <a:xfrm xmlns:a="http://schemas.openxmlformats.org/drawingml/2006/main">
            <a:off x="762000" y="3162300"/>
            <a:ext cx="6334125" cy="28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0" name="Заголовок сравнения 0">
            <a:extLst xmlns:a="http://schemas.openxmlformats.org/drawingml/2006/main">
              <a:ext uri="{FF2B5EF4-FFF2-40B4-BE49-F238E27FC236}">
                <a16:creationId xmlns:a16="http://schemas.microsoft.com/office/drawing/2014/main" id="{860E5195-7FDD-4345-A654-2158ACC72925}"/>
              </a:ext>
            </a:extLst>
          </p:cNvPr>
          <p:cNvSpPr>
            <a:spLocks xmlns:a="http://schemas.openxmlformats.org/drawingml/2006/main" noGrp="1"/>
          </p:cNvSpPr>
          <p:nvPr/>
        </p:nvSpPr>
        <p:spPr>
          <a:xfrm xmlns:a="http://schemas.openxmlformats.org/drawingml/2006/main">
            <a:off x="971550" y="3457575"/>
            <a:ext cx="59150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925" b="1">
                <a:solidFill>
                  <a:srgbClr val="FF7C8B"/>
                </a:solidFill>
                <a:latin typeface="Arial"/>
                <a:ea typeface="Arial"/>
                <a:cs typeface="Arial"/>
              </a:defRPr>
            </a:pPr>
            <a:r>
              <a:rPr sz="2925" b="1">
                <a:solidFill>
                  <a:srgbClr val="FF7C8B"/>
                </a:solidFill>
                <a:latin typeface="Arial"/>
                <a:ea typeface="Arial"/>
                <a:cs typeface="Arial"/>
              </a:rPr>
              <a:t>Центральная копия</a:t>
            </a:r>
          </a:p>
        </p:txBody>
      </p:sp>
      <p:sp>
        <p:nvSpPr>
          <p:cNvPr id="11" name="Пункты сравнения 0">
            <a:extLst xmlns:a="http://schemas.openxmlformats.org/drawingml/2006/main">
              <a:ext uri="{FF2B5EF4-FFF2-40B4-BE49-F238E27FC236}">
                <a16:creationId xmlns:a16="http://schemas.microsoft.com/office/drawing/2014/main" id="{989B0E9F-B541-4806-8737-D31F820CCA6D}"/>
              </a:ext>
            </a:extLst>
          </p:cNvPr>
          <p:cNvSpPr>
            <a:spLocks xmlns:a="http://schemas.openxmlformats.org/drawingml/2006/main" noGrp="1"/>
          </p:cNvSpPr>
          <p:nvPr/>
        </p:nvSpPr>
        <p:spPr>
          <a:xfrm xmlns:a="http://schemas.openxmlformats.org/drawingml/2006/main">
            <a:off x="971550" y="4248150"/>
            <a:ext cx="5915025" cy="2943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Кто-то должен её поддерживать</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изменения ждут общего владельца</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Копия быстро расходится с кодом</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команда уже поменяла сервис, а сводка ещё нет</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Поиск всё равно остаётся ручным</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нужно понять, какой кусок общего знания относится к задаче</a:t>
            </a:r>
          </a:p>
        </p:txBody>
      </p:sp>
      <p:sp>
        <p:nvSpPr>
          <p:cNvPr id="12" name="Область сравнения 1">
            <a:extLst xmlns:a="http://schemas.openxmlformats.org/drawingml/2006/main">
              <a:ext uri="{FF2B5EF4-FFF2-40B4-BE49-F238E27FC236}">
                <a16:creationId xmlns:a16="http://schemas.microsoft.com/office/drawing/2014/main" id="{B09E30B0-A68E-4C99-B492-23BD7E69BA6F}"/>
              </a:ext>
            </a:extLst>
          </p:cNvPr>
          <p:cNvSpPr>
            <a:spLocks xmlns:a="http://schemas.openxmlformats.org/drawingml/2006/main" noGrp="1"/>
          </p:cNvSpPr>
          <p:nvPr/>
        </p:nvSpPr>
        <p:spPr>
          <a:xfrm xmlns:a="http://schemas.openxmlformats.org/drawingml/2006/main">
            <a:off x="8143875" y="3162300"/>
            <a:ext cx="6334125" cy="4048125"/>
          </a:xfrm>
          <a:prstGeom xmlns:a="http://schemas.openxmlformats.org/drawingml/2006/main" prst="rect">
            <a:avLst/>
          </a:prstGeom>
          <a:gradFill xmlns:a="http://schemas.openxmlformats.org/drawingml/2006/main">
            <a:gsLst>
              <a:gs pos="0">
                <a:srgbClr val="5CE3A0">
                  <a:alpha val="8000"/>
                </a:srgbClr>
              </a:gs>
              <a:gs pos="100000">
                <a:srgbClr val="0D1B2C">
                  <a:alpha val="0"/>
                </a:srgbClr>
              </a:gs>
            </a:gsLst>
            <a:lin ang="5400000"/>
          </a:gradFill>
          <a:ln xmlns:a="http://schemas.openxmlformats.org/drawingml/2006/main" w="0">
            <a:noFill/>
            <a:prstDash val="solid"/>
          </a:ln>
        </p:spPr>
      </p:sp>
      <p:sp>
        <p:nvSpPr>
          <p:cNvPr id="13" name="Акцент сравнения 1">
            <a:extLst xmlns:a="http://schemas.openxmlformats.org/drawingml/2006/main">
              <a:ext uri="{FF2B5EF4-FFF2-40B4-BE49-F238E27FC236}">
                <a16:creationId xmlns:a16="http://schemas.microsoft.com/office/drawing/2014/main" id="{25BA09F6-21DC-4A6C-B168-C2DE99247479}"/>
              </a:ext>
            </a:extLst>
          </p:cNvPr>
          <p:cNvSpPr>
            <a:spLocks xmlns:a="http://schemas.openxmlformats.org/drawingml/2006/main" noGrp="1"/>
          </p:cNvSpPr>
          <p:nvPr/>
        </p:nvSpPr>
        <p:spPr>
          <a:xfrm xmlns:a="http://schemas.openxmlformats.org/drawingml/2006/main">
            <a:off x="8143875" y="3162300"/>
            <a:ext cx="6334125"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сравнения 1">
            <a:extLst xmlns:a="http://schemas.openxmlformats.org/drawingml/2006/main">
              <a:ext uri="{FF2B5EF4-FFF2-40B4-BE49-F238E27FC236}">
                <a16:creationId xmlns:a16="http://schemas.microsoft.com/office/drawing/2014/main" id="{0908A0F8-4EA5-406B-9DA7-F1AA45DB6F15}"/>
              </a:ext>
            </a:extLst>
          </p:cNvPr>
          <p:cNvSpPr>
            <a:spLocks xmlns:a="http://schemas.openxmlformats.org/drawingml/2006/main" noGrp="1"/>
          </p:cNvSpPr>
          <p:nvPr/>
        </p:nvSpPr>
        <p:spPr>
          <a:xfrm xmlns:a="http://schemas.openxmlformats.org/drawingml/2006/main">
            <a:off x="8353425" y="3457575"/>
            <a:ext cx="59150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925" b="1">
                <a:solidFill>
                  <a:srgbClr val="5CE3A0"/>
                </a:solidFill>
                <a:latin typeface="Arial"/>
                <a:ea typeface="Arial"/>
                <a:cs typeface="Arial"/>
              </a:defRPr>
            </a:pPr>
            <a:r>
              <a:rPr sz="2925" b="1">
                <a:solidFill>
                  <a:srgbClr val="5CE3A0"/>
                </a:solidFill>
                <a:latin typeface="Arial"/>
                <a:ea typeface="Arial"/>
                <a:cs typeface="Arial"/>
              </a:rPr>
              <a:t>Единый доступ</a:t>
            </a:r>
          </a:p>
        </p:txBody>
      </p:sp>
      <p:sp>
        <p:nvSpPr>
          <p:cNvPr id="15" name="Пункты сравнения 1">
            <a:extLst xmlns:a="http://schemas.openxmlformats.org/drawingml/2006/main">
              <a:ext uri="{FF2B5EF4-FFF2-40B4-BE49-F238E27FC236}">
                <a16:creationId xmlns:a16="http://schemas.microsoft.com/office/drawing/2014/main" id="{EC907680-CAD2-4DD5-9592-86DFB5244990}"/>
              </a:ext>
            </a:extLst>
          </p:cNvPr>
          <p:cNvSpPr>
            <a:spLocks xmlns:a="http://schemas.openxmlformats.org/drawingml/2006/main" noGrp="1"/>
          </p:cNvSpPr>
          <p:nvPr/>
        </p:nvSpPr>
        <p:spPr>
          <a:xfrm xmlns:a="http://schemas.openxmlformats.org/drawingml/2006/main">
            <a:off x="8353425" y="4248150"/>
            <a:ext cx="5915025" cy="2943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Истина остаётся у команды</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код и спецификация меняются там, где живёт сервис</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Система строит маршрут</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сначала находит затронутые сервисы, потом детали</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Человек видит основания</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в ответе остаются ссылки на источник и неизвестные</a:t>
            </a:r>
          </a:p>
        </p:txBody>
      </p:sp>
    </p:spTree>
    <p:extLst>
      <p:ext uri="{BB962C8B-B14F-4D97-AF65-F5344CB8AC3E}">
        <p14:creationId xmlns:p14="http://schemas.microsoft.com/office/powerpoint/2010/main" val="1967939858"/>
      </p:ext>
    </p:extLst>
  </p:cSld>
</p:sld>
</file>

<file path=ppt/slides/slide5.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7" name="Рамка слайда">
            <a:extLst xmlns:a="http://schemas.openxmlformats.org/drawingml/2006/main">
              <a:ext uri="{FF2B5EF4-FFF2-40B4-BE49-F238E27FC236}">
                <a16:creationId xmlns:a16="http://schemas.microsoft.com/office/drawing/2014/main" id="{191D6FFC-5F3C-45BF-86FB-09EF75A68E26}"/>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57EF4127-857F-4C0B-A91A-5034B7260973}"/>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C12281F7-983B-4D56-9CE1-76DA2CE2D99C}"/>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DEACB28-3FCE-4C3E-A362-7FAA1B2B8748}"/>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05 / 27</a:t>
            </a:r>
          </a:p>
        </p:txBody>
      </p:sp>
      <p:sp>
        <p:nvSpPr>
          <p:cNvPr id="5" name="Надзаголовок">
            <a:extLst xmlns:a="http://schemas.openxmlformats.org/drawingml/2006/main">
              <a:ext uri="{FF2B5EF4-FFF2-40B4-BE49-F238E27FC236}">
                <a16:creationId xmlns:a16="http://schemas.microsoft.com/office/drawing/2014/main" id="{07F2486D-E748-4982-939C-1F55BAF0CAC6}"/>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АНАЛИЗ ТЕКУЩЕГО ПРОЦЕССА</a:t>
            </a:r>
          </a:p>
        </p:txBody>
      </p:sp>
      <p:sp>
        <p:nvSpPr>
          <p:cNvPr id="6" name="Заголовок">
            <a:extLst xmlns:a="http://schemas.openxmlformats.org/drawingml/2006/main">
              <a:ext uri="{FF2B5EF4-FFF2-40B4-BE49-F238E27FC236}">
                <a16:creationId xmlns:a16="http://schemas.microsoft.com/office/drawing/2014/main" id="{82DBC867-CE18-47AD-8A44-38954DE556B3}"/>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Анализ источников знаний</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и процесса поиска информации</a:t>
            </a:r>
          </a:p>
        </p:txBody>
      </p:sp>
      <p:sp>
        <p:nvSpPr>
          <p:cNvPr id="7" name="Акцент колонки 0">
            <a:extLst xmlns:a="http://schemas.openxmlformats.org/drawingml/2006/main">
              <a:ext uri="{FF2B5EF4-FFF2-40B4-BE49-F238E27FC236}">
                <a16:creationId xmlns:a16="http://schemas.microsoft.com/office/drawing/2014/main" id="{531E1901-C823-4EDB-ABFB-DDDD487BC06F}"/>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2C9D3DF0-3933-40FE-B904-0933D5BFF43F}"/>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Где лежит правда</a:t>
            </a:r>
          </a:p>
        </p:txBody>
      </p:sp>
      <p:sp>
        <p:nvSpPr>
          <p:cNvPr id="9" name="Текст колонки 0">
            <a:extLst xmlns:a="http://schemas.openxmlformats.org/drawingml/2006/main">
              <a:ext uri="{FF2B5EF4-FFF2-40B4-BE49-F238E27FC236}">
                <a16:creationId xmlns:a16="http://schemas.microsoft.com/office/drawing/2014/main" id="{79C5F841-069F-41BA-9E53-5E782B5CBA12}"/>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Спецификации, ADR, контракты, код и конфигурация уже существуют — но в разных местах.</a:t>
            </a:r>
          </a:p>
        </p:txBody>
      </p:sp>
      <p:sp>
        <p:nvSpPr>
          <p:cNvPr id="10" name="Акцент колонки 1">
            <a:extLst xmlns:a="http://schemas.openxmlformats.org/drawingml/2006/main">
              <a:ext uri="{FF2B5EF4-FFF2-40B4-BE49-F238E27FC236}">
                <a16:creationId xmlns:a16="http://schemas.microsoft.com/office/drawing/2014/main" id="{569E5A84-0E06-47A5-AA2A-B62BB34FAB20}"/>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100584AA-6539-48CB-86AF-13E21E5770FE}"/>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Как идёт поиск</a:t>
            </a:r>
          </a:p>
        </p:txBody>
      </p:sp>
      <p:sp>
        <p:nvSpPr>
          <p:cNvPr id="12" name="Текст колонки 1">
            <a:extLst xmlns:a="http://schemas.openxmlformats.org/drawingml/2006/main">
              <a:ext uri="{FF2B5EF4-FFF2-40B4-BE49-F238E27FC236}">
                <a16:creationId xmlns:a16="http://schemas.microsoft.com/office/drawing/2014/main" id="{74BC7054-2ED6-4442-A945-A592D13BBE8A}"/>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Сначала знают один сервис или одного человека; дальше идут по ссылкам, чатам, коду и соседним командам.</a:t>
            </a:r>
          </a:p>
        </p:txBody>
      </p:sp>
      <p:sp>
        <p:nvSpPr>
          <p:cNvPr id="13" name="Акцент колонки 2">
            <a:extLst xmlns:a="http://schemas.openxmlformats.org/drawingml/2006/main">
              <a:ext uri="{FF2B5EF4-FFF2-40B4-BE49-F238E27FC236}">
                <a16:creationId xmlns:a16="http://schemas.microsoft.com/office/drawing/2014/main" id="{24FCB371-3E1E-42F8-A3E6-5052122E59AE}"/>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0610D903-07D7-4F0C-93AA-4CC65AEED045}"/>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Где всё тормозит</a:t>
            </a:r>
          </a:p>
        </p:txBody>
      </p:sp>
      <p:sp>
        <p:nvSpPr>
          <p:cNvPr id="15" name="Текст колонки 2">
            <a:extLst xmlns:a="http://schemas.openxmlformats.org/drawingml/2006/main">
              <a:ext uri="{FF2B5EF4-FFF2-40B4-BE49-F238E27FC236}">
                <a16:creationId xmlns:a16="http://schemas.microsoft.com/office/drawing/2014/main" id="{80CB6CF4-52D7-49E4-A135-EBFAEB9B6D0E}"/>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На каждом шаге нужно угадывать: этот ли репозиторий, свежий ли документ и все ли соседи уже найдены.</a:t>
            </a:r>
          </a:p>
        </p:txBody>
      </p:sp>
      <p:sp>
        <p:nvSpPr>
          <p:cNvPr id="16" name="Ключевой вывод">
            <a:extLst xmlns:a="http://schemas.openxmlformats.org/drawingml/2006/main">
              <a:ext uri="{FF2B5EF4-FFF2-40B4-BE49-F238E27FC236}">
                <a16:creationId xmlns:a16="http://schemas.microsoft.com/office/drawing/2014/main" id="{9C9FA943-5880-4589-888C-F19A490D9F48}"/>
              </a:ext>
            </a:extLst>
          </p:cNvPr>
          <p:cNvSpPr>
            <a:spLocks xmlns:a="http://schemas.openxmlformats.org/drawingml/2006/main" noGrp="1"/>
          </p:cNvSpPr>
          <p:nvPr/>
        </p:nvSpPr>
        <p:spPr>
          <a:xfrm xmlns:a="http://schemas.openxmlformats.org/drawingml/2006/main">
            <a:off x="762000" y="6848475"/>
            <a:ext cx="13668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550" b="0">
                <a:solidFill>
                  <a:srgbClr val="F4F8FB"/>
                </a:solidFill>
                <a:latin typeface="Arial"/>
                <a:ea typeface="Arial"/>
                <a:cs typeface="Arial"/>
              </a:defRPr>
            </a:pPr>
            <a:r>
              <a:rPr sz="2550" b="0">
                <a:solidFill>
                  <a:srgbClr val="F4F8FB"/>
                </a:solidFill>
                <a:latin typeface="Arial"/>
                <a:ea typeface="Arial"/>
                <a:cs typeface="Arial"/>
              </a:rPr>
              <a:t>Знания есть. Нет </a:t>
            </a:r>
            <a:r>
              <a:rPr sz="2550" b="0">
                <a:solidFill>
                  <a:srgbClr val="FFBD73"/>
                </a:solidFill>
                <a:latin typeface="Arial"/>
                <a:ea typeface="Arial"/>
                <a:cs typeface="Arial"/>
              </a:rPr>
              <a:t>быстрого пути от задачи к нужным знаниям.</a:t>
            </a:r>
          </a:p>
        </p:txBody>
      </p:sp>
    </p:spTree>
    <p:extLst>
      <p:ext uri="{BB962C8B-B14F-4D97-AF65-F5344CB8AC3E}">
        <p14:creationId xmlns:p14="http://schemas.microsoft.com/office/powerpoint/2010/main" val="1838889126"/>
      </p:ext>
    </p:extLst>
  </p:cSld>
</p:sld>
</file>

<file path=ppt/slides/slide6.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6" name="Рамка слайда">
            <a:extLst xmlns:a="http://schemas.openxmlformats.org/drawingml/2006/main">
              <a:ext uri="{FF2B5EF4-FFF2-40B4-BE49-F238E27FC236}">
                <a16:creationId xmlns:a16="http://schemas.microsoft.com/office/drawing/2014/main" id="{70B59C43-1C46-40A2-9947-1267D4E35554}"/>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3624F7EE-F2AB-4B8D-B836-4C908A1457CD}"/>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6DEC0EB3-16C4-410E-9343-1B6A762BB4B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A490AE2E-DCC1-4383-9F56-CCB58B4D952E}"/>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06 / 27</a:t>
            </a:r>
          </a:p>
        </p:txBody>
      </p:sp>
      <p:sp>
        <p:nvSpPr>
          <p:cNvPr id="5" name="Надзаголовок">
            <a:extLst xmlns:a="http://schemas.openxmlformats.org/drawingml/2006/main">
              <a:ext uri="{FF2B5EF4-FFF2-40B4-BE49-F238E27FC236}">
                <a16:creationId xmlns:a16="http://schemas.microsoft.com/office/drawing/2014/main" id="{EA1CDCA9-3A43-453E-B87E-A1C6FFC2BC17}"/>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АРХИТЕКТУРНЫЙ ПОДХОД</a:t>
            </a:r>
          </a:p>
        </p:txBody>
      </p:sp>
      <p:sp>
        <p:nvSpPr>
          <p:cNvPr id="6" name="Заголовок">
            <a:extLst xmlns:a="http://schemas.openxmlformats.org/drawingml/2006/main">
              <a:ext uri="{FF2B5EF4-FFF2-40B4-BE49-F238E27FC236}">
                <a16:creationId xmlns:a16="http://schemas.microsoft.com/office/drawing/2014/main" id="{5E07B909-05F0-43EF-9D89-9ECB0DDC1783}"/>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Единый доступ</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к распределённым источникам знаний</a:t>
            </a:r>
          </a:p>
        </p:txBody>
      </p:sp>
      <p:sp>
        <p:nvSpPr>
          <p:cNvPr id="7" name="Связь двух частей">
            <a:extLst xmlns:a="http://schemas.openxmlformats.org/drawingml/2006/main">
              <a:ext uri="{FF2B5EF4-FFF2-40B4-BE49-F238E27FC236}">
                <a16:creationId xmlns:a16="http://schemas.microsoft.com/office/drawing/2014/main" id="{9CD31653-D913-4A6F-B87E-B7E12416627E}"/>
              </a:ext>
            </a:extLst>
          </p:cNvPr>
          <p:cNvSpPr>
            <a:spLocks xmlns:a="http://schemas.openxmlformats.org/drawingml/2006/main" noGrp="1"/>
          </p:cNvSpPr>
          <p:nvPr/>
        </p:nvSpPr>
        <p:spPr>
          <a:xfrm xmlns:a="http://schemas.openxmlformats.org/drawingml/2006/main">
            <a:off x="7400925" y="4914900"/>
            <a:ext cx="428625" cy="190500"/>
          </a:xfrm>
          <a:prstGeom xmlns:a="http://schemas.openxmlformats.org/drawingml/2006/main" prst="rightArrow">
            <a:avLst/>
          </a:prstGeom>
          <a:solidFill xmlns:a="http://schemas.openxmlformats.org/drawingml/2006/main">
            <a:srgbClr val="A4B8C9"/>
          </a:solidFill>
          <a:ln xmlns:a="http://schemas.openxmlformats.org/drawingml/2006/main" w="0">
            <a:noFill/>
            <a:prstDash val="solid"/>
          </a:ln>
        </p:spPr>
      </p:sp>
      <p:sp>
        <p:nvSpPr>
          <p:cNvPr id="8" name="Область сравнения 0">
            <a:extLst xmlns:a="http://schemas.openxmlformats.org/drawingml/2006/main">
              <a:ext uri="{FF2B5EF4-FFF2-40B4-BE49-F238E27FC236}">
                <a16:creationId xmlns:a16="http://schemas.microsoft.com/office/drawing/2014/main" id="{15B17145-4EAB-49A2-A344-0F14D5D9352F}"/>
              </a:ext>
            </a:extLst>
          </p:cNvPr>
          <p:cNvSpPr>
            <a:spLocks xmlns:a="http://schemas.openxmlformats.org/drawingml/2006/main" noGrp="1"/>
          </p:cNvSpPr>
          <p:nvPr/>
        </p:nvSpPr>
        <p:spPr>
          <a:xfrm xmlns:a="http://schemas.openxmlformats.org/drawingml/2006/main">
            <a:off x="762000" y="3162300"/>
            <a:ext cx="6334125" cy="4048125"/>
          </a:xfrm>
          <a:prstGeom xmlns:a="http://schemas.openxmlformats.org/drawingml/2006/main" prst="rect">
            <a:avLst/>
          </a:prstGeom>
          <a:gradFill xmlns:a="http://schemas.openxmlformats.org/drawingml/2006/main">
            <a:gsLst>
              <a:gs pos="0">
                <a:srgbClr val="FF7C8B">
                  <a:alpha val="8000"/>
                </a:srgbClr>
              </a:gs>
              <a:gs pos="100000">
                <a:srgbClr val="0D1B2C">
                  <a:alpha val="0"/>
                </a:srgbClr>
              </a:gs>
            </a:gsLst>
            <a:lin ang="5400000"/>
          </a:gradFill>
          <a:ln xmlns:a="http://schemas.openxmlformats.org/drawingml/2006/main" w="0">
            <a:noFill/>
            <a:prstDash val="solid"/>
          </a:ln>
        </p:spPr>
      </p:sp>
      <p:sp>
        <p:nvSpPr>
          <p:cNvPr id="9" name="Акцент сравнения 0">
            <a:extLst xmlns:a="http://schemas.openxmlformats.org/drawingml/2006/main">
              <a:ext uri="{FF2B5EF4-FFF2-40B4-BE49-F238E27FC236}">
                <a16:creationId xmlns:a16="http://schemas.microsoft.com/office/drawing/2014/main" id="{F3996E68-728B-458A-A08A-47DE6B766A13}"/>
              </a:ext>
            </a:extLst>
          </p:cNvPr>
          <p:cNvSpPr>
            <a:spLocks xmlns:a="http://schemas.openxmlformats.org/drawingml/2006/main" noGrp="1"/>
          </p:cNvSpPr>
          <p:nvPr/>
        </p:nvSpPr>
        <p:spPr>
          <a:xfrm xmlns:a="http://schemas.openxmlformats.org/drawingml/2006/main">
            <a:off x="762000" y="3162300"/>
            <a:ext cx="6334125" cy="28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0" name="Заголовок сравнения 0">
            <a:extLst xmlns:a="http://schemas.openxmlformats.org/drawingml/2006/main">
              <a:ext uri="{FF2B5EF4-FFF2-40B4-BE49-F238E27FC236}">
                <a16:creationId xmlns:a16="http://schemas.microsoft.com/office/drawing/2014/main" id="{ECED4B16-57E4-4F24-958A-9209A18BE33F}"/>
              </a:ext>
            </a:extLst>
          </p:cNvPr>
          <p:cNvSpPr>
            <a:spLocks xmlns:a="http://schemas.openxmlformats.org/drawingml/2006/main" noGrp="1"/>
          </p:cNvSpPr>
          <p:nvPr/>
        </p:nvSpPr>
        <p:spPr>
          <a:xfrm xmlns:a="http://schemas.openxmlformats.org/drawingml/2006/main">
            <a:off x="971550" y="3457575"/>
            <a:ext cx="59150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925" b="1">
                <a:solidFill>
                  <a:srgbClr val="FF7C8B"/>
                </a:solidFill>
                <a:latin typeface="Arial"/>
                <a:ea typeface="Arial"/>
                <a:cs typeface="Arial"/>
              </a:defRPr>
            </a:pPr>
            <a:r>
              <a:rPr sz="2925" b="1">
                <a:solidFill>
                  <a:srgbClr val="FF7C8B"/>
                </a:solidFill>
                <a:latin typeface="Arial"/>
                <a:ea typeface="Arial"/>
                <a:cs typeface="Arial"/>
              </a:rPr>
              <a:t>Оставляем у команд</a:t>
            </a:r>
          </a:p>
        </p:txBody>
      </p:sp>
      <p:sp>
        <p:nvSpPr>
          <p:cNvPr id="11" name="Пункты сравнения 0">
            <a:extLst xmlns:a="http://schemas.openxmlformats.org/drawingml/2006/main">
              <a:ext uri="{FF2B5EF4-FFF2-40B4-BE49-F238E27FC236}">
                <a16:creationId xmlns:a16="http://schemas.microsoft.com/office/drawing/2014/main" id="{87FEF2BB-FA71-4D49-93DF-4B71E1200AD3}"/>
              </a:ext>
            </a:extLst>
          </p:cNvPr>
          <p:cNvSpPr>
            <a:spLocks xmlns:a="http://schemas.openxmlformats.org/drawingml/2006/main" noGrp="1"/>
          </p:cNvSpPr>
          <p:nvPr/>
        </p:nvSpPr>
        <p:spPr>
          <a:xfrm xmlns:a="http://schemas.openxmlformats.org/drawingml/2006/main">
            <a:off x="971550" y="4248150"/>
            <a:ext cx="5915025" cy="2943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Код и спецификация рядом с сервисом</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владелец меняет то, за что отвечает</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Свой ритм поставки</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команды не ждут общего редактора</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Своя ответственность</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актуальность остаётся там, где принимают решение</a:t>
            </a:r>
          </a:p>
        </p:txBody>
      </p:sp>
      <p:sp>
        <p:nvSpPr>
          <p:cNvPr id="12" name="Область сравнения 1">
            <a:extLst xmlns:a="http://schemas.openxmlformats.org/drawingml/2006/main">
              <a:ext uri="{FF2B5EF4-FFF2-40B4-BE49-F238E27FC236}">
                <a16:creationId xmlns:a16="http://schemas.microsoft.com/office/drawing/2014/main" id="{5361D220-76CB-4D47-91DC-AB51BCE665AD}"/>
              </a:ext>
            </a:extLst>
          </p:cNvPr>
          <p:cNvSpPr>
            <a:spLocks xmlns:a="http://schemas.openxmlformats.org/drawingml/2006/main" noGrp="1"/>
          </p:cNvSpPr>
          <p:nvPr/>
        </p:nvSpPr>
        <p:spPr>
          <a:xfrm xmlns:a="http://schemas.openxmlformats.org/drawingml/2006/main">
            <a:off x="8143875" y="3162300"/>
            <a:ext cx="6334125" cy="4048125"/>
          </a:xfrm>
          <a:prstGeom xmlns:a="http://schemas.openxmlformats.org/drawingml/2006/main" prst="rect">
            <a:avLst/>
          </a:prstGeom>
          <a:gradFill xmlns:a="http://schemas.openxmlformats.org/drawingml/2006/main">
            <a:gsLst>
              <a:gs pos="0">
                <a:srgbClr val="5CE3A0">
                  <a:alpha val="8000"/>
                </a:srgbClr>
              </a:gs>
              <a:gs pos="100000">
                <a:srgbClr val="0D1B2C">
                  <a:alpha val="0"/>
                </a:srgbClr>
              </a:gs>
            </a:gsLst>
            <a:lin ang="5400000"/>
          </a:gradFill>
          <a:ln xmlns:a="http://schemas.openxmlformats.org/drawingml/2006/main" w="0">
            <a:noFill/>
            <a:prstDash val="solid"/>
          </a:ln>
        </p:spPr>
      </p:sp>
      <p:sp>
        <p:nvSpPr>
          <p:cNvPr id="13" name="Акцент сравнения 1">
            <a:extLst xmlns:a="http://schemas.openxmlformats.org/drawingml/2006/main">
              <a:ext uri="{FF2B5EF4-FFF2-40B4-BE49-F238E27FC236}">
                <a16:creationId xmlns:a16="http://schemas.microsoft.com/office/drawing/2014/main" id="{F1EB9517-B9E5-4B60-B03F-ECD934216DDB}"/>
              </a:ext>
            </a:extLst>
          </p:cNvPr>
          <p:cNvSpPr>
            <a:spLocks xmlns:a="http://schemas.openxmlformats.org/drawingml/2006/main" noGrp="1"/>
          </p:cNvSpPr>
          <p:nvPr/>
        </p:nvSpPr>
        <p:spPr>
          <a:xfrm xmlns:a="http://schemas.openxmlformats.org/drawingml/2006/main">
            <a:off x="8143875" y="3162300"/>
            <a:ext cx="6334125"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сравнения 1">
            <a:extLst xmlns:a="http://schemas.openxmlformats.org/drawingml/2006/main">
              <a:ext uri="{FF2B5EF4-FFF2-40B4-BE49-F238E27FC236}">
                <a16:creationId xmlns:a16="http://schemas.microsoft.com/office/drawing/2014/main" id="{AF1218BC-6448-4517-B42B-6CBAC6217713}"/>
              </a:ext>
            </a:extLst>
          </p:cNvPr>
          <p:cNvSpPr>
            <a:spLocks xmlns:a="http://schemas.openxmlformats.org/drawingml/2006/main" noGrp="1"/>
          </p:cNvSpPr>
          <p:nvPr/>
        </p:nvSpPr>
        <p:spPr>
          <a:xfrm xmlns:a="http://schemas.openxmlformats.org/drawingml/2006/main">
            <a:off x="8353425" y="3457575"/>
            <a:ext cx="59150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925" b="1">
                <a:solidFill>
                  <a:srgbClr val="5CE3A0"/>
                </a:solidFill>
                <a:latin typeface="Arial"/>
                <a:ea typeface="Arial"/>
                <a:cs typeface="Arial"/>
              </a:defRPr>
            </a:pPr>
            <a:r>
              <a:rPr sz="2925" b="1">
                <a:solidFill>
                  <a:srgbClr val="5CE3A0"/>
                </a:solidFill>
                <a:latin typeface="Arial"/>
                <a:ea typeface="Arial"/>
                <a:cs typeface="Arial"/>
              </a:rPr>
              <a:t>Добавляем RAG и граф</a:t>
            </a:r>
          </a:p>
        </p:txBody>
      </p:sp>
      <p:sp>
        <p:nvSpPr>
          <p:cNvPr id="15" name="Пункты сравнения 1">
            <a:extLst xmlns:a="http://schemas.openxmlformats.org/drawingml/2006/main">
              <a:ext uri="{FF2B5EF4-FFF2-40B4-BE49-F238E27FC236}">
                <a16:creationId xmlns:a16="http://schemas.microsoft.com/office/drawing/2014/main" id="{A7BF207C-A21D-43AE-B0BD-A479D66712B0}"/>
              </a:ext>
            </a:extLst>
          </p:cNvPr>
          <p:cNvSpPr>
            <a:spLocks xmlns:a="http://schemas.openxmlformats.org/drawingml/2006/main" noGrp="1"/>
          </p:cNvSpPr>
          <p:nvPr/>
        </p:nvSpPr>
        <p:spPr>
          <a:xfrm xmlns:a="http://schemas.openxmlformats.org/drawingml/2006/main">
            <a:off x="8353425" y="4248150"/>
            <a:ext cx="5915025" cy="2943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Единая точка входа</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вопрос задаётся по смыслу задачи</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Маршрут по системе</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граф находит вероятных соседей и границы</a:t>
            </a:r>
          </a:p>
          <a:p xmlns:a="http://schemas.openxmlformats.org/drawingml/2006/main">
            <a:pPr algn="l">
              <a:spcBef>
                <a:spcPts val="0"/>
              </a:spcBef>
              <a:spcAft>
                <a:spcPts val="0"/>
              </a:spcAft>
              <a:buNone/>
              <a:defRPr sz="1875" b="0">
                <a:solidFill>
                  <a:srgbClr val="A4B8C9"/>
                </a:solidFill>
                <a:latin typeface="Arial"/>
                <a:ea typeface="Arial"/>
                <a:cs typeface="Arial"/>
              </a:defRPr>
            </a:pP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1">
                <a:solidFill>
                  <a:srgbClr val="F4F8FB"/>
                </a:solidFill>
                <a:latin typeface="Arial"/>
                <a:ea typeface="Arial"/>
                <a:cs typeface="Arial"/>
              </a:rPr>
              <a:t>Контекст по делу</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RAG поднимает источники только по нужным сервисам</a:t>
            </a:r>
          </a:p>
        </p:txBody>
      </p:sp>
    </p:spTree>
    <p:extLst>
      <p:ext uri="{BB962C8B-B14F-4D97-AF65-F5344CB8AC3E}">
        <p14:creationId xmlns:p14="http://schemas.microsoft.com/office/powerpoint/2010/main" val="1082923952"/>
      </p:ext>
    </p:extLst>
  </p:cSld>
</p:sld>
</file>

<file path=ppt/slides/slide7.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33" name="Рамка слайда">
            <a:extLst xmlns:a="http://schemas.openxmlformats.org/drawingml/2006/main">
              <a:ext uri="{FF2B5EF4-FFF2-40B4-BE49-F238E27FC236}">
                <a16:creationId xmlns:a16="http://schemas.microsoft.com/office/drawing/2014/main" id="{90564D53-0098-4E9A-B6C0-B223B67DA62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09622717-77C7-4386-897F-ED4E6DB5F6B4}"/>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D45F358E-3C82-4876-B3AC-AB606E7FE970}"/>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2DAFA102-CBCE-47C4-A370-D062B6F730D0}"/>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07 / 27</a:t>
            </a:r>
          </a:p>
        </p:txBody>
      </p:sp>
      <p:sp>
        <p:nvSpPr>
          <p:cNvPr id="5" name="Надзаголовок">
            <a:extLst xmlns:a="http://schemas.openxmlformats.org/drawingml/2006/main">
              <a:ext uri="{FF2B5EF4-FFF2-40B4-BE49-F238E27FC236}">
                <a16:creationId xmlns:a16="http://schemas.microsoft.com/office/drawing/2014/main" id="{9B30DDF1-AF15-43DC-8705-99B771E982C5}"/>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ИНДЕКСАЦИЯ ИСТОЧНИКОВ</a:t>
            </a:r>
          </a:p>
        </p:txBody>
      </p:sp>
      <p:sp>
        <p:nvSpPr>
          <p:cNvPr id="6" name="Заголовок">
            <a:extLst xmlns:a="http://schemas.openxmlformats.org/drawingml/2006/main">
              <a:ext uri="{FF2B5EF4-FFF2-40B4-BE49-F238E27FC236}">
                <a16:creationId xmlns:a16="http://schemas.microsoft.com/office/drawing/2014/main" id="{C590E4D3-8F27-4EF4-A3BA-167C6721869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Подготовка источников</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и построение RAG-индекса</a:t>
            </a:r>
          </a:p>
        </p:txBody>
      </p:sp>
      <p:sp>
        <p:nvSpPr>
          <p:cNvPr id="7" name="Переход 1">
            <a:extLst xmlns:a="http://schemas.openxmlformats.org/drawingml/2006/main">
              <a:ext uri="{FF2B5EF4-FFF2-40B4-BE49-F238E27FC236}">
                <a16:creationId xmlns:a16="http://schemas.microsoft.com/office/drawing/2014/main" id="{40FF956F-F49C-4AF5-A09C-69706C617F18}"/>
              </a:ext>
            </a:extLst>
          </p:cNvPr>
          <p:cNvSpPr>
            <a:spLocks xmlns:a="http://schemas.openxmlformats.org/drawingml/2006/main" noGrp="1"/>
          </p:cNvSpPr>
          <p:nvPr/>
        </p:nvSpPr>
        <p:spPr>
          <a:xfrm xmlns:a="http://schemas.openxmlformats.org/drawingml/2006/main">
            <a:off x="316039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8" name="Переход 2">
            <a:extLst xmlns:a="http://schemas.openxmlformats.org/drawingml/2006/main">
              <a:ext uri="{FF2B5EF4-FFF2-40B4-BE49-F238E27FC236}">
                <a16:creationId xmlns:a16="http://schemas.microsoft.com/office/drawing/2014/main" id="{EFA0BDCF-E263-448F-A569-52900EC41A0C}"/>
              </a:ext>
            </a:extLst>
          </p:cNvPr>
          <p:cNvSpPr>
            <a:spLocks xmlns:a="http://schemas.openxmlformats.org/drawingml/2006/main" noGrp="1"/>
          </p:cNvSpPr>
          <p:nvPr/>
        </p:nvSpPr>
        <p:spPr>
          <a:xfrm xmlns:a="http://schemas.openxmlformats.org/drawingml/2006/main">
            <a:off x="600646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9" name="Переход 3">
            <a:extLst xmlns:a="http://schemas.openxmlformats.org/drawingml/2006/main">
              <a:ext uri="{FF2B5EF4-FFF2-40B4-BE49-F238E27FC236}">
                <a16:creationId xmlns:a16="http://schemas.microsoft.com/office/drawing/2014/main" id="{F67797FF-2EA2-4C24-9F81-921E4B994C13}"/>
              </a:ext>
            </a:extLst>
          </p:cNvPr>
          <p:cNvSpPr>
            <a:spLocks xmlns:a="http://schemas.openxmlformats.org/drawingml/2006/main" noGrp="1"/>
          </p:cNvSpPr>
          <p:nvPr/>
        </p:nvSpPr>
        <p:spPr>
          <a:xfrm xmlns:a="http://schemas.openxmlformats.org/drawingml/2006/main">
            <a:off x="885253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10" name="Переход 4">
            <a:extLst xmlns:a="http://schemas.openxmlformats.org/drawingml/2006/main">
              <a:ext uri="{FF2B5EF4-FFF2-40B4-BE49-F238E27FC236}">
                <a16:creationId xmlns:a16="http://schemas.microsoft.com/office/drawing/2014/main" id="{D4003371-4D74-4413-B141-17ACBA070A9F}"/>
              </a:ext>
            </a:extLst>
          </p:cNvPr>
          <p:cNvSpPr>
            <a:spLocks xmlns:a="http://schemas.openxmlformats.org/drawingml/2006/main" noGrp="1"/>
          </p:cNvSpPr>
          <p:nvPr/>
        </p:nvSpPr>
        <p:spPr>
          <a:xfrm xmlns:a="http://schemas.openxmlformats.org/drawingml/2006/main">
            <a:off x="11698605" y="4438650"/>
            <a:ext cx="38100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11" name="Шаг 1">
            <a:extLst xmlns:a="http://schemas.openxmlformats.org/drawingml/2006/main">
              <a:ext uri="{FF2B5EF4-FFF2-40B4-BE49-F238E27FC236}">
                <a16:creationId xmlns:a16="http://schemas.microsoft.com/office/drawing/2014/main" id="{706779D8-8B7B-4979-9FFA-0949A5F3C0F9}"/>
              </a:ext>
            </a:extLst>
          </p:cNvPr>
          <p:cNvSpPr>
            <a:spLocks xmlns:a="http://schemas.openxmlformats.org/drawingml/2006/main" noGrp="1"/>
          </p:cNvSpPr>
          <p:nvPr/>
        </p:nvSpPr>
        <p:spPr>
          <a:xfrm xmlns:a="http://schemas.openxmlformats.org/drawingml/2006/main">
            <a:off x="76200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12" name="Акцент шага 1">
            <a:extLst xmlns:a="http://schemas.openxmlformats.org/drawingml/2006/main">
              <a:ext uri="{FF2B5EF4-FFF2-40B4-BE49-F238E27FC236}">
                <a16:creationId xmlns:a16="http://schemas.microsoft.com/office/drawing/2014/main" id="{F4F54A6B-0D28-4286-82EE-9030E5AC28F8}"/>
              </a:ext>
            </a:extLst>
          </p:cNvPr>
          <p:cNvSpPr>
            <a:spLocks xmlns:a="http://schemas.openxmlformats.org/drawingml/2006/main" noGrp="1"/>
          </p:cNvSpPr>
          <p:nvPr/>
        </p:nvSpPr>
        <p:spPr>
          <a:xfrm xmlns:a="http://schemas.openxmlformats.org/drawingml/2006/main">
            <a:off x="990600" y="3333750"/>
            <a:ext cx="187452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3" name="Название шага 1">
            <a:extLst xmlns:a="http://schemas.openxmlformats.org/drawingml/2006/main">
              <a:ext uri="{FF2B5EF4-FFF2-40B4-BE49-F238E27FC236}">
                <a16:creationId xmlns:a16="http://schemas.microsoft.com/office/drawing/2014/main" id="{F3FC509E-EBFE-498A-9FBE-A6F16D139F8F}"/>
              </a:ext>
            </a:extLst>
          </p:cNvPr>
          <p:cNvSpPr>
            <a:spLocks xmlns:a="http://schemas.openxmlformats.org/drawingml/2006/main" noGrp="1"/>
          </p:cNvSpPr>
          <p:nvPr/>
        </p:nvSpPr>
        <p:spPr>
          <a:xfrm xmlns:a="http://schemas.openxmlformats.org/drawingml/2006/main">
            <a:off x="85725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Документы</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из Git</a:t>
            </a:r>
          </a:p>
        </p:txBody>
      </p:sp>
      <p:sp>
        <p:nvSpPr>
          <p:cNvPr id="14" name="Описание шага 1">
            <a:extLst xmlns:a="http://schemas.openxmlformats.org/drawingml/2006/main">
              <a:ext uri="{FF2B5EF4-FFF2-40B4-BE49-F238E27FC236}">
                <a16:creationId xmlns:a16="http://schemas.microsoft.com/office/drawing/2014/main" id="{25575F05-3CD7-4F1A-887C-F9D2B1DCCC7D}"/>
              </a:ext>
            </a:extLst>
          </p:cNvPr>
          <p:cNvSpPr>
            <a:spLocks xmlns:a="http://schemas.openxmlformats.org/drawingml/2006/main" noGrp="1"/>
          </p:cNvSpPr>
          <p:nvPr/>
        </p:nvSpPr>
        <p:spPr>
          <a:xfrm xmlns:a="http://schemas.openxmlformats.org/drawingml/2006/main">
            <a:off x="92392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SSOT · OpenSpec · ADR</a:t>
            </a:r>
          </a:p>
        </p:txBody>
      </p:sp>
      <p:sp>
        <p:nvSpPr>
          <p:cNvPr id="15" name="Шаг 2">
            <a:extLst xmlns:a="http://schemas.openxmlformats.org/drawingml/2006/main">
              <a:ext uri="{FF2B5EF4-FFF2-40B4-BE49-F238E27FC236}">
                <a16:creationId xmlns:a16="http://schemas.microsoft.com/office/drawing/2014/main" id="{575DCF8B-2DA4-4E6E-A71D-CCA7CC923F16}"/>
              </a:ext>
            </a:extLst>
          </p:cNvPr>
          <p:cNvSpPr>
            <a:spLocks xmlns:a="http://schemas.openxmlformats.org/drawingml/2006/main" noGrp="1"/>
          </p:cNvSpPr>
          <p:nvPr/>
        </p:nvSpPr>
        <p:spPr>
          <a:xfrm xmlns:a="http://schemas.openxmlformats.org/drawingml/2006/main">
            <a:off x="360807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16" name="Акцент шага 2">
            <a:extLst xmlns:a="http://schemas.openxmlformats.org/drawingml/2006/main">
              <a:ext uri="{FF2B5EF4-FFF2-40B4-BE49-F238E27FC236}">
                <a16:creationId xmlns:a16="http://schemas.microsoft.com/office/drawing/2014/main" id="{4DC51EA3-800F-4044-BA63-1B3EB880DDC3}"/>
              </a:ext>
            </a:extLst>
          </p:cNvPr>
          <p:cNvSpPr>
            <a:spLocks xmlns:a="http://schemas.openxmlformats.org/drawingml/2006/main" noGrp="1"/>
          </p:cNvSpPr>
          <p:nvPr/>
        </p:nvSpPr>
        <p:spPr>
          <a:xfrm xmlns:a="http://schemas.openxmlformats.org/drawingml/2006/main">
            <a:off x="3836670" y="3333750"/>
            <a:ext cx="187452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7" name="Название шага 2">
            <a:extLst xmlns:a="http://schemas.openxmlformats.org/drawingml/2006/main">
              <a:ext uri="{FF2B5EF4-FFF2-40B4-BE49-F238E27FC236}">
                <a16:creationId xmlns:a16="http://schemas.microsoft.com/office/drawing/2014/main" id="{86D1B667-9373-453D-8125-15A10ADDD18E}"/>
              </a:ext>
            </a:extLst>
          </p:cNvPr>
          <p:cNvSpPr>
            <a:spLocks xmlns:a="http://schemas.openxmlformats.org/drawingml/2006/main" noGrp="1"/>
          </p:cNvSpPr>
          <p:nvPr/>
        </p:nvSpPr>
        <p:spPr>
          <a:xfrm xmlns:a="http://schemas.openxmlformats.org/drawingml/2006/main">
            <a:off x="370332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Нормализация</a:t>
            </a:r>
          </a:p>
        </p:txBody>
      </p:sp>
      <p:sp>
        <p:nvSpPr>
          <p:cNvPr id="18" name="Описание шага 2">
            <a:extLst xmlns:a="http://schemas.openxmlformats.org/drawingml/2006/main">
              <a:ext uri="{FF2B5EF4-FFF2-40B4-BE49-F238E27FC236}">
                <a16:creationId xmlns:a16="http://schemas.microsoft.com/office/drawing/2014/main" id="{EC602455-BEAE-45B6-84AD-DA2832D4542C}"/>
              </a:ext>
            </a:extLst>
          </p:cNvPr>
          <p:cNvSpPr>
            <a:spLocks xmlns:a="http://schemas.openxmlformats.org/drawingml/2006/main" noGrp="1"/>
          </p:cNvSpPr>
          <p:nvPr/>
        </p:nvSpPr>
        <p:spPr>
          <a:xfrm xmlns:a="http://schemas.openxmlformats.org/drawingml/2006/main">
            <a:off x="376999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заголовки · таблицы · блоки кода</a:t>
            </a:r>
          </a:p>
        </p:txBody>
      </p:sp>
      <p:sp>
        <p:nvSpPr>
          <p:cNvPr id="19" name="Шаг 3">
            <a:extLst xmlns:a="http://schemas.openxmlformats.org/drawingml/2006/main">
              <a:ext uri="{FF2B5EF4-FFF2-40B4-BE49-F238E27FC236}">
                <a16:creationId xmlns:a16="http://schemas.microsoft.com/office/drawing/2014/main" id="{E87DE670-26CD-459D-8FF8-75CA22131AC1}"/>
              </a:ext>
            </a:extLst>
          </p:cNvPr>
          <p:cNvSpPr>
            <a:spLocks xmlns:a="http://schemas.openxmlformats.org/drawingml/2006/main" noGrp="1"/>
          </p:cNvSpPr>
          <p:nvPr/>
        </p:nvSpPr>
        <p:spPr>
          <a:xfrm xmlns:a="http://schemas.openxmlformats.org/drawingml/2006/main">
            <a:off x="645414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0" name="Акцент шага 3">
            <a:extLst xmlns:a="http://schemas.openxmlformats.org/drawingml/2006/main">
              <a:ext uri="{FF2B5EF4-FFF2-40B4-BE49-F238E27FC236}">
                <a16:creationId xmlns:a16="http://schemas.microsoft.com/office/drawing/2014/main" id="{7E59DDE0-AADE-4425-ADE8-C6184F7DC9B4}"/>
              </a:ext>
            </a:extLst>
          </p:cNvPr>
          <p:cNvSpPr>
            <a:spLocks xmlns:a="http://schemas.openxmlformats.org/drawingml/2006/main" noGrp="1"/>
          </p:cNvSpPr>
          <p:nvPr/>
        </p:nvSpPr>
        <p:spPr>
          <a:xfrm xmlns:a="http://schemas.openxmlformats.org/drawingml/2006/main">
            <a:off x="6682740" y="3333750"/>
            <a:ext cx="187452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1" name="Название шага 3">
            <a:extLst xmlns:a="http://schemas.openxmlformats.org/drawingml/2006/main">
              <a:ext uri="{FF2B5EF4-FFF2-40B4-BE49-F238E27FC236}">
                <a16:creationId xmlns:a16="http://schemas.microsoft.com/office/drawing/2014/main" id="{A5A67796-F21D-43E6-84EC-0A183484BA55}"/>
              </a:ext>
            </a:extLst>
          </p:cNvPr>
          <p:cNvSpPr>
            <a:spLocks xmlns:a="http://schemas.openxmlformats.org/drawingml/2006/main" noGrp="1"/>
          </p:cNvSpPr>
          <p:nvPr/>
        </p:nvSpPr>
        <p:spPr>
          <a:xfrm xmlns:a="http://schemas.openxmlformats.org/drawingml/2006/main">
            <a:off x="654939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Фрагменты</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с паспортом</a:t>
            </a:r>
          </a:p>
        </p:txBody>
      </p:sp>
      <p:sp>
        <p:nvSpPr>
          <p:cNvPr id="22" name="Описание шага 3">
            <a:extLst xmlns:a="http://schemas.openxmlformats.org/drawingml/2006/main">
              <a:ext uri="{FF2B5EF4-FFF2-40B4-BE49-F238E27FC236}">
                <a16:creationId xmlns:a16="http://schemas.microsoft.com/office/drawing/2014/main" id="{EA6E2BBD-0E6C-4E03-B87C-51BC10235BF8}"/>
              </a:ext>
            </a:extLst>
          </p:cNvPr>
          <p:cNvSpPr>
            <a:spLocks xmlns:a="http://schemas.openxmlformats.org/drawingml/2006/main" noGrp="1"/>
          </p:cNvSpPr>
          <p:nvPr/>
        </p:nvSpPr>
        <p:spPr>
          <a:xfrm xmlns:a="http://schemas.openxmlformats.org/drawingml/2006/main">
            <a:off x="661606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сервис · источник · метаданные</a:t>
            </a:r>
          </a:p>
        </p:txBody>
      </p:sp>
      <p:sp>
        <p:nvSpPr>
          <p:cNvPr id="23" name="Шаг 4">
            <a:extLst xmlns:a="http://schemas.openxmlformats.org/drawingml/2006/main">
              <a:ext uri="{FF2B5EF4-FFF2-40B4-BE49-F238E27FC236}">
                <a16:creationId xmlns:a16="http://schemas.microsoft.com/office/drawing/2014/main" id="{E777C1D3-3E26-42B5-876B-FA27FA449D9C}"/>
              </a:ext>
            </a:extLst>
          </p:cNvPr>
          <p:cNvSpPr>
            <a:spLocks xmlns:a="http://schemas.openxmlformats.org/drawingml/2006/main" noGrp="1"/>
          </p:cNvSpPr>
          <p:nvPr/>
        </p:nvSpPr>
        <p:spPr>
          <a:xfrm xmlns:a="http://schemas.openxmlformats.org/drawingml/2006/main">
            <a:off x="930021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4" name="Акцент шага 4">
            <a:extLst xmlns:a="http://schemas.openxmlformats.org/drawingml/2006/main">
              <a:ext uri="{FF2B5EF4-FFF2-40B4-BE49-F238E27FC236}">
                <a16:creationId xmlns:a16="http://schemas.microsoft.com/office/drawing/2014/main" id="{F5C4E953-9F14-429D-927E-688F92F6DAF6}"/>
              </a:ext>
            </a:extLst>
          </p:cNvPr>
          <p:cNvSpPr>
            <a:spLocks xmlns:a="http://schemas.openxmlformats.org/drawingml/2006/main" noGrp="1"/>
          </p:cNvSpPr>
          <p:nvPr/>
        </p:nvSpPr>
        <p:spPr>
          <a:xfrm xmlns:a="http://schemas.openxmlformats.org/drawingml/2006/main">
            <a:off x="9528810" y="3333750"/>
            <a:ext cx="187452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5" name="Название шага 4">
            <a:extLst xmlns:a="http://schemas.openxmlformats.org/drawingml/2006/main">
              <a:ext uri="{FF2B5EF4-FFF2-40B4-BE49-F238E27FC236}">
                <a16:creationId xmlns:a16="http://schemas.microsoft.com/office/drawing/2014/main" id="{BCD6164C-3977-4187-8BA1-2E95A91A4CFB}"/>
              </a:ext>
            </a:extLst>
          </p:cNvPr>
          <p:cNvSpPr>
            <a:spLocks xmlns:a="http://schemas.openxmlformats.org/drawingml/2006/main" noGrp="1"/>
          </p:cNvSpPr>
          <p:nvPr/>
        </p:nvSpPr>
        <p:spPr>
          <a:xfrm xmlns:a="http://schemas.openxmlformats.org/drawingml/2006/main">
            <a:off x="939546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Индексы</a:t>
            </a:r>
          </a:p>
        </p:txBody>
      </p:sp>
      <p:sp>
        <p:nvSpPr>
          <p:cNvPr id="26" name="Описание шага 4">
            <a:extLst xmlns:a="http://schemas.openxmlformats.org/drawingml/2006/main">
              <a:ext uri="{FF2B5EF4-FFF2-40B4-BE49-F238E27FC236}">
                <a16:creationId xmlns:a16="http://schemas.microsoft.com/office/drawing/2014/main" id="{3B5D9E64-2042-46F8-B6BE-560C218C57BC}"/>
              </a:ext>
            </a:extLst>
          </p:cNvPr>
          <p:cNvSpPr>
            <a:spLocks xmlns:a="http://schemas.openxmlformats.org/drawingml/2006/main" noGrp="1"/>
          </p:cNvSpPr>
          <p:nvPr/>
        </p:nvSpPr>
        <p:spPr>
          <a:xfrm xmlns:a="http://schemas.openxmlformats.org/drawingml/2006/main">
            <a:off x="946213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по сервисам и доменам</a:t>
            </a:r>
          </a:p>
        </p:txBody>
      </p:sp>
      <p:sp>
        <p:nvSpPr>
          <p:cNvPr id="27" name="Шаг 5">
            <a:extLst xmlns:a="http://schemas.openxmlformats.org/drawingml/2006/main">
              <a:ext uri="{FF2B5EF4-FFF2-40B4-BE49-F238E27FC236}">
                <a16:creationId xmlns:a16="http://schemas.microsoft.com/office/drawing/2014/main" id="{0D076A03-B0C7-4A38-B2B3-433EF2E931E1}"/>
              </a:ext>
            </a:extLst>
          </p:cNvPr>
          <p:cNvSpPr>
            <a:spLocks xmlns:a="http://schemas.openxmlformats.org/drawingml/2006/main" noGrp="1"/>
          </p:cNvSpPr>
          <p:nvPr/>
        </p:nvSpPr>
        <p:spPr>
          <a:xfrm xmlns:a="http://schemas.openxmlformats.org/drawingml/2006/main">
            <a:off x="12146280" y="3333750"/>
            <a:ext cx="2331720" cy="2552700"/>
          </a:xfrm>
          <a:prstGeom xmlns:a="http://schemas.openxmlformats.org/drawingml/2006/main" prst="roundRect">
            <a:avLst>
              <a:gd name="adj" fmla="val 8170"/>
            </a:avLst>
          </a:prstGeom>
          <a:solidFill xmlns:a="http://schemas.openxmlformats.org/drawingml/2006/main">
            <a:srgbClr val="0D1B2C"/>
          </a:solidFill>
          <a:ln xmlns:a="http://schemas.openxmlformats.org/drawingml/2006/main" w="14288">
            <a:solidFill>
              <a:srgbClr val="28425A"/>
            </a:solidFill>
            <a:prstDash val="solid"/>
          </a:ln>
        </p:spPr>
      </p:sp>
      <p:sp>
        <p:nvSpPr>
          <p:cNvPr id="28" name="Акцент шага 5">
            <a:extLst xmlns:a="http://schemas.openxmlformats.org/drawingml/2006/main">
              <a:ext uri="{FF2B5EF4-FFF2-40B4-BE49-F238E27FC236}">
                <a16:creationId xmlns:a16="http://schemas.microsoft.com/office/drawing/2014/main" id="{2AFFF640-D66D-4963-8004-CD1AE1B0863A}"/>
              </a:ext>
            </a:extLst>
          </p:cNvPr>
          <p:cNvSpPr>
            <a:spLocks xmlns:a="http://schemas.openxmlformats.org/drawingml/2006/main" noGrp="1"/>
          </p:cNvSpPr>
          <p:nvPr/>
        </p:nvSpPr>
        <p:spPr>
          <a:xfrm xmlns:a="http://schemas.openxmlformats.org/drawingml/2006/main">
            <a:off x="12374880" y="3333750"/>
            <a:ext cx="187452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9" name="Название шага 5">
            <a:extLst xmlns:a="http://schemas.openxmlformats.org/drawingml/2006/main">
              <a:ext uri="{FF2B5EF4-FFF2-40B4-BE49-F238E27FC236}">
                <a16:creationId xmlns:a16="http://schemas.microsoft.com/office/drawing/2014/main" id="{3DC3FBDD-1511-409F-B8CA-1612D055181A}"/>
              </a:ext>
            </a:extLst>
          </p:cNvPr>
          <p:cNvSpPr>
            <a:spLocks xmlns:a="http://schemas.openxmlformats.org/drawingml/2006/main" noGrp="1"/>
          </p:cNvSpPr>
          <p:nvPr/>
        </p:nvSpPr>
        <p:spPr>
          <a:xfrm xmlns:a="http://schemas.openxmlformats.org/drawingml/2006/main">
            <a:off x="12241530" y="3648075"/>
            <a:ext cx="214122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Поиск</a:t>
            </a:r>
          </a:p>
          <a:p xmlns:a="http://schemas.openxmlformats.org/drawingml/2006/main">
            <a:pPr algn="ctr">
              <a:spcBef>
                <a:spcPts val="0"/>
              </a:spcBef>
              <a:spcAft>
                <a:spcPts val="0"/>
              </a:spcAft>
              <a:buNone/>
              <a:defRPr sz="2175" b="1">
                <a:solidFill>
                  <a:srgbClr val="F4F8FB"/>
                </a:solidFill>
                <a:latin typeface="Arial"/>
                <a:ea typeface="Arial"/>
                <a:cs typeface="Arial"/>
              </a:defRPr>
            </a:pPr>
            <a:r>
              <a:rPr sz="2175" b="1">
                <a:solidFill>
                  <a:srgbClr val="F4F8FB"/>
                </a:solidFill>
                <a:latin typeface="Arial"/>
                <a:ea typeface="Arial"/>
                <a:cs typeface="Arial"/>
              </a:rPr>
              <a:t>с evidence</a:t>
            </a:r>
          </a:p>
        </p:txBody>
      </p:sp>
      <p:sp>
        <p:nvSpPr>
          <p:cNvPr id="30" name="Описание шага 5">
            <a:extLst xmlns:a="http://schemas.openxmlformats.org/drawingml/2006/main">
              <a:ext uri="{FF2B5EF4-FFF2-40B4-BE49-F238E27FC236}">
                <a16:creationId xmlns:a16="http://schemas.microsoft.com/office/drawing/2014/main" id="{9E46AD72-C574-4F12-8D9D-99E5CFB7FD99}"/>
              </a:ext>
            </a:extLst>
          </p:cNvPr>
          <p:cNvSpPr>
            <a:spLocks xmlns:a="http://schemas.openxmlformats.org/drawingml/2006/main" noGrp="1"/>
          </p:cNvSpPr>
          <p:nvPr/>
        </p:nvSpPr>
        <p:spPr>
          <a:xfrm xmlns:a="http://schemas.openxmlformats.org/drawingml/2006/main">
            <a:off x="12308205" y="4724400"/>
            <a:ext cx="200787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выдержка + ссылка на источник</a:t>
            </a:r>
          </a:p>
        </p:txBody>
      </p:sp>
      <p:sp>
        <p:nvSpPr>
          <p:cNvPr id="31" name="Акцент вывода">
            <a:extLst xmlns:a="http://schemas.openxmlformats.org/drawingml/2006/main">
              <a:ext uri="{FF2B5EF4-FFF2-40B4-BE49-F238E27FC236}">
                <a16:creationId xmlns:a16="http://schemas.microsoft.com/office/drawing/2014/main" id="{ABE17D7F-A6E7-4735-BC88-8F4DD79A1607}"/>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32" name="Ключевой вывод">
            <a:extLst xmlns:a="http://schemas.openxmlformats.org/drawingml/2006/main">
              <a:ext uri="{FF2B5EF4-FFF2-40B4-BE49-F238E27FC236}">
                <a16:creationId xmlns:a16="http://schemas.microsoft.com/office/drawing/2014/main" id="{48B9F589-B296-459C-A41F-0C2AC661B47F}"/>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Происхождение сохраняется: </a:t>
            </a:r>
            <a:r>
              <a:rPr sz="1800" b="0">
                <a:solidFill>
                  <a:srgbClr val="A4B8C9"/>
                </a:solidFill>
                <a:latin typeface="Arial"/>
                <a:ea typeface="Arial"/>
                <a:cs typeface="Arial"/>
              </a:rPr>
              <a:t>текст связан с источником и его метаданными. Сгенерированный SSOT тоже может попасть в индекс — наличие ссылки само по себе не доказывает достоверность.</a:t>
            </a:r>
          </a:p>
        </p:txBody>
      </p:sp>
    </p:spTree>
    <p:extLst>
      <p:ext uri="{BB962C8B-B14F-4D97-AF65-F5344CB8AC3E}">
        <p14:creationId xmlns:p14="http://schemas.microsoft.com/office/powerpoint/2010/main" val="1702395792"/>
      </p:ext>
    </p:extLst>
  </p:cSld>
</p:sld>
</file>

<file path=ppt/slides/slide8.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D5050F18-84B1-457F-9450-43893FB5598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E9A113B-048B-42F6-815C-A2F593CDCABA}"/>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05A7392F-2938-4551-B297-5717388461D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C349A9D-BB38-419F-9523-4CE3B82394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08 / 27</a:t>
            </a:r>
          </a:p>
        </p:txBody>
      </p:sp>
      <p:sp>
        <p:nvSpPr>
          <p:cNvPr id="5" name="Надзаголовок">
            <a:extLst xmlns:a="http://schemas.openxmlformats.org/drawingml/2006/main">
              <a:ext uri="{FF2B5EF4-FFF2-40B4-BE49-F238E27FC236}">
                <a16:creationId xmlns:a16="http://schemas.microsoft.com/office/drawing/2014/main" id="{431D19BF-873B-48F2-9240-18451B301DFB}"/>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ДОКУМЕНТЫ OPENSPEC</a:t>
            </a:r>
          </a:p>
        </p:txBody>
      </p:sp>
      <p:sp>
        <p:nvSpPr>
          <p:cNvPr id="6" name="Заголовок">
            <a:extLst xmlns:a="http://schemas.openxmlformats.org/drawingml/2006/main">
              <a:ext uri="{FF2B5EF4-FFF2-40B4-BE49-F238E27FC236}">
                <a16:creationId xmlns:a16="http://schemas.microsoft.com/office/drawing/2014/main" id="{2641AFE6-4BAB-4BE4-B63E-C43AA0E86EB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Как OpenSpec попадает</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в базу знаний</a:t>
            </a:r>
          </a:p>
        </p:txBody>
      </p:sp>
      <p:sp>
        <p:nvSpPr>
          <p:cNvPr id="7" name="Акцент колонки 0">
            <a:extLst xmlns:a="http://schemas.openxmlformats.org/drawingml/2006/main">
              <a:ext uri="{FF2B5EF4-FFF2-40B4-BE49-F238E27FC236}">
                <a16:creationId xmlns:a16="http://schemas.microsoft.com/office/drawing/2014/main" id="{FCC5753A-0B2E-441B-B162-6F926B3FABA6}"/>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306E2077-04FD-4C66-8B4B-AE67B934CFE7}"/>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Находим openspec</a:t>
            </a:r>
          </a:p>
        </p:txBody>
      </p:sp>
      <p:sp>
        <p:nvSpPr>
          <p:cNvPr id="9" name="Текст колонки 0">
            <a:extLst xmlns:a="http://schemas.openxmlformats.org/drawingml/2006/main">
              <a:ext uri="{FF2B5EF4-FFF2-40B4-BE49-F238E27FC236}">
                <a16:creationId xmlns:a16="http://schemas.microsoft.com/office/drawing/2014/main" id="{2E9BD4A8-24EC-4926-A942-58B327067754}"/>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Импорт репозитория ищет каталоги openspec, в том числе внутри модулей. Это источник спецификаций, не отдельная база.</a:t>
            </a:r>
          </a:p>
        </p:txBody>
      </p:sp>
      <p:sp>
        <p:nvSpPr>
          <p:cNvPr id="10" name="Акцент колонки 1">
            <a:extLst xmlns:a="http://schemas.openxmlformats.org/drawingml/2006/main">
              <a:ext uri="{FF2B5EF4-FFF2-40B4-BE49-F238E27FC236}">
                <a16:creationId xmlns:a16="http://schemas.microsoft.com/office/drawing/2014/main" id="{D704E1A7-4860-4B6F-A48B-7ADC351C7491}"/>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21ABC826-0634-4363-B745-966451558073}"/>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Копируем документы</a:t>
            </a:r>
          </a:p>
        </p:txBody>
      </p:sp>
      <p:sp>
        <p:nvSpPr>
          <p:cNvPr id="12" name="Текст колонки 1">
            <a:extLst xmlns:a="http://schemas.openxmlformats.org/drawingml/2006/main">
              <a:ext uri="{FF2B5EF4-FFF2-40B4-BE49-F238E27FC236}">
                <a16:creationId xmlns:a16="http://schemas.microsoft.com/office/drawing/2014/main" id="{354B574D-3736-4E22-8C2A-883EE0B916F0}"/>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Поддерживаемые текстовые файлы копируются в knowledge выбранного индекса с сохранением структуры модулей.</a:t>
            </a:r>
          </a:p>
        </p:txBody>
      </p:sp>
      <p:sp>
        <p:nvSpPr>
          <p:cNvPr id="13" name="Акцент колонки 2">
            <a:extLst xmlns:a="http://schemas.openxmlformats.org/drawingml/2006/main">
              <a:ext uri="{FF2B5EF4-FFF2-40B4-BE49-F238E27FC236}">
                <a16:creationId xmlns:a16="http://schemas.microsoft.com/office/drawing/2014/main" id="{90D1F877-C367-45A3-8424-C5CA59D83DC0}"/>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787E45A8-5FFC-49DA-B364-DF56FD8782F2}"/>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Строим RAG-индекс</a:t>
            </a:r>
          </a:p>
        </p:txBody>
      </p:sp>
      <p:sp>
        <p:nvSpPr>
          <p:cNvPr id="15" name="Текст колонки 2">
            <a:extLst xmlns:a="http://schemas.openxmlformats.org/drawingml/2006/main">
              <a:ext uri="{FF2B5EF4-FFF2-40B4-BE49-F238E27FC236}">
                <a16:creationId xmlns:a16="http://schemas.microsoft.com/office/drawing/2014/main" id="{DB47B5BF-9B93-429B-A116-9FAB1A2320BD}"/>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Нормализация → чанки → векторы. Построение графа исходников запускается отдельно от обработки документов.</a:t>
            </a:r>
          </a:p>
        </p:txBody>
      </p:sp>
      <p:sp>
        <p:nvSpPr>
          <p:cNvPr id="16" name="Акцент вывода">
            <a:extLst xmlns:a="http://schemas.openxmlformats.org/drawingml/2006/main">
              <a:ext uri="{FF2B5EF4-FFF2-40B4-BE49-F238E27FC236}">
                <a16:creationId xmlns:a16="http://schemas.microsoft.com/office/drawing/2014/main" id="{EC13A138-188B-4646-9C92-371CABB45556}"/>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D0C0605F-0DAD-4F65-A340-67AB59F4AF81}"/>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Здесь OpenSpec — документация из репозитория. </a:t>
            </a:r>
            <a:r>
              <a:rPr sz="1800" b="0">
                <a:solidFill>
                  <a:srgbClr val="A4B8C9"/>
                </a:solidFill>
                <a:latin typeface="Arial"/>
                <a:ea typeface="Arial"/>
                <a:cs typeface="Arial"/>
              </a:rPr>
              <a:t>Импорт не запускает OpenSpec CLI и сам по себе не выполняет SDD-процесс.</a:t>
            </a:r>
          </a:p>
        </p:txBody>
      </p:sp>
    </p:spTree>
    <p:extLst>
      <p:ext uri="{BB962C8B-B14F-4D97-AF65-F5344CB8AC3E}">
        <p14:creationId xmlns:p14="http://schemas.microsoft.com/office/powerpoint/2010/main" val="1766361801"/>
      </p:ext>
    </p:extLst>
  </p:cSld>
</p:sld>
</file>

<file path=ppt/slides/slide9.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4" name="Рамка слайда">
            <a:extLst xmlns:a="http://schemas.openxmlformats.org/drawingml/2006/main">
              <a:ext uri="{FF2B5EF4-FFF2-40B4-BE49-F238E27FC236}">
                <a16:creationId xmlns:a16="http://schemas.microsoft.com/office/drawing/2014/main" id="{551FA674-12C2-45BA-B688-7310C78A154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FB69621D-7554-43D4-9522-75DCA5316D32}"/>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87564B28-9C84-4568-AA56-0D9EB7F495CF}"/>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C96E9273-5D59-45A6-B8A6-DB53A31A89C9}"/>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09 / 27</a:t>
            </a:r>
          </a:p>
        </p:txBody>
      </p:sp>
      <p:sp>
        <p:nvSpPr>
          <p:cNvPr id="5" name="Надзаголовок">
            <a:extLst xmlns:a="http://schemas.openxmlformats.org/drawingml/2006/main">
              <a:ext uri="{FF2B5EF4-FFF2-40B4-BE49-F238E27FC236}">
                <a16:creationId xmlns:a16="http://schemas.microsoft.com/office/drawing/2014/main" id="{0A8150E2-F526-402F-8C0C-DF92D228D0B7}"/>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ОТ ДОКУМЕНТА К ЧАНКУ</a:t>
            </a:r>
          </a:p>
        </p:txBody>
      </p:sp>
      <p:sp>
        <p:nvSpPr>
          <p:cNvPr id="6" name="Заголовок">
            <a:extLst xmlns:a="http://schemas.openxmlformats.org/drawingml/2006/main">
              <a:ext uri="{FF2B5EF4-FFF2-40B4-BE49-F238E27FC236}">
                <a16:creationId xmlns:a16="http://schemas.microsoft.com/office/drawing/2014/main" id="{79C02273-395C-444E-AADD-C73212AFD60C}"/>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Что именно превращается</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в один вектор</a:t>
            </a:r>
          </a:p>
        </p:txBody>
      </p:sp>
      <p:sp>
        <p:nvSpPr>
          <p:cNvPr id="7" name="Переход графа 0">
            <a:extLst xmlns:a="http://schemas.openxmlformats.org/drawingml/2006/main">
              <a:ext uri="{FF2B5EF4-FFF2-40B4-BE49-F238E27FC236}">
                <a16:creationId xmlns:a16="http://schemas.microsoft.com/office/drawing/2014/main" id="{F70081FC-4399-4133-928F-14F267A9243D}"/>
              </a:ext>
            </a:extLst>
          </p:cNvPr>
          <p:cNvSpPr>
            <a:spLocks xmlns:a="http://schemas.openxmlformats.org/drawingml/2006/main" noGrp="1"/>
          </p:cNvSpPr>
          <p:nvPr/>
        </p:nvSpPr>
        <p:spPr>
          <a:xfrm xmlns:a="http://schemas.openxmlformats.org/drawingml/2006/main">
            <a:off x="3771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8" name="Переход графа 1">
            <a:extLst xmlns:a="http://schemas.openxmlformats.org/drawingml/2006/main">
              <a:ext uri="{FF2B5EF4-FFF2-40B4-BE49-F238E27FC236}">
                <a16:creationId xmlns:a16="http://schemas.microsoft.com/office/drawing/2014/main" id="{3912DC25-4DA7-44AC-ABD0-7A8C3E02A5B3}"/>
              </a:ext>
            </a:extLst>
          </p:cNvPr>
          <p:cNvSpPr>
            <a:spLocks xmlns:a="http://schemas.openxmlformats.org/drawingml/2006/main" noGrp="1"/>
          </p:cNvSpPr>
          <p:nvPr/>
        </p:nvSpPr>
        <p:spPr>
          <a:xfrm xmlns:a="http://schemas.openxmlformats.org/drawingml/2006/main">
            <a:off x="73914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9" name="Переход графа 2">
            <a:extLst xmlns:a="http://schemas.openxmlformats.org/drawingml/2006/main">
              <a:ext uri="{FF2B5EF4-FFF2-40B4-BE49-F238E27FC236}">
                <a16:creationId xmlns:a16="http://schemas.microsoft.com/office/drawing/2014/main" id="{BD0732BE-814A-4149-AC8E-25096394102C}"/>
              </a:ext>
            </a:extLst>
          </p:cNvPr>
          <p:cNvSpPr>
            <a:spLocks xmlns:a="http://schemas.openxmlformats.org/drawingml/2006/main" noGrp="1"/>
          </p:cNvSpPr>
          <p:nvPr/>
        </p:nvSpPr>
        <p:spPr>
          <a:xfrm xmlns:a="http://schemas.openxmlformats.org/drawingml/2006/main">
            <a:off x="11010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10" name="Акцент этапа 0">
            <a:extLst xmlns:a="http://schemas.openxmlformats.org/drawingml/2006/main">
              <a:ext uri="{FF2B5EF4-FFF2-40B4-BE49-F238E27FC236}">
                <a16:creationId xmlns:a16="http://schemas.microsoft.com/office/drawing/2014/main" id="{F2575196-3E1B-44EA-BF26-0EECAEE90269}"/>
              </a:ext>
            </a:extLst>
          </p:cNvPr>
          <p:cNvSpPr>
            <a:spLocks xmlns:a="http://schemas.openxmlformats.org/drawingml/2006/main" noGrp="1"/>
          </p:cNvSpPr>
          <p:nvPr/>
        </p:nvSpPr>
        <p:spPr>
          <a:xfrm xmlns:a="http://schemas.openxmlformats.org/drawingml/2006/main">
            <a:off x="762000" y="3333750"/>
            <a:ext cx="2857500" cy="28575"/>
          </a:xfrm>
          <a:prstGeom xmlns:a="http://schemas.openxmlformats.org/drawingml/2006/main" prst="rect">
            <a:avLst/>
          </a:prstGeom>
          <a:solidFill xmlns:a="http://schemas.openxmlformats.org/drawingml/2006/main">
            <a:srgbClr val="A4B8C9"/>
          </a:solidFill>
          <a:ln xmlns:a="http://schemas.openxmlformats.org/drawingml/2006/main" w="0">
            <a:noFill/>
            <a:prstDash val="solid"/>
          </a:ln>
        </p:spPr>
      </p:sp>
      <p:sp>
        <p:nvSpPr>
          <p:cNvPr id="11" name="Этап графа 0">
            <a:extLst xmlns:a="http://schemas.openxmlformats.org/drawingml/2006/main">
              <a:ext uri="{FF2B5EF4-FFF2-40B4-BE49-F238E27FC236}">
                <a16:creationId xmlns:a16="http://schemas.microsoft.com/office/drawing/2014/main" id="{023935E9-C9F4-45D4-9171-CF2C67697A4F}"/>
              </a:ext>
            </a:extLst>
          </p:cNvPr>
          <p:cNvSpPr>
            <a:spLocks xmlns:a="http://schemas.openxmlformats.org/drawingml/2006/main" noGrp="1"/>
          </p:cNvSpPr>
          <p:nvPr/>
        </p:nvSpPr>
        <p:spPr>
          <a:xfrm xmlns:a="http://schemas.openxmlformats.org/drawingml/2006/main">
            <a:off x="762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Очищаем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документ</a:t>
            </a:r>
          </a:p>
        </p:txBody>
      </p:sp>
      <p:sp>
        <p:nvSpPr>
          <p:cNvPr id="12" name="Данные графа 0">
            <a:extLst xmlns:a="http://schemas.openxmlformats.org/drawingml/2006/main">
              <a:ext uri="{FF2B5EF4-FFF2-40B4-BE49-F238E27FC236}">
                <a16:creationId xmlns:a16="http://schemas.microsoft.com/office/drawing/2014/main" id="{7AB7F316-DD2A-4E37-8EAB-E510652A573D}"/>
              </a:ext>
            </a:extLst>
          </p:cNvPr>
          <p:cNvSpPr>
            <a:spLocks xmlns:a="http://schemas.openxmlformats.org/drawingml/2006/main" noGrp="1"/>
          </p:cNvSpPr>
          <p:nvPr/>
        </p:nvSpPr>
        <p:spPr>
          <a:xfrm xmlns:a="http://schemas.openxmlformats.org/drawingml/2006/main">
            <a:off x="762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HTML → Markdown; сохраняем заголовки, таблицы и блоки кода.</a:t>
            </a:r>
          </a:p>
        </p:txBody>
      </p:sp>
      <p:sp>
        <p:nvSpPr>
          <p:cNvPr id="13" name="Акцент этапа 1">
            <a:extLst xmlns:a="http://schemas.openxmlformats.org/drawingml/2006/main">
              <a:ext uri="{FF2B5EF4-FFF2-40B4-BE49-F238E27FC236}">
                <a16:creationId xmlns:a16="http://schemas.microsoft.com/office/drawing/2014/main" id="{0860E638-430F-472A-8D6E-380406E1EC03}"/>
              </a:ext>
            </a:extLst>
          </p:cNvPr>
          <p:cNvSpPr>
            <a:spLocks xmlns:a="http://schemas.openxmlformats.org/drawingml/2006/main" noGrp="1"/>
          </p:cNvSpPr>
          <p:nvPr/>
        </p:nvSpPr>
        <p:spPr>
          <a:xfrm xmlns:a="http://schemas.openxmlformats.org/drawingml/2006/main">
            <a:off x="4381500" y="3333750"/>
            <a:ext cx="28575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4" name="Этап графа 1">
            <a:extLst xmlns:a="http://schemas.openxmlformats.org/drawingml/2006/main">
              <a:ext uri="{FF2B5EF4-FFF2-40B4-BE49-F238E27FC236}">
                <a16:creationId xmlns:a16="http://schemas.microsoft.com/office/drawing/2014/main" id="{9F24E217-7BB9-4E7F-96F7-34F2BBB2B383}"/>
              </a:ext>
            </a:extLst>
          </p:cNvPr>
          <p:cNvSpPr>
            <a:spLocks xmlns:a="http://schemas.openxmlformats.org/drawingml/2006/main" noGrp="1"/>
          </p:cNvSpPr>
          <p:nvPr/>
        </p:nvSpPr>
        <p:spPr>
          <a:xfrm xmlns:a="http://schemas.openxmlformats.org/drawingml/2006/main">
            <a:off x="4381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Делим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по структуре</a:t>
            </a:r>
          </a:p>
        </p:txBody>
      </p:sp>
      <p:sp>
        <p:nvSpPr>
          <p:cNvPr id="15" name="Данные графа 1">
            <a:extLst xmlns:a="http://schemas.openxmlformats.org/drawingml/2006/main">
              <a:ext uri="{FF2B5EF4-FFF2-40B4-BE49-F238E27FC236}">
                <a16:creationId xmlns:a16="http://schemas.microsoft.com/office/drawing/2014/main" id="{01AF4E37-0279-48C7-93D2-D40597D1AE72}"/>
              </a:ext>
            </a:extLst>
          </p:cNvPr>
          <p:cNvSpPr>
            <a:spLocks xmlns:a="http://schemas.openxmlformats.org/drawingml/2006/main" noGrp="1"/>
          </p:cNvSpPr>
          <p:nvPr/>
        </p:nvSpPr>
        <p:spPr>
          <a:xfrm xmlns:a="http://schemas.openxmlformats.org/drawingml/2006/main">
            <a:off x="4381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Цель: 700 условных токенов; лимит 900; перекрытие 80. Параметры настраиваются.</a:t>
            </a:r>
          </a:p>
        </p:txBody>
      </p:sp>
      <p:sp>
        <p:nvSpPr>
          <p:cNvPr id="16" name="Акцент этапа 2">
            <a:extLst xmlns:a="http://schemas.openxmlformats.org/drawingml/2006/main">
              <a:ext uri="{FF2B5EF4-FFF2-40B4-BE49-F238E27FC236}">
                <a16:creationId xmlns:a16="http://schemas.microsoft.com/office/drawing/2014/main" id="{F615F3F9-3BF3-40E8-A274-B0D44ADD8EF4}"/>
              </a:ext>
            </a:extLst>
          </p:cNvPr>
          <p:cNvSpPr>
            <a:spLocks xmlns:a="http://schemas.openxmlformats.org/drawingml/2006/main" noGrp="1"/>
          </p:cNvSpPr>
          <p:nvPr/>
        </p:nvSpPr>
        <p:spPr>
          <a:xfrm xmlns:a="http://schemas.openxmlformats.org/drawingml/2006/main">
            <a:off x="8001000" y="3333750"/>
            <a:ext cx="28575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Этап графа 2">
            <a:extLst xmlns:a="http://schemas.openxmlformats.org/drawingml/2006/main">
              <a:ext uri="{FF2B5EF4-FFF2-40B4-BE49-F238E27FC236}">
                <a16:creationId xmlns:a16="http://schemas.microsoft.com/office/drawing/2014/main" id="{1054F0DE-E03B-4FE5-914D-E3789485C119}"/>
              </a:ext>
            </a:extLst>
          </p:cNvPr>
          <p:cNvSpPr>
            <a:spLocks xmlns:a="http://schemas.openxmlformats.org/drawingml/2006/main" noGrp="1"/>
          </p:cNvSpPr>
          <p:nvPr/>
        </p:nvSpPr>
        <p:spPr>
          <a:xfrm xmlns:a="http://schemas.openxmlformats.org/drawingml/2006/main">
            <a:off x="8001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Добавляем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контекст</a:t>
            </a:r>
          </a:p>
        </p:txBody>
      </p:sp>
      <p:sp>
        <p:nvSpPr>
          <p:cNvPr id="18" name="Данные графа 2">
            <a:extLst xmlns:a="http://schemas.openxmlformats.org/drawingml/2006/main">
              <a:ext uri="{FF2B5EF4-FFF2-40B4-BE49-F238E27FC236}">
                <a16:creationId xmlns:a16="http://schemas.microsoft.com/office/drawing/2014/main" id="{FA15BB49-2691-4E91-B062-10F761EA68F7}"/>
              </a:ext>
            </a:extLst>
          </p:cNvPr>
          <p:cNvSpPr>
            <a:spLocks xmlns:a="http://schemas.openxmlformats.org/drawingml/2006/main" noGrp="1"/>
          </p:cNvSpPr>
          <p:nvPr/>
        </p:nvSpPr>
        <p:spPr>
          <a:xfrm xmlns:a="http://schemas.openxmlformats.org/drawingml/2006/main">
            <a:off x="8001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 тексту: Document, Section, Document type, Service, Domain, Authority.</a:t>
            </a:r>
          </a:p>
        </p:txBody>
      </p:sp>
      <p:sp>
        <p:nvSpPr>
          <p:cNvPr id="19" name="Акцент этапа 3">
            <a:extLst xmlns:a="http://schemas.openxmlformats.org/drawingml/2006/main">
              <a:ext uri="{FF2B5EF4-FFF2-40B4-BE49-F238E27FC236}">
                <a16:creationId xmlns:a16="http://schemas.microsoft.com/office/drawing/2014/main" id="{1D1BB226-2B83-4735-8F76-26E50D32FF60}"/>
              </a:ext>
            </a:extLst>
          </p:cNvPr>
          <p:cNvSpPr>
            <a:spLocks xmlns:a="http://schemas.openxmlformats.org/drawingml/2006/main" noGrp="1"/>
          </p:cNvSpPr>
          <p:nvPr/>
        </p:nvSpPr>
        <p:spPr>
          <a:xfrm xmlns:a="http://schemas.openxmlformats.org/drawingml/2006/main">
            <a:off x="11620500" y="3333750"/>
            <a:ext cx="28575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0" name="Этап графа 3">
            <a:extLst xmlns:a="http://schemas.openxmlformats.org/drawingml/2006/main">
              <a:ext uri="{FF2B5EF4-FFF2-40B4-BE49-F238E27FC236}">
                <a16:creationId xmlns:a16="http://schemas.microsoft.com/office/drawing/2014/main" id="{F19080D8-62FA-4CE2-9E7F-9F73084E7F4D}"/>
              </a:ext>
            </a:extLst>
          </p:cNvPr>
          <p:cNvSpPr>
            <a:spLocks xmlns:a="http://schemas.openxmlformats.org/drawingml/2006/main" noGrp="1"/>
          </p:cNvSpPr>
          <p:nvPr/>
        </p:nvSpPr>
        <p:spPr>
          <a:xfrm xmlns:a="http://schemas.openxmlformats.org/drawingml/2006/main">
            <a:off x="11620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Вызываем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провайдер</a:t>
            </a:r>
          </a:p>
        </p:txBody>
      </p:sp>
      <p:sp>
        <p:nvSpPr>
          <p:cNvPr id="21" name="Данные графа 3">
            <a:extLst xmlns:a="http://schemas.openxmlformats.org/drawingml/2006/main">
              <a:ext uri="{FF2B5EF4-FFF2-40B4-BE49-F238E27FC236}">
                <a16:creationId xmlns:a16="http://schemas.microsoft.com/office/drawing/2014/main" id="{DD2FDFF0-4436-46EE-9909-B4229A10FCC4}"/>
              </a:ext>
            </a:extLst>
          </p:cNvPr>
          <p:cNvSpPr>
            <a:spLocks xmlns:a="http://schemas.openxmlformats.org/drawingml/2006/main" noGrp="1"/>
          </p:cNvSpPr>
          <p:nvPr/>
        </p:nvSpPr>
        <p:spPr>
          <a:xfrm xmlns:a="http://schemas.openxmlformats.org/drawingml/2006/main">
            <a:off x="11620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На вход идёт embedding_text. На выходе — один вектор для каждого чанка.</a:t>
            </a:r>
          </a:p>
        </p:txBody>
      </p:sp>
      <p:sp>
        <p:nvSpPr>
          <p:cNvPr id="22" name="Акцент вывода">
            <a:extLst xmlns:a="http://schemas.openxmlformats.org/drawingml/2006/main">
              <a:ext uri="{FF2B5EF4-FFF2-40B4-BE49-F238E27FC236}">
                <a16:creationId xmlns:a16="http://schemas.microsoft.com/office/drawing/2014/main" id="{E276D912-2576-432D-9D2B-7D1BF6F80377}"/>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3" name="Ключевой вывод">
            <a:extLst xmlns:a="http://schemas.openxmlformats.org/drawingml/2006/main">
              <a:ext uri="{FF2B5EF4-FFF2-40B4-BE49-F238E27FC236}">
                <a16:creationId xmlns:a16="http://schemas.microsoft.com/office/drawing/2014/main" id="{5E77864F-A6DA-44CA-9FB1-D65661C56B5D}"/>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700 / 900 / 80 — оценка по regex, а не токенизатор LLM. </a:t>
            </a:r>
            <a:r>
              <a:rPr sz="1800" b="0">
                <a:solidFill>
                  <a:srgbClr val="A4B8C9"/>
                </a:solidFill>
                <a:latin typeface="Arial"/>
                <a:ea typeface="Arial"/>
                <a:cs typeface="Arial"/>
              </a:rPr>
              <a:t>Таблицы и блоки кода не разрезаются и могут превышать лимит 900.</a:t>
            </a:r>
          </a:p>
        </p:txBody>
      </p:sp>
    </p:spTree>
    <p:extLst>
      <p:ext uri="{BB962C8B-B14F-4D97-AF65-F5344CB8AC3E}">
        <p14:creationId xmlns:p14="http://schemas.microsoft.com/office/powerpoint/2010/main" val="1557549246"/>
      </p:ext>
    </p:extLst>
  </p:cSld>
</p:sld>
</file>

<file path=ppt/slides/slide10.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5" name="Рамка слайда">
            <a:extLst xmlns:a="http://schemas.openxmlformats.org/drawingml/2006/main">
              <a:ext uri="{FF2B5EF4-FFF2-40B4-BE49-F238E27FC236}">
                <a16:creationId xmlns:a16="http://schemas.microsoft.com/office/drawing/2014/main" id="{5477170D-BBB0-4964-B636-D6FA7F6850C5}"/>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B73039C8-C43E-484A-A31B-563E000EA6EB}"/>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42E3504B-DD31-400C-AA8E-07557257A009}"/>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F12AD316-5644-4BF3-A8AB-359CCAFE1833}"/>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10 / 27</a:t>
            </a:r>
          </a:p>
        </p:txBody>
      </p:sp>
      <p:sp>
        <p:nvSpPr>
          <p:cNvPr id="5" name="Надзаголовок">
            <a:extLst xmlns:a="http://schemas.openxmlformats.org/drawingml/2006/main">
              <a:ext uri="{FF2B5EF4-FFF2-40B4-BE49-F238E27FC236}">
                <a16:creationId xmlns:a16="http://schemas.microsoft.com/office/drawing/2014/main" id="{C9899F87-5E3C-4BDE-A3C6-89931863D430}"/>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МЕХАНИЗМЫ ХЕШИРОВАНИЯ</a:t>
            </a:r>
          </a:p>
        </p:txBody>
      </p:sp>
      <p:sp>
        <p:nvSpPr>
          <p:cNvPr id="6" name="Заголовок">
            <a:extLst xmlns:a="http://schemas.openxmlformats.org/drawingml/2006/main">
              <a:ext uri="{FF2B5EF4-FFF2-40B4-BE49-F238E27FC236}">
                <a16:creationId xmlns:a16="http://schemas.microsoft.com/office/drawing/2014/main" id="{9C237CF6-737C-4581-AE6D-B5DDFE6B738E}"/>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Хеширование при индексации</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и лексическом поиске</a:t>
            </a:r>
          </a:p>
        </p:txBody>
      </p:sp>
      <p:sp>
        <p:nvSpPr>
          <p:cNvPr id="7" name="Акцент аудитории 0">
            <a:extLst xmlns:a="http://schemas.openxmlformats.org/drawingml/2006/main">
              <a:ext uri="{FF2B5EF4-FFF2-40B4-BE49-F238E27FC236}">
                <a16:creationId xmlns:a16="http://schemas.microsoft.com/office/drawing/2014/main" id="{9B9FED90-9110-46CF-9244-1143AD017D05}"/>
              </a:ext>
            </a:extLst>
          </p:cNvPr>
          <p:cNvSpPr>
            <a:spLocks xmlns:a="http://schemas.openxmlformats.org/drawingml/2006/main" noGrp="1"/>
          </p:cNvSpPr>
          <p:nvPr/>
        </p:nvSpPr>
        <p:spPr>
          <a:xfrm xmlns:a="http://schemas.openxmlformats.org/drawingml/2006/main">
            <a:off x="762000" y="3152775"/>
            <a:ext cx="645795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аудитории 0">
            <a:extLst xmlns:a="http://schemas.openxmlformats.org/drawingml/2006/main">
              <a:ext uri="{FF2B5EF4-FFF2-40B4-BE49-F238E27FC236}">
                <a16:creationId xmlns:a16="http://schemas.microsoft.com/office/drawing/2014/main" id="{7D1A096D-D82D-4E85-AA85-A1B7ECDEC3A0}"/>
              </a:ext>
            </a:extLst>
          </p:cNvPr>
          <p:cNvSpPr>
            <a:spLocks xmlns:a="http://schemas.openxmlformats.org/drawingml/2006/main" noGrp="1"/>
          </p:cNvSpPr>
          <p:nvPr/>
        </p:nvSpPr>
        <p:spPr>
          <a:xfrm xmlns:a="http://schemas.openxmlformats.org/drawingml/2006/main">
            <a:off x="76200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4D7FF"/>
                </a:solidFill>
                <a:latin typeface="Arial"/>
                <a:ea typeface="Arial"/>
                <a:cs typeface="Arial"/>
              </a:defRPr>
            </a:pPr>
            <a:r>
              <a:rPr sz="2850" b="1">
                <a:solidFill>
                  <a:srgbClr val="54D7FF"/>
                </a:solidFill>
                <a:latin typeface="Arial"/>
                <a:ea typeface="Arial"/>
                <a:cs typeface="Arial"/>
              </a:rPr>
              <a:t>Контроль изменений</a:t>
            </a:r>
          </a:p>
        </p:txBody>
      </p:sp>
      <p:sp>
        <p:nvSpPr>
          <p:cNvPr id="9" name="Маркер 0-0">
            <a:extLst xmlns:a="http://schemas.openxmlformats.org/drawingml/2006/main">
              <a:ext uri="{FF2B5EF4-FFF2-40B4-BE49-F238E27FC236}">
                <a16:creationId xmlns:a16="http://schemas.microsoft.com/office/drawing/2014/main" id="{01E842F6-69D4-48F8-B271-E2D53F2F5354}"/>
              </a:ext>
            </a:extLst>
          </p:cNvPr>
          <p:cNvSpPr>
            <a:spLocks xmlns:a="http://schemas.openxmlformats.org/drawingml/2006/main" noGrp="1"/>
          </p:cNvSpPr>
          <p:nvPr/>
        </p:nvSpPr>
        <p:spPr>
          <a:xfrm xmlns:a="http://schemas.openxmlformats.org/drawingml/2006/main">
            <a:off x="76200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0" name="Тезис 0-0">
            <a:extLst xmlns:a="http://schemas.openxmlformats.org/drawingml/2006/main">
              <a:ext uri="{FF2B5EF4-FFF2-40B4-BE49-F238E27FC236}">
                <a16:creationId xmlns:a16="http://schemas.microsoft.com/office/drawing/2014/main" id="{C1DAA065-858F-4E4A-BA8E-D779E7881E43}"/>
              </a:ext>
            </a:extLst>
          </p:cNvPr>
          <p:cNvSpPr>
            <a:spLocks xmlns:a="http://schemas.openxmlformats.org/drawingml/2006/main" noGrp="1"/>
          </p:cNvSpPr>
          <p:nvPr/>
        </p:nvSpPr>
        <p:spPr>
          <a:xfrm xmlns:a="http://schemas.openxmlformats.org/drawingml/2006/main">
            <a:off x="111442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У документа есть content hash.</a:t>
            </a:r>
          </a:p>
        </p:txBody>
      </p:sp>
      <p:sp>
        <p:nvSpPr>
          <p:cNvPr id="11" name="Маркер 0-1">
            <a:extLst xmlns:a="http://schemas.openxmlformats.org/drawingml/2006/main">
              <a:ext uri="{FF2B5EF4-FFF2-40B4-BE49-F238E27FC236}">
                <a16:creationId xmlns:a16="http://schemas.microsoft.com/office/drawing/2014/main" id="{04834A20-1384-4227-96C1-DB2D38204308}"/>
              </a:ext>
            </a:extLst>
          </p:cNvPr>
          <p:cNvSpPr>
            <a:spLocks xmlns:a="http://schemas.openxmlformats.org/drawingml/2006/main" noGrp="1"/>
          </p:cNvSpPr>
          <p:nvPr/>
        </p:nvSpPr>
        <p:spPr>
          <a:xfrm xmlns:a="http://schemas.openxmlformats.org/drawingml/2006/main">
            <a:off x="76200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2" name="Тезис 0-1">
            <a:extLst xmlns:a="http://schemas.openxmlformats.org/drawingml/2006/main">
              <a:ext uri="{FF2B5EF4-FFF2-40B4-BE49-F238E27FC236}">
                <a16:creationId xmlns:a16="http://schemas.microsoft.com/office/drawing/2014/main" id="{BF6D8544-DB89-42F9-AEF9-39556B3CEC45}"/>
              </a:ext>
            </a:extLst>
          </p:cNvPr>
          <p:cNvSpPr>
            <a:spLocks xmlns:a="http://schemas.openxmlformats.org/drawingml/2006/main" noGrp="1"/>
          </p:cNvSpPr>
          <p:nvPr/>
        </p:nvSpPr>
        <p:spPr>
          <a:xfrm xmlns:a="http://schemas.openxmlformats.org/drawingml/2006/main">
            <a:off x="111442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ID чанка зависит и от content hash всего документа.</a:t>
            </a:r>
          </a:p>
        </p:txBody>
      </p:sp>
      <p:sp>
        <p:nvSpPr>
          <p:cNvPr id="13" name="Маркер 0-2">
            <a:extLst xmlns:a="http://schemas.openxmlformats.org/drawingml/2006/main">
              <a:ext uri="{FF2B5EF4-FFF2-40B4-BE49-F238E27FC236}">
                <a16:creationId xmlns:a16="http://schemas.microsoft.com/office/drawing/2014/main" id="{D4B74DD9-85F6-46A9-BAC4-C6AD79B964B7}"/>
              </a:ext>
            </a:extLst>
          </p:cNvPr>
          <p:cNvSpPr>
            <a:spLocks xmlns:a="http://schemas.openxmlformats.org/drawingml/2006/main" noGrp="1"/>
          </p:cNvSpPr>
          <p:nvPr/>
        </p:nvSpPr>
        <p:spPr>
          <a:xfrm xmlns:a="http://schemas.openxmlformats.org/drawingml/2006/main">
            <a:off x="76200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4" name="Тезис 0-2">
            <a:extLst xmlns:a="http://schemas.openxmlformats.org/drawingml/2006/main">
              <a:ext uri="{FF2B5EF4-FFF2-40B4-BE49-F238E27FC236}">
                <a16:creationId xmlns:a16="http://schemas.microsoft.com/office/drawing/2014/main" id="{ADAFEA5E-0BE6-4F82-AB9A-F311540C8EE3}"/>
              </a:ext>
            </a:extLst>
          </p:cNvPr>
          <p:cNvSpPr>
            <a:spLocks xmlns:a="http://schemas.openxmlformats.org/drawingml/2006/main" noGrp="1"/>
          </p:cNvSpPr>
          <p:nvPr/>
        </p:nvSpPr>
        <p:spPr>
          <a:xfrm xmlns:a="http://schemas.openxmlformats.org/drawingml/2006/main">
            <a:off x="111442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Повторное использование — по chunk_id из совместимого кэша, если включено.</a:t>
            </a:r>
          </a:p>
        </p:txBody>
      </p:sp>
      <p:sp>
        <p:nvSpPr>
          <p:cNvPr id="15" name="Акцент аудитории 1">
            <a:extLst xmlns:a="http://schemas.openxmlformats.org/drawingml/2006/main">
              <a:ext uri="{FF2B5EF4-FFF2-40B4-BE49-F238E27FC236}">
                <a16:creationId xmlns:a16="http://schemas.microsoft.com/office/drawing/2014/main" id="{AA67DDF1-CA65-4FAC-8908-0EA55774128E}"/>
              </a:ext>
            </a:extLst>
          </p:cNvPr>
          <p:cNvSpPr>
            <a:spLocks xmlns:a="http://schemas.openxmlformats.org/drawingml/2006/main" noGrp="1"/>
          </p:cNvSpPr>
          <p:nvPr/>
        </p:nvSpPr>
        <p:spPr>
          <a:xfrm xmlns:a="http://schemas.openxmlformats.org/drawingml/2006/main">
            <a:off x="8020050" y="3152775"/>
            <a:ext cx="645795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6" name="Заголовок аудитории 1">
            <a:extLst xmlns:a="http://schemas.openxmlformats.org/drawingml/2006/main">
              <a:ext uri="{FF2B5EF4-FFF2-40B4-BE49-F238E27FC236}">
                <a16:creationId xmlns:a16="http://schemas.microsoft.com/office/drawing/2014/main" id="{3F05E98B-506F-40CA-964F-C7A50CE69A18}"/>
              </a:ext>
            </a:extLst>
          </p:cNvPr>
          <p:cNvSpPr>
            <a:spLocks xmlns:a="http://schemas.openxmlformats.org/drawingml/2006/main" noGrp="1"/>
          </p:cNvSpPr>
          <p:nvPr/>
        </p:nvSpPr>
        <p:spPr>
          <a:xfrm xmlns:a="http://schemas.openxmlformats.org/drawingml/2006/main">
            <a:off x="802005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CE3A0"/>
                </a:solidFill>
                <a:latin typeface="Arial"/>
                <a:ea typeface="Arial"/>
                <a:cs typeface="Arial"/>
              </a:defRPr>
            </a:pPr>
            <a:r>
              <a:rPr sz="2850" b="1">
                <a:solidFill>
                  <a:srgbClr val="5CE3A0"/>
                </a:solidFill>
                <a:latin typeface="Arial"/>
                <a:ea typeface="Arial"/>
                <a:cs typeface="Arial"/>
              </a:rPr>
              <a:t>Быстрый поиск по терминам</a:t>
            </a:r>
          </a:p>
        </p:txBody>
      </p:sp>
      <p:sp>
        <p:nvSpPr>
          <p:cNvPr id="17" name="Маркер 1-0">
            <a:extLst xmlns:a="http://schemas.openxmlformats.org/drawingml/2006/main">
              <a:ext uri="{FF2B5EF4-FFF2-40B4-BE49-F238E27FC236}">
                <a16:creationId xmlns:a16="http://schemas.microsoft.com/office/drawing/2014/main" id="{7EF55E9B-6A0E-4F30-9175-75400EC53224}"/>
              </a:ext>
            </a:extLst>
          </p:cNvPr>
          <p:cNvSpPr>
            <a:spLocks xmlns:a="http://schemas.openxmlformats.org/drawingml/2006/main" noGrp="1"/>
          </p:cNvSpPr>
          <p:nvPr/>
        </p:nvSpPr>
        <p:spPr>
          <a:xfrm xmlns:a="http://schemas.openxmlformats.org/drawingml/2006/main">
            <a:off x="802005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18" name="Тезис 1-0">
            <a:extLst xmlns:a="http://schemas.openxmlformats.org/drawingml/2006/main">
              <a:ext uri="{FF2B5EF4-FFF2-40B4-BE49-F238E27FC236}">
                <a16:creationId xmlns:a16="http://schemas.microsoft.com/office/drawing/2014/main" id="{3CF1D281-8BA3-4D9F-817D-C7FA191D0848}"/>
              </a:ext>
            </a:extLst>
          </p:cNvPr>
          <p:cNvSpPr>
            <a:spLocks xmlns:a="http://schemas.openxmlformats.org/drawingml/2006/main" noGrp="1"/>
          </p:cNvSpPr>
          <p:nvPr/>
        </p:nvSpPr>
        <p:spPr>
          <a:xfrm xmlns:a="http://schemas.openxmlformats.org/drawingml/2006/main">
            <a:off x="837247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Слова и символьные триграммы превращаются в признаки.</a:t>
            </a:r>
          </a:p>
        </p:txBody>
      </p:sp>
      <p:sp>
        <p:nvSpPr>
          <p:cNvPr id="19" name="Маркер 1-1">
            <a:extLst xmlns:a="http://schemas.openxmlformats.org/drawingml/2006/main">
              <a:ext uri="{FF2B5EF4-FFF2-40B4-BE49-F238E27FC236}">
                <a16:creationId xmlns:a16="http://schemas.microsoft.com/office/drawing/2014/main" id="{C344F6AC-813C-4C4B-8852-835EB50CB01B}"/>
              </a:ext>
            </a:extLst>
          </p:cNvPr>
          <p:cNvSpPr>
            <a:spLocks xmlns:a="http://schemas.openxmlformats.org/drawingml/2006/main" noGrp="1"/>
          </p:cNvSpPr>
          <p:nvPr/>
        </p:nvSpPr>
        <p:spPr>
          <a:xfrm xmlns:a="http://schemas.openxmlformats.org/drawingml/2006/main">
            <a:off x="802005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20" name="Тезис 1-1">
            <a:extLst xmlns:a="http://schemas.openxmlformats.org/drawingml/2006/main">
              <a:ext uri="{FF2B5EF4-FFF2-40B4-BE49-F238E27FC236}">
                <a16:creationId xmlns:a16="http://schemas.microsoft.com/office/drawing/2014/main" id="{97714900-EB57-452E-901F-BC2355487860}"/>
              </a:ext>
            </a:extLst>
          </p:cNvPr>
          <p:cNvSpPr>
            <a:spLocks xmlns:a="http://schemas.openxmlformats.org/drawingml/2006/main" noGrp="1"/>
          </p:cNvSpPr>
          <p:nvPr/>
        </p:nvSpPr>
        <p:spPr>
          <a:xfrm xmlns:a="http://schemas.openxmlformats.org/drawingml/2006/main">
            <a:off x="837247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SHA-256 кладёт каждый признак в ячейку вектора со знаком.</a:t>
            </a:r>
          </a:p>
        </p:txBody>
      </p:sp>
      <p:sp>
        <p:nvSpPr>
          <p:cNvPr id="21" name="Маркер 1-2">
            <a:extLst xmlns:a="http://schemas.openxmlformats.org/drawingml/2006/main">
              <a:ext uri="{FF2B5EF4-FFF2-40B4-BE49-F238E27FC236}">
                <a16:creationId xmlns:a16="http://schemas.microsoft.com/office/drawing/2014/main" id="{23F17DA3-20D9-4BD4-8502-C61E9EDACDD9}"/>
              </a:ext>
            </a:extLst>
          </p:cNvPr>
          <p:cNvSpPr>
            <a:spLocks xmlns:a="http://schemas.openxmlformats.org/drawingml/2006/main" noGrp="1"/>
          </p:cNvSpPr>
          <p:nvPr/>
        </p:nvSpPr>
        <p:spPr>
          <a:xfrm xmlns:a="http://schemas.openxmlformats.org/drawingml/2006/main">
            <a:off x="802005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22" name="Тезис 1-2">
            <a:extLst xmlns:a="http://schemas.openxmlformats.org/drawingml/2006/main">
              <a:ext uri="{FF2B5EF4-FFF2-40B4-BE49-F238E27FC236}">
                <a16:creationId xmlns:a16="http://schemas.microsoft.com/office/drawing/2014/main" id="{822FB32D-48E7-4EBF-88B5-9BD25D12C28D}"/>
              </a:ext>
            </a:extLst>
          </p:cNvPr>
          <p:cNvSpPr>
            <a:spLocks xmlns:a="http://schemas.openxmlformats.org/drawingml/2006/main" noGrp="1"/>
          </p:cNvSpPr>
          <p:nvPr/>
        </p:nvSpPr>
        <p:spPr>
          <a:xfrm xmlns:a="http://schemas.openxmlformats.org/drawingml/2006/main">
            <a:off x="837247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Получается локальный нормализованный lexical vector.</a:t>
            </a:r>
          </a:p>
        </p:txBody>
      </p:sp>
      <p:sp>
        <p:nvSpPr>
          <p:cNvPr id="23" name="Акцент вывода">
            <a:extLst xmlns:a="http://schemas.openxmlformats.org/drawingml/2006/main">
              <a:ext uri="{FF2B5EF4-FFF2-40B4-BE49-F238E27FC236}">
                <a16:creationId xmlns:a16="http://schemas.microsoft.com/office/drawing/2014/main" id="{60F9F144-50EC-4F62-A17B-8B3E59F75193}"/>
              </a:ext>
            </a:extLst>
          </p:cNvPr>
          <p:cNvSpPr>
            <a:spLocks xmlns:a="http://schemas.openxmlformats.org/drawingml/2006/main" noGrp="1"/>
          </p:cNvSpPr>
          <p:nvPr/>
        </p:nvSpPr>
        <p:spPr>
          <a:xfrm xmlns:a="http://schemas.openxmlformats.org/drawingml/2006/main">
            <a:off x="762000" y="70008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4" name="Ключевой вывод">
            <a:extLst xmlns:a="http://schemas.openxmlformats.org/drawingml/2006/main">
              <a:ext uri="{FF2B5EF4-FFF2-40B4-BE49-F238E27FC236}">
                <a16:creationId xmlns:a16="http://schemas.microsoft.com/office/drawing/2014/main" id="{847DAEE2-9C02-4719-ADFB-86AB9A1FF773}"/>
              </a:ext>
            </a:extLst>
          </p:cNvPr>
          <p:cNvSpPr>
            <a:spLocks xmlns:a="http://schemas.openxmlformats.org/drawingml/2006/main" noGrp="1"/>
          </p:cNvSpPr>
          <p:nvPr/>
        </p:nvSpPr>
        <p:spPr>
          <a:xfrm xmlns:a="http://schemas.openxmlformats.org/drawingml/2006/main">
            <a:off x="1028700" y="70485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Важно для обновления: </a:t>
            </a:r>
            <a:r>
              <a:rPr sz="1800" b="0">
                <a:solidFill>
                  <a:srgbClr val="A4B8C9"/>
                </a:solidFill>
                <a:latin typeface="Arial"/>
                <a:ea typeface="Arial"/>
                <a:cs typeface="Arial"/>
              </a:rPr>
              <a:t>изменение текста документа меняет ID всех его чанков. Кэш не гарантирует повторное использование каждого внешне неизменившегося фрагмента.</a:t>
            </a:r>
          </a:p>
        </p:txBody>
      </p:sp>
    </p:spTree>
    <p:extLst>
      <p:ext uri="{BB962C8B-B14F-4D97-AF65-F5344CB8AC3E}">
        <p14:creationId xmlns:p14="http://schemas.microsoft.com/office/powerpoint/2010/main" val="1758391705"/>
      </p:ext>
    </p:extLst>
  </p:cSld>
</p:sld>
</file>

<file path=ppt/slides/slide11.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D5050F18-84B1-457F-9450-43893FB5598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E9A113B-048B-42F6-815C-A2F593CDCABA}"/>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05A7392F-2938-4551-B297-5717388461D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C349A9D-BB38-419F-9523-4CE3B82394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11 / 27</a:t>
            </a:r>
          </a:p>
        </p:txBody>
      </p:sp>
      <p:sp>
        <p:nvSpPr>
          <p:cNvPr id="5" name="Надзаголовок">
            <a:extLst xmlns:a="http://schemas.openxmlformats.org/drawingml/2006/main">
              <a:ext uri="{FF2B5EF4-FFF2-40B4-BE49-F238E27FC236}">
                <a16:creationId xmlns:a16="http://schemas.microsoft.com/office/drawing/2014/main" id="{431D19BF-873B-48F2-9240-18451B301DFB}"/>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ЛОКАЛЬНАЯ ВЕКТОРИЗАЦИЯ</a:t>
            </a:r>
          </a:p>
        </p:txBody>
      </p:sp>
      <p:sp>
        <p:nvSpPr>
          <p:cNvPr id="6" name="Заголовок">
            <a:extLst xmlns:a="http://schemas.openxmlformats.org/drawingml/2006/main">
              <a:ext uri="{FF2B5EF4-FFF2-40B4-BE49-F238E27FC236}">
                <a16:creationId xmlns:a16="http://schemas.microsoft.com/office/drawing/2014/main" id="{2641AFE6-4BAB-4BE4-B63E-C43AA0E86EB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Провайдеры векторизации</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что используется и что можно включить</a:t>
            </a:r>
          </a:p>
        </p:txBody>
      </p:sp>
      <p:sp>
        <p:nvSpPr>
          <p:cNvPr id="7" name="Акцент колонки 0">
            <a:extLst xmlns:a="http://schemas.openxmlformats.org/drawingml/2006/main">
              <a:ext uri="{FF2B5EF4-FFF2-40B4-BE49-F238E27FC236}">
                <a16:creationId xmlns:a16="http://schemas.microsoft.com/office/drawing/2014/main" id="{FCC5753A-0B2E-441B-B162-6F926B3FABA6}"/>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306E2077-04FD-4C66-8B4B-AE67B934CFE7}"/>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Сейчас: hash</a:t>
            </a:r>
          </a:p>
        </p:txBody>
      </p:sp>
      <p:sp>
        <p:nvSpPr>
          <p:cNvPr id="9" name="Текст колонки 0">
            <a:extLst xmlns:a="http://schemas.openxmlformats.org/drawingml/2006/main">
              <a:ext uri="{FF2B5EF4-FFF2-40B4-BE49-F238E27FC236}">
                <a16:creationId xmlns:a16="http://schemas.microsoft.com/office/drawing/2014/main" id="{2E9BD4A8-24EC-4926-A942-58B327067754}"/>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В локальной конфигурации — 1024 координаты. Слова и триграммы, без нейросети, GPU и embedding API.</a:t>
            </a:r>
          </a:p>
        </p:txBody>
      </p:sp>
      <p:sp>
        <p:nvSpPr>
          <p:cNvPr id="10" name="Акцент колонки 1">
            <a:extLst xmlns:a="http://schemas.openxmlformats.org/drawingml/2006/main">
              <a:ext uri="{FF2B5EF4-FFF2-40B4-BE49-F238E27FC236}">
                <a16:creationId xmlns:a16="http://schemas.microsoft.com/office/drawing/2014/main" id="{D704E1A7-4860-4B6F-A48B-7ADC351C7491}"/>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21ABC826-0634-4363-B745-966451558073}"/>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Опция: Qwen3</a:t>
            </a:r>
          </a:p>
        </p:txBody>
      </p:sp>
      <p:sp>
        <p:nvSpPr>
          <p:cNvPr id="12" name="Текст колонки 1">
            <a:extLst xmlns:a="http://schemas.openxmlformats.org/drawingml/2006/main">
              <a:ext uri="{FF2B5EF4-FFF2-40B4-BE49-F238E27FC236}">
                <a16:creationId xmlns:a16="http://schemas.microsoft.com/office/drawing/2014/main" id="{354B574D-3736-4E22-8C2A-883EE0B916F0}"/>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Qwen3-Embedding-0.6B через Sentence Transformers. Модель не активна при provider=hash; её веса нужны локально.</a:t>
            </a:r>
          </a:p>
        </p:txBody>
      </p:sp>
      <p:sp>
        <p:nvSpPr>
          <p:cNvPr id="13" name="Акцент колонки 2">
            <a:extLst xmlns:a="http://schemas.openxmlformats.org/drawingml/2006/main">
              <a:ext uri="{FF2B5EF4-FFF2-40B4-BE49-F238E27FC236}">
                <a16:creationId xmlns:a16="http://schemas.microsoft.com/office/drawing/2014/main" id="{90D1F877-C367-45A3-8424-C5CA59D83DC0}"/>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787E45A8-5FFC-49DA-B364-DF56FD8782F2}"/>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CPU / GPU</a:t>
            </a:r>
          </a:p>
        </p:txBody>
      </p:sp>
      <p:sp>
        <p:nvSpPr>
          <p:cNvPr id="15" name="Текст колонки 2">
            <a:extLst xmlns:a="http://schemas.openxmlformats.org/drawingml/2006/main">
              <a:ext uri="{FF2B5EF4-FFF2-40B4-BE49-F238E27FC236}">
                <a16:creationId xmlns:a16="http://schemas.microsoft.com/office/drawing/2014/main" id="{DB47B5BF-9B93-429B-A116-9FAB1A2320BD}"/>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Для нейросети auto выбирает CUDA → MPS → CPU. local_files_only запрещает скачивание недостающих весов.</a:t>
            </a:r>
          </a:p>
        </p:txBody>
      </p:sp>
      <p:sp>
        <p:nvSpPr>
          <p:cNvPr id="16" name="Акцент вывода">
            <a:extLst xmlns:a="http://schemas.openxmlformats.org/drawingml/2006/main">
              <a:ext uri="{FF2B5EF4-FFF2-40B4-BE49-F238E27FC236}">
                <a16:creationId xmlns:a16="http://schemas.microsoft.com/office/drawing/2014/main" id="{EC13A138-188B-4646-9C92-371CABB45556}"/>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D0C0605F-0DAD-4F65-A340-67AB59F4AF81}"/>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Смена провайдера требует совместимого индекса. </a:t>
            </a:r>
            <a:r>
              <a:rPr sz="1800" b="0">
                <a:solidFill>
                  <a:srgbClr val="A4B8C9"/>
                </a:solidFill>
                <a:latin typeface="Arial"/>
                <a:ea typeface="Arial"/>
                <a:cs typeface="Arial"/>
              </a:rPr>
              <a:t>Локальная векторизация не означает, что подключённый LLM-клиент тоже работает локально.</a:t>
            </a:r>
          </a:p>
        </p:txBody>
      </p:sp>
    </p:spTree>
    <p:extLst>
      <p:ext uri="{BB962C8B-B14F-4D97-AF65-F5344CB8AC3E}">
        <p14:creationId xmlns:p14="http://schemas.microsoft.com/office/powerpoint/2010/main" val="1766361801"/>
      </p:ext>
    </p:extLst>
  </p:cSld>
</p:sld>
</file>

<file path=ppt/slides/slide12.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5" name="Рамка слайда">
            <a:extLst xmlns:a="http://schemas.openxmlformats.org/drawingml/2006/main">
              <a:ext uri="{FF2B5EF4-FFF2-40B4-BE49-F238E27FC236}">
                <a16:creationId xmlns:a16="http://schemas.microsoft.com/office/drawing/2014/main" id="{5477170D-BBB0-4964-B636-D6FA7F6850C5}"/>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B73039C8-C43E-484A-A31B-563E000EA6EB}"/>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42E3504B-DD31-400C-AA8E-07557257A009}"/>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F12AD316-5644-4BF3-A8AB-359CCAFE1833}"/>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12 / 27</a:t>
            </a:r>
          </a:p>
        </p:txBody>
      </p:sp>
      <p:sp>
        <p:nvSpPr>
          <p:cNvPr id="5" name="Надзаголовок">
            <a:extLst xmlns:a="http://schemas.openxmlformats.org/drawingml/2006/main">
              <a:ext uri="{FF2B5EF4-FFF2-40B4-BE49-F238E27FC236}">
                <a16:creationId xmlns:a16="http://schemas.microsoft.com/office/drawing/2014/main" id="{C9899F87-5E3C-4BDE-A3C6-89931863D430}"/>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АЛГОРИТМ HASH-ВЕКТОРА</a:t>
            </a:r>
          </a:p>
        </p:txBody>
      </p:sp>
      <p:sp>
        <p:nvSpPr>
          <p:cNvPr id="6" name="Заголовок">
            <a:extLst xmlns:a="http://schemas.openxmlformats.org/drawingml/2006/main">
              <a:ext uri="{FF2B5EF4-FFF2-40B4-BE49-F238E27FC236}">
                <a16:creationId xmlns:a16="http://schemas.microsoft.com/office/drawing/2014/main" id="{9C237CF6-737C-4581-AE6D-B5DDFE6B738E}"/>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Как текст становится</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вектором из 1024 чисел</a:t>
            </a:r>
          </a:p>
        </p:txBody>
      </p:sp>
      <p:sp>
        <p:nvSpPr>
          <p:cNvPr id="7" name="Акцент аудитории 0">
            <a:extLst xmlns:a="http://schemas.openxmlformats.org/drawingml/2006/main">
              <a:ext uri="{FF2B5EF4-FFF2-40B4-BE49-F238E27FC236}">
                <a16:creationId xmlns:a16="http://schemas.microsoft.com/office/drawing/2014/main" id="{9B9FED90-9110-46CF-9244-1143AD017D05}"/>
              </a:ext>
            </a:extLst>
          </p:cNvPr>
          <p:cNvSpPr>
            <a:spLocks xmlns:a="http://schemas.openxmlformats.org/drawingml/2006/main" noGrp="1"/>
          </p:cNvSpPr>
          <p:nvPr/>
        </p:nvSpPr>
        <p:spPr>
          <a:xfrm xmlns:a="http://schemas.openxmlformats.org/drawingml/2006/main">
            <a:off x="762000" y="3152775"/>
            <a:ext cx="645795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аудитории 0">
            <a:extLst xmlns:a="http://schemas.openxmlformats.org/drawingml/2006/main">
              <a:ext uri="{FF2B5EF4-FFF2-40B4-BE49-F238E27FC236}">
                <a16:creationId xmlns:a16="http://schemas.microsoft.com/office/drawing/2014/main" id="{7D1A096D-D82D-4E85-AA85-A1B7ECDEC3A0}"/>
              </a:ext>
            </a:extLst>
          </p:cNvPr>
          <p:cNvSpPr>
            <a:spLocks xmlns:a="http://schemas.openxmlformats.org/drawingml/2006/main" noGrp="1"/>
          </p:cNvSpPr>
          <p:nvPr/>
        </p:nvSpPr>
        <p:spPr>
          <a:xfrm xmlns:a="http://schemas.openxmlformats.org/drawingml/2006/main">
            <a:off x="76200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4D7FF"/>
                </a:solidFill>
                <a:latin typeface="Arial"/>
                <a:ea typeface="Arial"/>
                <a:cs typeface="Arial"/>
              </a:defRPr>
            </a:pPr>
            <a:r>
              <a:rPr sz="2850" b="1">
                <a:solidFill>
                  <a:srgbClr val="54D7FF"/>
                </a:solidFill>
                <a:latin typeface="Arial"/>
                <a:ea typeface="Arial"/>
                <a:cs typeface="Arial"/>
              </a:rPr>
              <a:t>1. Собираем признаки</a:t>
            </a:r>
          </a:p>
        </p:txBody>
      </p:sp>
      <p:sp>
        <p:nvSpPr>
          <p:cNvPr id="9" name="Маркер 0-0">
            <a:extLst xmlns:a="http://schemas.openxmlformats.org/drawingml/2006/main">
              <a:ext uri="{FF2B5EF4-FFF2-40B4-BE49-F238E27FC236}">
                <a16:creationId xmlns:a16="http://schemas.microsoft.com/office/drawing/2014/main" id="{01E842F6-69D4-48F8-B271-E2D53F2F5354}"/>
              </a:ext>
            </a:extLst>
          </p:cNvPr>
          <p:cNvSpPr>
            <a:spLocks xmlns:a="http://schemas.openxmlformats.org/drawingml/2006/main" noGrp="1"/>
          </p:cNvSpPr>
          <p:nvPr/>
        </p:nvSpPr>
        <p:spPr>
          <a:xfrm xmlns:a="http://schemas.openxmlformats.org/drawingml/2006/main">
            <a:off x="76200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0" name="Тезис 0-0">
            <a:extLst xmlns:a="http://schemas.openxmlformats.org/drawingml/2006/main">
              <a:ext uri="{FF2B5EF4-FFF2-40B4-BE49-F238E27FC236}">
                <a16:creationId xmlns:a16="http://schemas.microsoft.com/office/drawing/2014/main" id="{C1DAA065-858F-4E4A-BA8E-D779E7881E43}"/>
              </a:ext>
            </a:extLst>
          </p:cNvPr>
          <p:cNvSpPr>
            <a:spLocks xmlns:a="http://schemas.openxmlformats.org/drawingml/2006/main" noGrp="1"/>
          </p:cNvSpPr>
          <p:nvPr/>
        </p:nvSpPr>
        <p:spPr>
          <a:xfrm xmlns:a="http://schemas.openxmlformats.org/drawingml/2006/main">
            <a:off x="111442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Текст → нижний регистр → слова по regex \w+.</a:t>
            </a:r>
          </a:p>
        </p:txBody>
      </p:sp>
      <p:sp>
        <p:nvSpPr>
          <p:cNvPr id="11" name="Маркер 0-1">
            <a:extLst xmlns:a="http://schemas.openxmlformats.org/drawingml/2006/main">
              <a:ext uri="{FF2B5EF4-FFF2-40B4-BE49-F238E27FC236}">
                <a16:creationId xmlns:a16="http://schemas.microsoft.com/office/drawing/2014/main" id="{04834A20-1384-4227-96C1-DB2D38204308}"/>
              </a:ext>
            </a:extLst>
          </p:cNvPr>
          <p:cNvSpPr>
            <a:spLocks xmlns:a="http://schemas.openxmlformats.org/drawingml/2006/main" noGrp="1"/>
          </p:cNvSpPr>
          <p:nvPr/>
        </p:nvSpPr>
        <p:spPr>
          <a:xfrm xmlns:a="http://schemas.openxmlformats.org/drawingml/2006/main">
            <a:off x="76200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2" name="Тезис 0-1">
            <a:extLst xmlns:a="http://schemas.openxmlformats.org/drawingml/2006/main">
              <a:ext uri="{FF2B5EF4-FFF2-40B4-BE49-F238E27FC236}">
                <a16:creationId xmlns:a16="http://schemas.microsoft.com/office/drawing/2014/main" id="{BF6D8544-DB89-42F9-AEF9-39556B3CEC45}"/>
              </a:ext>
            </a:extLst>
          </p:cNvPr>
          <p:cNvSpPr>
            <a:spLocks xmlns:a="http://schemas.openxmlformats.org/drawingml/2006/main" noGrp="1"/>
          </p:cNvSpPr>
          <p:nvPr/>
        </p:nvSpPr>
        <p:spPr>
          <a:xfrm xmlns:a="http://schemas.openxmlformats.org/drawingml/2006/main">
            <a:off x="111442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Для слова «кот»: w:кот и триграммы c3:^ко, c3:кот, c3:от$.</a:t>
            </a:r>
          </a:p>
        </p:txBody>
      </p:sp>
      <p:sp>
        <p:nvSpPr>
          <p:cNvPr id="13" name="Маркер 0-2">
            <a:extLst xmlns:a="http://schemas.openxmlformats.org/drawingml/2006/main">
              <a:ext uri="{FF2B5EF4-FFF2-40B4-BE49-F238E27FC236}">
                <a16:creationId xmlns:a16="http://schemas.microsoft.com/office/drawing/2014/main" id="{D4B74DD9-85F6-46A9-BAC4-C6AD79B964B7}"/>
              </a:ext>
            </a:extLst>
          </p:cNvPr>
          <p:cNvSpPr>
            <a:spLocks xmlns:a="http://schemas.openxmlformats.org/drawingml/2006/main" noGrp="1"/>
          </p:cNvSpPr>
          <p:nvPr/>
        </p:nvSpPr>
        <p:spPr>
          <a:xfrm xmlns:a="http://schemas.openxmlformats.org/drawingml/2006/main">
            <a:off x="76200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4" name="Тезис 0-2">
            <a:extLst xmlns:a="http://schemas.openxmlformats.org/drawingml/2006/main">
              <a:ext uri="{FF2B5EF4-FFF2-40B4-BE49-F238E27FC236}">
                <a16:creationId xmlns:a16="http://schemas.microsoft.com/office/drawing/2014/main" id="{ADAFEA5E-0BE6-4F82-AB9A-F311540C8EE3}"/>
              </a:ext>
            </a:extLst>
          </p:cNvPr>
          <p:cNvSpPr>
            <a:spLocks xmlns:a="http://schemas.openxmlformats.org/drawingml/2006/main" noGrp="1"/>
          </p:cNvSpPr>
          <p:nvPr/>
        </p:nvSpPr>
        <p:spPr>
          <a:xfrm xmlns:a="http://schemas.openxmlformats.org/drawingml/2006/main">
            <a:off x="111442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Повторы учитываются: каждый признак добавляет +1 или −1.</a:t>
            </a:r>
          </a:p>
        </p:txBody>
      </p:sp>
      <p:sp>
        <p:nvSpPr>
          <p:cNvPr id="15" name="Акцент аудитории 1">
            <a:extLst xmlns:a="http://schemas.openxmlformats.org/drawingml/2006/main">
              <a:ext uri="{FF2B5EF4-FFF2-40B4-BE49-F238E27FC236}">
                <a16:creationId xmlns:a16="http://schemas.microsoft.com/office/drawing/2014/main" id="{AA67DDF1-CA65-4FAC-8908-0EA55774128E}"/>
              </a:ext>
            </a:extLst>
          </p:cNvPr>
          <p:cNvSpPr>
            <a:spLocks xmlns:a="http://schemas.openxmlformats.org/drawingml/2006/main" noGrp="1"/>
          </p:cNvSpPr>
          <p:nvPr/>
        </p:nvSpPr>
        <p:spPr>
          <a:xfrm xmlns:a="http://schemas.openxmlformats.org/drawingml/2006/main">
            <a:off x="8020050" y="3152775"/>
            <a:ext cx="645795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6" name="Заголовок аудитории 1">
            <a:extLst xmlns:a="http://schemas.openxmlformats.org/drawingml/2006/main">
              <a:ext uri="{FF2B5EF4-FFF2-40B4-BE49-F238E27FC236}">
                <a16:creationId xmlns:a16="http://schemas.microsoft.com/office/drawing/2014/main" id="{3F05E98B-506F-40CA-964F-C7A50CE69A18}"/>
              </a:ext>
            </a:extLst>
          </p:cNvPr>
          <p:cNvSpPr>
            <a:spLocks xmlns:a="http://schemas.openxmlformats.org/drawingml/2006/main" noGrp="1"/>
          </p:cNvSpPr>
          <p:nvPr/>
        </p:nvSpPr>
        <p:spPr>
          <a:xfrm xmlns:a="http://schemas.openxmlformats.org/drawingml/2006/main">
            <a:off x="802005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CE3A0"/>
                </a:solidFill>
                <a:latin typeface="Arial"/>
                <a:ea typeface="Arial"/>
                <a:cs typeface="Arial"/>
              </a:defRPr>
            </a:pPr>
            <a:r>
              <a:rPr sz="2850" b="1">
                <a:solidFill>
                  <a:srgbClr val="5CE3A0"/>
                </a:solidFill>
                <a:latin typeface="Arial"/>
                <a:ea typeface="Arial"/>
                <a:cs typeface="Arial"/>
              </a:rPr>
              <a:t>2. Заполняем и нормализуем</a:t>
            </a:r>
          </a:p>
        </p:txBody>
      </p:sp>
      <p:sp>
        <p:nvSpPr>
          <p:cNvPr id="17" name="Маркер 1-0">
            <a:extLst xmlns:a="http://schemas.openxmlformats.org/drawingml/2006/main">
              <a:ext uri="{FF2B5EF4-FFF2-40B4-BE49-F238E27FC236}">
                <a16:creationId xmlns:a16="http://schemas.microsoft.com/office/drawing/2014/main" id="{7EF55E9B-6A0E-4F30-9175-75400EC53224}"/>
              </a:ext>
            </a:extLst>
          </p:cNvPr>
          <p:cNvSpPr>
            <a:spLocks xmlns:a="http://schemas.openxmlformats.org/drawingml/2006/main" noGrp="1"/>
          </p:cNvSpPr>
          <p:nvPr/>
        </p:nvSpPr>
        <p:spPr>
          <a:xfrm xmlns:a="http://schemas.openxmlformats.org/drawingml/2006/main">
            <a:off x="802005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18" name="Тезис 1-0">
            <a:extLst xmlns:a="http://schemas.openxmlformats.org/drawingml/2006/main">
              <a:ext uri="{FF2B5EF4-FFF2-40B4-BE49-F238E27FC236}">
                <a16:creationId xmlns:a16="http://schemas.microsoft.com/office/drawing/2014/main" id="{3CF1D281-8BA3-4D9F-817D-C7FA191D0848}"/>
              </a:ext>
            </a:extLst>
          </p:cNvPr>
          <p:cNvSpPr>
            <a:spLocks xmlns:a="http://schemas.openxmlformats.org/drawingml/2006/main" noGrp="1"/>
          </p:cNvSpPr>
          <p:nvPr/>
        </p:nvSpPr>
        <p:spPr>
          <a:xfrm xmlns:a="http://schemas.openxmlformats.org/drawingml/2006/main">
            <a:off x="837247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h = SHA-256(признак); координата = uint64(h[0:8], big-endian) % 1024.</a:t>
            </a:r>
          </a:p>
        </p:txBody>
      </p:sp>
      <p:sp>
        <p:nvSpPr>
          <p:cNvPr id="19" name="Маркер 1-1">
            <a:extLst xmlns:a="http://schemas.openxmlformats.org/drawingml/2006/main">
              <a:ext uri="{FF2B5EF4-FFF2-40B4-BE49-F238E27FC236}">
                <a16:creationId xmlns:a16="http://schemas.microsoft.com/office/drawing/2014/main" id="{C344F6AC-813C-4C4B-8852-835EB50CB01B}"/>
              </a:ext>
            </a:extLst>
          </p:cNvPr>
          <p:cNvSpPr>
            <a:spLocks xmlns:a="http://schemas.openxmlformats.org/drawingml/2006/main" noGrp="1"/>
          </p:cNvSpPr>
          <p:nvPr/>
        </p:nvSpPr>
        <p:spPr>
          <a:xfrm xmlns:a="http://schemas.openxmlformats.org/drawingml/2006/main">
            <a:off x="802005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20" name="Тезис 1-1">
            <a:extLst xmlns:a="http://schemas.openxmlformats.org/drawingml/2006/main">
              <a:ext uri="{FF2B5EF4-FFF2-40B4-BE49-F238E27FC236}">
                <a16:creationId xmlns:a16="http://schemas.microsoft.com/office/drawing/2014/main" id="{97714900-EB57-452E-901F-BC2355487860}"/>
              </a:ext>
            </a:extLst>
          </p:cNvPr>
          <p:cNvSpPr>
            <a:spLocks xmlns:a="http://schemas.openxmlformats.org/drawingml/2006/main" noGrp="1"/>
          </p:cNvSpPr>
          <p:nvPr/>
        </p:nvSpPr>
        <p:spPr>
          <a:xfrm xmlns:a="http://schemas.openxmlformats.org/drawingml/2006/main">
            <a:off x="837247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Знак: +1, если h[8] &amp; 1, иначе −1. Складываем в выбранной координате.</a:t>
            </a:r>
          </a:p>
        </p:txBody>
      </p:sp>
      <p:sp>
        <p:nvSpPr>
          <p:cNvPr id="21" name="Маркер 1-2">
            <a:extLst xmlns:a="http://schemas.openxmlformats.org/drawingml/2006/main">
              <a:ext uri="{FF2B5EF4-FFF2-40B4-BE49-F238E27FC236}">
                <a16:creationId xmlns:a16="http://schemas.microsoft.com/office/drawing/2014/main" id="{23F17DA3-20D9-4BD4-8502-C61E9EDACDD9}"/>
              </a:ext>
            </a:extLst>
          </p:cNvPr>
          <p:cNvSpPr>
            <a:spLocks xmlns:a="http://schemas.openxmlformats.org/drawingml/2006/main" noGrp="1"/>
          </p:cNvSpPr>
          <p:nvPr/>
        </p:nvSpPr>
        <p:spPr>
          <a:xfrm xmlns:a="http://schemas.openxmlformats.org/drawingml/2006/main">
            <a:off x="802005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22" name="Тезис 1-2">
            <a:extLst xmlns:a="http://schemas.openxmlformats.org/drawingml/2006/main">
              <a:ext uri="{FF2B5EF4-FFF2-40B4-BE49-F238E27FC236}">
                <a16:creationId xmlns:a16="http://schemas.microsoft.com/office/drawing/2014/main" id="{822FB32D-48E7-4EBF-88B5-9BD25D12C28D}"/>
              </a:ext>
            </a:extLst>
          </p:cNvPr>
          <p:cNvSpPr>
            <a:spLocks xmlns:a="http://schemas.openxmlformats.org/drawingml/2006/main" noGrp="1"/>
          </p:cNvSpPr>
          <p:nvPr/>
        </p:nvSpPr>
        <p:spPr>
          <a:xfrm xmlns:a="http://schemas.openxmlformats.org/drawingml/2006/main">
            <a:off x="837247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Делим вектор на L2-норму, если она &gt; 0. Результат хранится как float32.</a:t>
            </a:r>
          </a:p>
        </p:txBody>
      </p:sp>
      <p:sp>
        <p:nvSpPr>
          <p:cNvPr id="23" name="Акцент вывода">
            <a:extLst xmlns:a="http://schemas.openxmlformats.org/drawingml/2006/main">
              <a:ext uri="{FF2B5EF4-FFF2-40B4-BE49-F238E27FC236}">
                <a16:creationId xmlns:a16="http://schemas.microsoft.com/office/drawing/2014/main" id="{60F9F144-50EC-4F62-A17B-8B3E59F75193}"/>
              </a:ext>
            </a:extLst>
          </p:cNvPr>
          <p:cNvSpPr>
            <a:spLocks xmlns:a="http://schemas.openxmlformats.org/drawingml/2006/main" noGrp="1"/>
          </p:cNvSpPr>
          <p:nvPr/>
        </p:nvSpPr>
        <p:spPr>
          <a:xfrm xmlns:a="http://schemas.openxmlformats.org/drawingml/2006/main">
            <a:off x="762000" y="70008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4" name="Ключевой вывод">
            <a:extLst xmlns:a="http://schemas.openxmlformats.org/drawingml/2006/main">
              <a:ext uri="{FF2B5EF4-FFF2-40B4-BE49-F238E27FC236}">
                <a16:creationId xmlns:a16="http://schemas.microsoft.com/office/drawing/2014/main" id="{847DAEE2-9C02-4719-ADFB-86AB9A1FF773}"/>
              </a:ext>
            </a:extLst>
          </p:cNvPr>
          <p:cNvSpPr>
            <a:spLocks xmlns:a="http://schemas.openxmlformats.org/drawingml/2006/main" noGrp="1"/>
          </p:cNvSpPr>
          <p:nvPr/>
        </p:nvSpPr>
        <p:spPr>
          <a:xfrm xmlns:a="http://schemas.openxmlformats.org/drawingml/2006/main">
            <a:off x="1028700" y="70485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Это лексическая близость, не нейросетевое понимание смысла. </a:t>
            </a:r>
            <a:r>
              <a:rPr sz="1800" b="0">
                <a:solidFill>
                  <a:srgbClr val="A4B8C9"/>
                </a:solidFill>
                <a:latin typeface="Arial"/>
                <a:ea typeface="Arial"/>
                <a:cs typeface="Arial"/>
              </a:rPr>
              <a:t>Совпадают слова и части слов; возможны коллизии хешей. Нулевой вектор остаётся нулевым.</a:t>
            </a:r>
          </a:p>
        </p:txBody>
      </p:sp>
    </p:spTree>
    <p:extLst>
      <p:ext uri="{BB962C8B-B14F-4D97-AF65-F5344CB8AC3E}">
        <p14:creationId xmlns:p14="http://schemas.microsoft.com/office/powerpoint/2010/main" val="1758391705"/>
      </p:ext>
    </p:extLst>
  </p:cSld>
</p:sld>
</file>

<file path=ppt/slides/slide13.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D5050F18-84B1-457F-9450-43893FB5598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E9A113B-048B-42F6-815C-A2F593CDCABA}"/>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05A7392F-2938-4551-B297-5717388461D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C349A9D-BB38-419F-9523-4CE3B82394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13 / 27</a:t>
            </a:r>
          </a:p>
        </p:txBody>
      </p:sp>
      <p:sp>
        <p:nvSpPr>
          <p:cNvPr id="5" name="Надзаголовок">
            <a:extLst xmlns:a="http://schemas.openxmlformats.org/drawingml/2006/main">
              <a:ext uri="{FF2B5EF4-FFF2-40B4-BE49-F238E27FC236}">
                <a16:creationId xmlns:a16="http://schemas.microsoft.com/office/drawing/2014/main" id="{431D19BF-873B-48F2-9240-18451B301DFB}"/>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ХРАНЕНИЕ ВЕКТОРОВ</a:t>
            </a:r>
          </a:p>
        </p:txBody>
      </p:sp>
      <p:sp>
        <p:nvSpPr>
          <p:cNvPr id="6" name="Заголовок">
            <a:extLst xmlns:a="http://schemas.openxmlformats.org/drawingml/2006/main">
              <a:ext uri="{FF2B5EF4-FFF2-40B4-BE49-F238E27FC236}">
                <a16:creationId xmlns:a16="http://schemas.microsoft.com/office/drawing/2014/main" id="{2641AFE6-4BAB-4BE4-B63E-C43AA0E86EB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Один индекс на диске:</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NumPy-матрица и три JSON-файла</a:t>
            </a:r>
          </a:p>
        </p:txBody>
      </p:sp>
      <p:sp>
        <p:nvSpPr>
          <p:cNvPr id="7" name="Акцент колонки 0">
            <a:extLst xmlns:a="http://schemas.openxmlformats.org/drawingml/2006/main">
              <a:ext uri="{FF2B5EF4-FFF2-40B4-BE49-F238E27FC236}">
                <a16:creationId xmlns:a16="http://schemas.microsoft.com/office/drawing/2014/main" id="{FCC5753A-0B2E-441B-B162-6F926B3FABA6}"/>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306E2077-04FD-4C66-8B4B-AE67B934CFE7}"/>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embeddings.npy</a:t>
            </a:r>
          </a:p>
        </p:txBody>
      </p:sp>
      <p:sp>
        <p:nvSpPr>
          <p:cNvPr id="9" name="Текст колонки 0">
            <a:extLst xmlns:a="http://schemas.openxmlformats.org/drawingml/2006/main">
              <a:ext uri="{FF2B5EF4-FFF2-40B4-BE49-F238E27FC236}">
                <a16:creationId xmlns:a16="http://schemas.microsoft.com/office/drawing/2014/main" id="{2E9BD4A8-24EC-4926-A942-58B327067754}"/>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Матрица N × 1024, float32. Строка i — вектор чанка i. Один вектор: 4 КиБ без текста и метаданных.</a:t>
            </a:r>
          </a:p>
        </p:txBody>
      </p:sp>
      <p:sp>
        <p:nvSpPr>
          <p:cNvPr id="10" name="Акцент колонки 1">
            <a:extLst xmlns:a="http://schemas.openxmlformats.org/drawingml/2006/main">
              <a:ext uri="{FF2B5EF4-FFF2-40B4-BE49-F238E27FC236}">
                <a16:creationId xmlns:a16="http://schemas.microsoft.com/office/drawing/2014/main" id="{D704E1A7-4860-4B6F-A48B-7ADC351C7491}"/>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21ABC826-0634-4363-B745-966451558073}"/>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chunks + documents</a:t>
            </a:r>
          </a:p>
        </p:txBody>
      </p:sp>
      <p:sp>
        <p:nvSpPr>
          <p:cNvPr id="12" name="Текст колонки 1">
            <a:extLst xmlns:a="http://schemas.openxmlformats.org/drawingml/2006/main">
              <a:ext uri="{FF2B5EF4-FFF2-40B4-BE49-F238E27FC236}">
                <a16:creationId xmlns:a16="http://schemas.microsoft.com/office/drawing/2014/main" id="{354B574D-3736-4E22-8C2A-883EE0B916F0}"/>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chunks.json: текст и метаданные чанков. documents.json: нормализованные документы. В памяти: chunk_id → номер строки.</a:t>
            </a:r>
          </a:p>
        </p:txBody>
      </p:sp>
      <p:sp>
        <p:nvSpPr>
          <p:cNvPr id="13" name="Акцент колонки 2">
            <a:extLst xmlns:a="http://schemas.openxmlformats.org/drawingml/2006/main">
              <a:ext uri="{FF2B5EF4-FFF2-40B4-BE49-F238E27FC236}">
                <a16:creationId xmlns:a16="http://schemas.microsoft.com/office/drawing/2014/main" id="{90D1F877-C367-45A3-8424-C5CA59D83DC0}"/>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787E45A8-5FFC-49DA-B364-DF56FD8782F2}"/>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manifest.json</a:t>
            </a:r>
          </a:p>
        </p:txBody>
      </p:sp>
      <p:sp>
        <p:nvSpPr>
          <p:cNvPr id="15" name="Текст колонки 2">
            <a:extLst xmlns:a="http://schemas.openxmlformats.org/drawingml/2006/main">
              <a:ext uri="{FF2B5EF4-FFF2-40B4-BE49-F238E27FC236}">
                <a16:creationId xmlns:a16="http://schemas.microsoft.com/office/drawing/2014/main" id="{DB47B5BF-9B93-429B-A116-9FAB1A2320BD}"/>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Версия схемы, провайдер, модель, размерность и параметры чанкинга. При загрузке проверяется совместимость кэша.</a:t>
            </a:r>
          </a:p>
        </p:txBody>
      </p:sp>
      <p:sp>
        <p:nvSpPr>
          <p:cNvPr id="16" name="Акцент вывода">
            <a:extLst xmlns:a="http://schemas.openxmlformats.org/drawingml/2006/main">
              <a:ext uri="{FF2B5EF4-FFF2-40B4-BE49-F238E27FC236}">
                <a16:creationId xmlns:a16="http://schemas.microsoft.com/office/drawing/2014/main" id="{EC13A138-188B-4646-9C92-371CABB45556}"/>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D0C0605F-0DAD-4F65-A340-67AB59F4AF81}"/>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При старте embeddings.npy открывается через read-only mmap. </a:t>
            </a:r>
            <a:r>
              <a:rPr sz="1800" b="0">
                <a:solidFill>
                  <a:srgbClr val="A4B8C9"/>
                </a:solidFill>
                <a:latin typeface="Arial"/>
                <a:ea typeface="Arial"/>
                <a:cs typeface="Arial"/>
              </a:rPr>
              <a:t>Это уменьшает копирование при загрузке, но поиск всё равно использует RAM и создаёт временную выборку.</a:t>
            </a:r>
          </a:p>
        </p:txBody>
      </p:sp>
    </p:spTree>
    <p:extLst>
      <p:ext uri="{BB962C8B-B14F-4D97-AF65-F5344CB8AC3E}">
        <p14:creationId xmlns:p14="http://schemas.microsoft.com/office/powerpoint/2010/main" val="1766361801"/>
      </p:ext>
    </p:extLst>
  </p:cSld>
</p:sld>
</file>

<file path=ppt/slides/slide14.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D5050F18-84B1-457F-9450-43893FB5598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E9A113B-048B-42F6-815C-A2F593CDCABA}"/>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05A7392F-2938-4551-B297-5717388461D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C349A9D-BB38-419F-9523-4CE3B82394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14 / 27</a:t>
            </a:r>
          </a:p>
        </p:txBody>
      </p:sp>
      <p:sp>
        <p:nvSpPr>
          <p:cNvPr id="5" name="Надзаголовок">
            <a:extLst xmlns:a="http://schemas.openxmlformats.org/drawingml/2006/main">
              <a:ext uri="{FF2B5EF4-FFF2-40B4-BE49-F238E27FC236}">
                <a16:creationId xmlns:a16="http://schemas.microsoft.com/office/drawing/2014/main" id="{431D19BF-873B-48F2-9240-18451B301DFB}"/>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ЧТО ЗДЕСЬ НАЗЫВАЕТСЯ БАЗОЙ</a:t>
            </a:r>
          </a:p>
        </p:txBody>
      </p:sp>
      <p:sp>
        <p:nvSpPr>
          <p:cNvPr id="6" name="Заголовок">
            <a:extLst xmlns:a="http://schemas.openxmlformats.org/drawingml/2006/main">
              <a:ext uri="{FF2B5EF4-FFF2-40B4-BE49-F238E27FC236}">
                <a16:creationId xmlns:a16="http://schemas.microsoft.com/office/drawing/2014/main" id="{2641AFE6-4BAB-4BE4-B63E-C43AA0E86EB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RAG-индекс и граф системы —</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два разных хранилища</a:t>
            </a:r>
          </a:p>
        </p:txBody>
      </p:sp>
      <p:sp>
        <p:nvSpPr>
          <p:cNvPr id="7" name="Акцент колонки 0">
            <a:extLst xmlns:a="http://schemas.openxmlformats.org/drawingml/2006/main">
              <a:ext uri="{FF2B5EF4-FFF2-40B4-BE49-F238E27FC236}">
                <a16:creationId xmlns:a16="http://schemas.microsoft.com/office/drawing/2014/main" id="{FCC5753A-0B2E-441B-B162-6F926B3FABA6}"/>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306E2077-04FD-4C66-8B4B-AE67B934CFE7}"/>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RAG: поиск текста</a:t>
            </a:r>
          </a:p>
        </p:txBody>
      </p:sp>
      <p:sp>
        <p:nvSpPr>
          <p:cNvPr id="9" name="Текст колонки 0">
            <a:extLst xmlns:a="http://schemas.openxmlformats.org/drawingml/2006/main">
              <a:ext uri="{FF2B5EF4-FFF2-40B4-BE49-F238E27FC236}">
                <a16:creationId xmlns:a16="http://schemas.microsoft.com/office/drawing/2014/main" id="{2E9BD4A8-24EC-4926-A942-58B327067754}"/>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InMemoryKnowledgeStore: документы и чанки в Python, векторы в NumPy; на диске NPY + JSON. Отдельной векторной СУБД нет.</a:t>
            </a:r>
          </a:p>
        </p:txBody>
      </p:sp>
      <p:sp>
        <p:nvSpPr>
          <p:cNvPr id="10" name="Акцент колонки 1">
            <a:extLst xmlns:a="http://schemas.openxmlformats.org/drawingml/2006/main">
              <a:ext uri="{FF2B5EF4-FFF2-40B4-BE49-F238E27FC236}">
                <a16:creationId xmlns:a16="http://schemas.microsoft.com/office/drawing/2014/main" id="{D704E1A7-4860-4B6F-A48B-7ADC351C7491}"/>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21ABC826-0634-4363-B745-966451558073}"/>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Граф: связи сервисов</a:t>
            </a:r>
          </a:p>
        </p:txBody>
      </p:sp>
      <p:sp>
        <p:nvSpPr>
          <p:cNvPr id="12" name="Текст колонки 1">
            <a:extLst xmlns:a="http://schemas.openxmlformats.org/drawingml/2006/main">
              <a:ext uri="{FF2B5EF4-FFF2-40B4-BE49-F238E27FC236}">
                <a16:creationId xmlns:a16="http://schemas.microsoft.com/office/drawing/2014/main" id="{354B574D-3736-4E22-8C2A-883EE0B916F0}"/>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Статический анализ кода и конфигурации → JSON-снимки system_graph.json и service_map.json. Это не векторная матрица.</a:t>
            </a:r>
          </a:p>
        </p:txBody>
      </p:sp>
      <p:sp>
        <p:nvSpPr>
          <p:cNvPr id="13" name="Акцент колонки 2">
            <a:extLst xmlns:a="http://schemas.openxmlformats.org/drawingml/2006/main">
              <a:ext uri="{FF2B5EF4-FFF2-40B4-BE49-F238E27FC236}">
                <a16:creationId xmlns:a16="http://schemas.microsoft.com/office/drawing/2014/main" id="{90D1F877-C367-45A3-8424-C5CA59D83DC0}"/>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787E45A8-5FFC-49DA-B364-DF56FD8782F2}"/>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Общий доступ</a:t>
            </a:r>
          </a:p>
        </p:txBody>
      </p:sp>
      <p:sp>
        <p:nvSpPr>
          <p:cNvPr id="15" name="Текст колонки 2">
            <a:extLst xmlns:a="http://schemas.openxmlformats.org/drawingml/2006/main">
              <a:ext uri="{FF2B5EF4-FFF2-40B4-BE49-F238E27FC236}">
                <a16:creationId xmlns:a16="http://schemas.microsoft.com/office/drawing/2014/main" id="{DB47B5BF-9B93-429B-A116-9FAB1A2320BD}"/>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MCP-инструменты дают клиенту поиск документов и навигацию по графу. Графовые документы не индексируются как обычные RAG-чанки.</a:t>
            </a:r>
          </a:p>
        </p:txBody>
      </p:sp>
      <p:sp>
        <p:nvSpPr>
          <p:cNvPr id="16" name="Акцент вывода">
            <a:extLst xmlns:a="http://schemas.openxmlformats.org/drawingml/2006/main">
              <a:ext uri="{FF2B5EF4-FFF2-40B4-BE49-F238E27FC236}">
                <a16:creationId xmlns:a16="http://schemas.microsoft.com/office/drawing/2014/main" id="{EC13A138-188B-4646-9C92-371CABB45556}"/>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D0C0605F-0DAD-4F65-A340-67AB59F4AF81}"/>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Разные вопросы — разные механизмы: </a:t>
            </a:r>
            <a:r>
              <a:rPr sz="1800" b="0">
                <a:solidFill>
                  <a:srgbClr val="A4B8C9"/>
                </a:solidFill>
                <a:latin typeface="Arial"/>
                <a:ea typeface="Arial"/>
                <a:cs typeface="Arial"/>
              </a:rPr>
              <a:t>«где описано правило?» → RAG; «какие сервисы связаны?» → граф; итоговый ответ собирает подключённый LLM-клиент.</a:t>
            </a:r>
          </a:p>
        </p:txBody>
      </p:sp>
    </p:spTree>
    <p:extLst>
      <p:ext uri="{BB962C8B-B14F-4D97-AF65-F5344CB8AC3E}">
        <p14:creationId xmlns:p14="http://schemas.microsoft.com/office/powerpoint/2010/main" val="1766361801"/>
      </p:ext>
    </p:extLst>
  </p:cSld>
</p:sld>
</file>

<file path=ppt/slides/slide15.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3" name="Рамка слайда">
            <a:extLst xmlns:a="http://schemas.openxmlformats.org/drawingml/2006/main">
              <a:ext uri="{FF2B5EF4-FFF2-40B4-BE49-F238E27FC236}">
                <a16:creationId xmlns:a16="http://schemas.microsoft.com/office/drawing/2014/main" id="{1FB4703A-FDE8-4837-A8D5-9A8965499209}"/>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DDBB0A95-BB8D-4031-B138-797CBF9FBEB2}"/>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BAC39A95-1A5C-4DEC-9D90-86A19739BA2A}"/>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895B0D1-90DF-4FD0-A706-56D9F0CD191E}"/>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15 / 27</a:t>
            </a:r>
          </a:p>
        </p:txBody>
      </p:sp>
      <p:sp>
        <p:nvSpPr>
          <p:cNvPr id="5" name="Надзаголовок">
            <a:extLst xmlns:a="http://schemas.openxmlformats.org/drawingml/2006/main">
              <a:ext uri="{FF2B5EF4-FFF2-40B4-BE49-F238E27FC236}">
                <a16:creationId xmlns:a16="http://schemas.microsoft.com/office/drawing/2014/main" id="{C40962F8-A2EA-4FEE-8CE9-E90520C1865D}"/>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АЛГОРИТМ ПОИСКА</a:t>
            </a:r>
          </a:p>
        </p:txBody>
      </p:sp>
      <p:sp>
        <p:nvSpPr>
          <p:cNvPr id="6" name="Заголовок">
            <a:extLst xmlns:a="http://schemas.openxmlformats.org/drawingml/2006/main">
              <a:ext uri="{FF2B5EF4-FFF2-40B4-BE49-F238E27FC236}">
                <a16:creationId xmlns:a16="http://schemas.microsoft.com/office/drawing/2014/main" id="{242C58A1-BCB1-4DB1-9A5E-B4016BFEC84F}"/>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Векторизация запроса</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и поиск релевантных фрагментов</a:t>
            </a:r>
          </a:p>
        </p:txBody>
      </p:sp>
      <p:sp>
        <p:nvSpPr>
          <p:cNvPr id="7" name="Переход поиска 0">
            <a:extLst xmlns:a="http://schemas.openxmlformats.org/drawingml/2006/main">
              <a:ext uri="{FF2B5EF4-FFF2-40B4-BE49-F238E27FC236}">
                <a16:creationId xmlns:a16="http://schemas.microsoft.com/office/drawing/2014/main" id="{C9CCCCA0-F722-4512-869B-A45226BC6FA3}"/>
              </a:ext>
            </a:extLst>
          </p:cNvPr>
          <p:cNvSpPr>
            <a:spLocks xmlns:a="http://schemas.openxmlformats.org/drawingml/2006/main" noGrp="1"/>
          </p:cNvSpPr>
          <p:nvPr/>
        </p:nvSpPr>
        <p:spPr>
          <a:xfrm xmlns:a="http://schemas.openxmlformats.org/drawingml/2006/main">
            <a:off x="5010150" y="4543425"/>
            <a:ext cx="43815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8" name="Переход поиска 1">
            <a:extLst xmlns:a="http://schemas.openxmlformats.org/drawingml/2006/main">
              <a:ext uri="{FF2B5EF4-FFF2-40B4-BE49-F238E27FC236}">
                <a16:creationId xmlns:a16="http://schemas.microsoft.com/office/drawing/2014/main" id="{5377ED5D-E9AB-4249-AE13-AC9856161235}"/>
              </a:ext>
            </a:extLst>
          </p:cNvPr>
          <p:cNvSpPr>
            <a:spLocks xmlns:a="http://schemas.openxmlformats.org/drawingml/2006/main" noGrp="1"/>
          </p:cNvSpPr>
          <p:nvPr/>
        </p:nvSpPr>
        <p:spPr>
          <a:xfrm xmlns:a="http://schemas.openxmlformats.org/drawingml/2006/main">
            <a:off x="9820275" y="4543425"/>
            <a:ext cx="438150" cy="190500"/>
          </a:xfrm>
          <a:prstGeom xmlns:a="http://schemas.openxmlformats.org/drawingml/2006/main" prst="rightArrow">
            <a:avLst/>
          </a:prstGeom>
          <a:solidFill xmlns:a="http://schemas.openxmlformats.org/drawingml/2006/main">
            <a:srgbClr val="54D7FF"/>
          </a:solidFill>
          <a:ln xmlns:a="http://schemas.openxmlformats.org/drawingml/2006/main" w="0">
            <a:noFill/>
            <a:prstDash val="solid"/>
          </a:ln>
        </p:spPr>
      </p:sp>
      <p:sp>
        <p:nvSpPr>
          <p:cNvPr id="9" name="Стадия поиска 0">
            <a:extLst xmlns:a="http://schemas.openxmlformats.org/drawingml/2006/main">
              <a:ext uri="{FF2B5EF4-FFF2-40B4-BE49-F238E27FC236}">
                <a16:creationId xmlns:a16="http://schemas.microsoft.com/office/drawing/2014/main" id="{75E854DA-631A-4EFE-9C90-43DB3D2F7D0B}"/>
              </a:ext>
            </a:extLst>
          </p:cNvPr>
          <p:cNvSpPr>
            <a:spLocks xmlns:a="http://schemas.openxmlformats.org/drawingml/2006/main" noGrp="1"/>
          </p:cNvSpPr>
          <p:nvPr/>
        </p:nvSpPr>
        <p:spPr>
          <a:xfrm xmlns:a="http://schemas.openxmlformats.org/drawingml/2006/main">
            <a:off x="762000" y="3333750"/>
            <a:ext cx="4095750" cy="2771775"/>
          </a:xfrm>
          <a:prstGeom xmlns:a="http://schemas.openxmlformats.org/drawingml/2006/main" prst="roundRect">
            <a:avLst>
              <a:gd name="adj" fmla="val 6873"/>
            </a:avLst>
          </a:prstGeom>
          <a:solidFill xmlns:a="http://schemas.openxmlformats.org/drawingml/2006/main">
            <a:srgbClr val="0D1B2C"/>
          </a:solidFill>
          <a:ln xmlns:a="http://schemas.openxmlformats.org/drawingml/2006/main" w="14288">
            <a:solidFill>
              <a:srgbClr val="28425A"/>
            </a:solidFill>
            <a:prstDash val="solid"/>
          </a:ln>
        </p:spPr>
      </p:sp>
      <p:sp>
        <p:nvSpPr>
          <p:cNvPr id="10" name="Этап поиска 0">
            <a:extLst xmlns:a="http://schemas.openxmlformats.org/drawingml/2006/main">
              <a:ext uri="{FF2B5EF4-FFF2-40B4-BE49-F238E27FC236}">
                <a16:creationId xmlns:a16="http://schemas.microsoft.com/office/drawing/2014/main" id="{C546B511-AD45-485F-8B75-147AF92584D0}"/>
              </a:ext>
            </a:extLst>
          </p:cNvPr>
          <p:cNvSpPr>
            <a:spLocks xmlns:a="http://schemas.openxmlformats.org/drawingml/2006/main" noGrp="1"/>
          </p:cNvSpPr>
          <p:nvPr/>
        </p:nvSpPr>
        <p:spPr>
          <a:xfrm xmlns:a="http://schemas.openxmlformats.org/drawingml/2006/main">
            <a:off x="1000125" y="36480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00" b="1">
                <a:solidFill>
                  <a:srgbClr val="54D7FF"/>
                </a:solidFill>
                <a:latin typeface="Arial"/>
                <a:ea typeface="Arial"/>
                <a:cs typeface="Arial"/>
              </a:defRPr>
            </a:pPr>
            <a:r>
              <a:rPr sz="2400" b="1">
                <a:solidFill>
                  <a:srgbClr val="54D7FF"/>
                </a:solidFill>
                <a:latin typeface="Arial"/>
                <a:ea typeface="Arial"/>
                <a:cs typeface="Arial"/>
              </a:rPr>
              <a:t>Вопрос</a:t>
            </a:r>
          </a:p>
        </p:txBody>
      </p:sp>
      <p:sp>
        <p:nvSpPr>
          <p:cNvPr id="11" name="Данные поиска 0">
            <a:extLst xmlns:a="http://schemas.openxmlformats.org/drawingml/2006/main">
              <a:ext uri="{FF2B5EF4-FFF2-40B4-BE49-F238E27FC236}">
                <a16:creationId xmlns:a16="http://schemas.microsoft.com/office/drawing/2014/main" id="{9D727071-95BE-4E7F-9BDA-C430E6E8FBD1}"/>
              </a:ext>
            </a:extLst>
          </p:cNvPr>
          <p:cNvSpPr>
            <a:spLocks xmlns:a="http://schemas.openxmlformats.org/drawingml/2006/main" noGrp="1"/>
          </p:cNvSpPr>
          <p:nvPr/>
        </p:nvSpPr>
        <p:spPr>
          <a:xfrm xmlns:a="http://schemas.openxmlformats.org/drawingml/2006/main">
            <a:off x="1000125" y="4324350"/>
            <a:ext cx="3619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0">
                <a:solidFill>
                  <a:srgbClr val="F4F8FB"/>
                </a:solidFill>
                <a:latin typeface="Arial"/>
                <a:ea typeface="Arial"/>
                <a:cs typeface="Arial"/>
              </a:defRPr>
            </a:pPr>
            <a:r>
              <a:rPr sz="2025" b="0">
                <a:solidFill>
                  <a:srgbClr val="F4F8FB"/>
                </a:solidFill>
                <a:latin typeface="Arial"/>
                <a:ea typeface="Arial"/>
                <a:cs typeface="Arial"/>
              </a:rPr>
              <a:t>«Кто меняет график платежей?»</a:t>
            </a:r>
          </a:p>
        </p:txBody>
      </p:sp>
      <p:sp>
        <p:nvSpPr>
          <p:cNvPr id="12" name="Детали поиска 0">
            <a:extLst xmlns:a="http://schemas.openxmlformats.org/drawingml/2006/main">
              <a:ext uri="{FF2B5EF4-FFF2-40B4-BE49-F238E27FC236}">
                <a16:creationId xmlns:a16="http://schemas.microsoft.com/office/drawing/2014/main" id="{D2813C31-17AA-4543-B69C-E1DA90149169}"/>
              </a:ext>
            </a:extLst>
          </p:cNvPr>
          <p:cNvSpPr>
            <a:spLocks xmlns:a="http://schemas.openxmlformats.org/drawingml/2006/main" noGrp="1"/>
          </p:cNvSpPr>
          <p:nvPr/>
        </p:nvSpPr>
        <p:spPr>
          <a:xfrm xmlns:a="http://schemas.openxmlformats.org/drawingml/2006/main">
            <a:off x="1000125" y="5276850"/>
            <a:ext cx="36195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query embedding</a:t>
            </a:r>
          </a:p>
        </p:txBody>
      </p:sp>
      <p:sp>
        <p:nvSpPr>
          <p:cNvPr id="13" name="Стадия поиска 1">
            <a:extLst xmlns:a="http://schemas.openxmlformats.org/drawingml/2006/main">
              <a:ext uri="{FF2B5EF4-FFF2-40B4-BE49-F238E27FC236}">
                <a16:creationId xmlns:a16="http://schemas.microsoft.com/office/drawing/2014/main" id="{3F2F8A6E-7641-42BE-9113-46A3590EFB03}"/>
              </a:ext>
            </a:extLst>
          </p:cNvPr>
          <p:cNvSpPr>
            <a:spLocks xmlns:a="http://schemas.openxmlformats.org/drawingml/2006/main" noGrp="1"/>
          </p:cNvSpPr>
          <p:nvPr/>
        </p:nvSpPr>
        <p:spPr>
          <a:xfrm xmlns:a="http://schemas.openxmlformats.org/drawingml/2006/main">
            <a:off x="5572125" y="3333750"/>
            <a:ext cx="4095750" cy="2771775"/>
          </a:xfrm>
          <a:prstGeom xmlns:a="http://schemas.openxmlformats.org/drawingml/2006/main" prst="roundRect">
            <a:avLst>
              <a:gd name="adj" fmla="val 6873"/>
            </a:avLst>
          </a:prstGeom>
          <a:solidFill xmlns:a="http://schemas.openxmlformats.org/drawingml/2006/main">
            <a:srgbClr val="0D1B2C"/>
          </a:solidFill>
          <a:ln xmlns:a="http://schemas.openxmlformats.org/drawingml/2006/main" w="14288">
            <a:solidFill>
              <a:srgbClr val="28425A"/>
            </a:solidFill>
            <a:prstDash val="solid"/>
          </a:ln>
        </p:spPr>
      </p:sp>
      <p:sp>
        <p:nvSpPr>
          <p:cNvPr id="14" name="Этап поиска 1">
            <a:extLst xmlns:a="http://schemas.openxmlformats.org/drawingml/2006/main">
              <a:ext uri="{FF2B5EF4-FFF2-40B4-BE49-F238E27FC236}">
                <a16:creationId xmlns:a16="http://schemas.microsoft.com/office/drawing/2014/main" id="{0DC0D87A-DC8A-49A3-848E-E8AEA1ABFE6F}"/>
              </a:ext>
            </a:extLst>
          </p:cNvPr>
          <p:cNvSpPr>
            <a:spLocks xmlns:a="http://schemas.openxmlformats.org/drawingml/2006/main" noGrp="1"/>
          </p:cNvSpPr>
          <p:nvPr/>
        </p:nvSpPr>
        <p:spPr>
          <a:xfrm xmlns:a="http://schemas.openxmlformats.org/drawingml/2006/main">
            <a:off x="5810250" y="36480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00" b="1">
                <a:solidFill>
                  <a:srgbClr val="AF98FF"/>
                </a:solidFill>
                <a:latin typeface="Arial"/>
                <a:ea typeface="Arial"/>
                <a:cs typeface="Arial"/>
              </a:defRPr>
            </a:pPr>
            <a:r>
              <a:rPr sz="2400" b="1">
                <a:solidFill>
                  <a:srgbClr val="AF98FF"/>
                </a:solidFill>
                <a:latin typeface="Arial"/>
                <a:ea typeface="Arial"/>
                <a:cs typeface="Arial"/>
              </a:rPr>
              <a:t>Вектор вопроса</a:t>
            </a:r>
          </a:p>
        </p:txBody>
      </p:sp>
      <p:sp>
        <p:nvSpPr>
          <p:cNvPr id="15" name="Данные поиска 1">
            <a:extLst xmlns:a="http://schemas.openxmlformats.org/drawingml/2006/main">
              <a:ext uri="{FF2B5EF4-FFF2-40B4-BE49-F238E27FC236}">
                <a16:creationId xmlns:a16="http://schemas.microsoft.com/office/drawing/2014/main" id="{A97BA4C1-6B39-4A8A-90CD-4C92A475C03B}"/>
              </a:ext>
            </a:extLst>
          </p:cNvPr>
          <p:cNvSpPr>
            <a:spLocks xmlns:a="http://schemas.openxmlformats.org/drawingml/2006/main" noGrp="1"/>
          </p:cNvSpPr>
          <p:nvPr/>
        </p:nvSpPr>
        <p:spPr>
          <a:xfrm xmlns:a="http://schemas.openxmlformats.org/drawingml/2006/main">
            <a:off x="5810250" y="4324350"/>
            <a:ext cx="3619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0">
                <a:solidFill>
                  <a:srgbClr val="F4F8FB"/>
                </a:solidFill>
                <a:latin typeface="Arial"/>
                <a:ea typeface="Arial"/>
                <a:cs typeface="Arial"/>
              </a:defRPr>
            </a:pPr>
            <a:r>
              <a:rPr sz="2025" b="0">
                <a:solidFill>
                  <a:srgbClr val="F4F8FB"/>
                </a:solidFill>
                <a:latin typeface="Arial"/>
                <a:ea typeface="Arial"/>
                <a:cs typeface="Arial"/>
              </a:rPr>
              <a:t>[0.03, −0.12, …]</a:t>
            </a:r>
          </a:p>
        </p:txBody>
      </p:sp>
      <p:sp>
        <p:nvSpPr>
          <p:cNvPr id="16" name="Детали поиска 1">
            <a:extLst xmlns:a="http://schemas.openxmlformats.org/drawingml/2006/main">
              <a:ext uri="{FF2B5EF4-FFF2-40B4-BE49-F238E27FC236}">
                <a16:creationId xmlns:a16="http://schemas.microsoft.com/office/drawing/2014/main" id="{192A37FB-0052-484A-9710-B795C0424BED}"/>
              </a:ext>
            </a:extLst>
          </p:cNvPr>
          <p:cNvSpPr>
            <a:spLocks xmlns:a="http://schemas.openxmlformats.org/drawingml/2006/main" noGrp="1"/>
          </p:cNvSpPr>
          <p:nvPr/>
        </p:nvSpPr>
        <p:spPr>
          <a:xfrm xmlns:a="http://schemas.openxmlformats.org/drawingml/2006/main">
            <a:off x="5810250" y="5276850"/>
            <a:ext cx="36195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тот же hash или semantic provider</a:t>
            </a:r>
          </a:p>
        </p:txBody>
      </p:sp>
      <p:sp>
        <p:nvSpPr>
          <p:cNvPr id="17" name="Стадия поиска 2">
            <a:extLst xmlns:a="http://schemas.openxmlformats.org/drawingml/2006/main">
              <a:ext uri="{FF2B5EF4-FFF2-40B4-BE49-F238E27FC236}">
                <a16:creationId xmlns:a16="http://schemas.microsoft.com/office/drawing/2014/main" id="{B23B2309-8813-4B6A-BEF7-D3F992E0CDBF}"/>
              </a:ext>
            </a:extLst>
          </p:cNvPr>
          <p:cNvSpPr>
            <a:spLocks xmlns:a="http://schemas.openxmlformats.org/drawingml/2006/main" noGrp="1"/>
          </p:cNvSpPr>
          <p:nvPr/>
        </p:nvSpPr>
        <p:spPr>
          <a:xfrm xmlns:a="http://schemas.openxmlformats.org/drawingml/2006/main">
            <a:off x="10382250" y="3333750"/>
            <a:ext cx="4095750" cy="2771775"/>
          </a:xfrm>
          <a:prstGeom xmlns:a="http://schemas.openxmlformats.org/drawingml/2006/main" prst="roundRect">
            <a:avLst>
              <a:gd name="adj" fmla="val 6873"/>
            </a:avLst>
          </a:prstGeom>
          <a:solidFill xmlns:a="http://schemas.openxmlformats.org/drawingml/2006/main">
            <a:srgbClr val="0D1B2C"/>
          </a:solidFill>
          <a:ln xmlns:a="http://schemas.openxmlformats.org/drawingml/2006/main" w="14288">
            <a:solidFill>
              <a:srgbClr val="28425A"/>
            </a:solidFill>
            <a:prstDash val="solid"/>
          </a:ln>
        </p:spPr>
      </p:sp>
      <p:sp>
        <p:nvSpPr>
          <p:cNvPr id="18" name="Этап поиска 2">
            <a:extLst xmlns:a="http://schemas.openxmlformats.org/drawingml/2006/main">
              <a:ext uri="{FF2B5EF4-FFF2-40B4-BE49-F238E27FC236}">
                <a16:creationId xmlns:a16="http://schemas.microsoft.com/office/drawing/2014/main" id="{D9EB5E17-1A4F-4C40-ACBC-D4A2836C2DAF}"/>
              </a:ext>
            </a:extLst>
          </p:cNvPr>
          <p:cNvSpPr>
            <a:spLocks xmlns:a="http://schemas.openxmlformats.org/drawingml/2006/main" noGrp="1"/>
          </p:cNvSpPr>
          <p:nvPr/>
        </p:nvSpPr>
        <p:spPr>
          <a:xfrm xmlns:a="http://schemas.openxmlformats.org/drawingml/2006/main">
            <a:off x="10620375" y="36480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00" b="1">
                <a:solidFill>
                  <a:srgbClr val="5CE3A0"/>
                </a:solidFill>
                <a:latin typeface="Arial"/>
                <a:ea typeface="Arial"/>
                <a:cs typeface="Arial"/>
              </a:defRPr>
            </a:pPr>
            <a:r>
              <a:rPr sz="2400" b="1">
                <a:solidFill>
                  <a:srgbClr val="5CE3A0"/>
                </a:solidFill>
                <a:latin typeface="Arial"/>
                <a:ea typeface="Arial"/>
                <a:cs typeface="Arial"/>
              </a:rPr>
              <a:t>Матрица NumPy</a:t>
            </a:r>
          </a:p>
        </p:txBody>
      </p:sp>
      <p:sp>
        <p:nvSpPr>
          <p:cNvPr id="19" name="Данные поиска 2">
            <a:extLst xmlns:a="http://schemas.openxmlformats.org/drawingml/2006/main">
              <a:ext uri="{FF2B5EF4-FFF2-40B4-BE49-F238E27FC236}">
                <a16:creationId xmlns:a16="http://schemas.microsoft.com/office/drawing/2014/main" id="{35973EE4-DC9E-436E-B440-4EFF9795A618}"/>
              </a:ext>
            </a:extLst>
          </p:cNvPr>
          <p:cNvSpPr>
            <a:spLocks xmlns:a="http://schemas.openxmlformats.org/drawingml/2006/main" noGrp="1"/>
          </p:cNvSpPr>
          <p:nvPr/>
        </p:nvSpPr>
        <p:spPr>
          <a:xfrm xmlns:a="http://schemas.openxmlformats.org/drawingml/2006/main">
            <a:off x="10620375" y="4324350"/>
            <a:ext cx="3619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0">
                <a:solidFill>
                  <a:srgbClr val="F4F8FB"/>
                </a:solidFill>
                <a:latin typeface="Arial"/>
                <a:ea typeface="Arial"/>
                <a:cs typeface="Arial"/>
              </a:defRPr>
            </a:pPr>
            <a:r>
              <a:rPr sz="2025" b="0">
                <a:solidFill>
                  <a:srgbClr val="F4F8FB"/>
                </a:solidFill>
                <a:latin typeface="Arial"/>
                <a:ea typeface="Arial"/>
                <a:cs typeface="Arial"/>
              </a:rPr>
              <a:t>после фильтров</a:t>
            </a:r>
          </a:p>
        </p:txBody>
      </p:sp>
      <p:sp>
        <p:nvSpPr>
          <p:cNvPr id="20" name="Детали поиска 2">
            <a:extLst xmlns:a="http://schemas.openxmlformats.org/drawingml/2006/main">
              <a:ext uri="{FF2B5EF4-FFF2-40B4-BE49-F238E27FC236}">
                <a16:creationId xmlns:a16="http://schemas.microsoft.com/office/drawing/2014/main" id="{7D14237D-75A4-4BF0-972D-3EF19819638C}"/>
              </a:ext>
            </a:extLst>
          </p:cNvPr>
          <p:cNvSpPr>
            <a:spLocks xmlns:a="http://schemas.openxmlformats.org/drawingml/2006/main" noGrp="1"/>
          </p:cNvSpPr>
          <p:nvPr/>
        </p:nvSpPr>
        <p:spPr>
          <a:xfrm xmlns:a="http://schemas.openxmlformats.org/drawingml/2006/main">
            <a:off x="10620375" y="5276850"/>
            <a:ext cx="36195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matrix @ query_vector
→ score → top-k</a:t>
            </a:r>
          </a:p>
        </p:txBody>
      </p:sp>
      <p:sp>
        <p:nvSpPr>
          <p:cNvPr id="21" name="Акцент вывода">
            <a:extLst xmlns:a="http://schemas.openxmlformats.org/drawingml/2006/main">
              <a:ext uri="{FF2B5EF4-FFF2-40B4-BE49-F238E27FC236}">
                <a16:creationId xmlns:a16="http://schemas.microsoft.com/office/drawing/2014/main" id="{714D942B-8373-44FA-8C09-982BFDB948B8}"/>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2" name="Ключевой вывод">
            <a:extLst xmlns:a="http://schemas.openxmlformats.org/drawingml/2006/main">
              <a:ext uri="{FF2B5EF4-FFF2-40B4-BE49-F238E27FC236}">
                <a16:creationId xmlns:a16="http://schemas.microsoft.com/office/drawing/2014/main" id="{2E92A588-2D6E-43CD-AAA1-36749E9E173B}"/>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Полный перебор выбранных векторов, без ANN. </a:t>
            </a:r>
            <a:r>
              <a:rPr sz="1800" b="0">
                <a:solidFill>
                  <a:srgbClr val="A4B8C9"/>
                </a:solidFill>
                <a:latin typeface="Arial"/>
                <a:ea typeface="Arial"/>
                <a:cs typeface="Arial"/>
              </a:rPr>
              <a:t>Для нормализованных ненулевых векторов score — cosine similarity, а не вероятность правильного ответа.</a:t>
            </a:r>
          </a:p>
        </p:txBody>
      </p:sp>
    </p:spTree>
    <p:extLst>
      <p:ext uri="{BB962C8B-B14F-4D97-AF65-F5344CB8AC3E}">
        <p14:creationId xmlns:p14="http://schemas.microsoft.com/office/powerpoint/2010/main" val="417034546"/>
      </p:ext>
    </p:extLst>
  </p:cSld>
</p:sld>
</file>

<file path=ppt/slides/slide16.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4" name="Рамка слайда">
            <a:extLst xmlns:a="http://schemas.openxmlformats.org/drawingml/2006/main">
              <a:ext uri="{FF2B5EF4-FFF2-40B4-BE49-F238E27FC236}">
                <a16:creationId xmlns:a16="http://schemas.microsoft.com/office/drawing/2014/main" id="{551FA674-12C2-45BA-B688-7310C78A154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FB69621D-7554-43D4-9522-75DCA5316D32}"/>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87564B28-9C84-4568-AA56-0D9EB7F495CF}"/>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C96E9273-5D59-45A6-B8A6-DB53A31A89C9}"/>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16 / 27</a:t>
            </a:r>
          </a:p>
        </p:txBody>
      </p:sp>
      <p:sp>
        <p:nvSpPr>
          <p:cNvPr id="5" name="Надзаголовок">
            <a:extLst xmlns:a="http://schemas.openxmlformats.org/drawingml/2006/main">
              <a:ext uri="{FF2B5EF4-FFF2-40B4-BE49-F238E27FC236}">
                <a16:creationId xmlns:a16="http://schemas.microsoft.com/office/drawing/2014/main" id="{0A8150E2-F526-402F-8C0C-DF92D228D0B7}"/>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ОТ TOP-K К КОНТЕКСТУ</a:t>
            </a:r>
          </a:p>
        </p:txBody>
      </p:sp>
      <p:sp>
        <p:nvSpPr>
          <p:cNvPr id="6" name="Заголовок">
            <a:extLst xmlns:a="http://schemas.openxmlformats.org/drawingml/2006/main">
              <a:ext uri="{FF2B5EF4-FFF2-40B4-BE49-F238E27FC236}">
                <a16:creationId xmlns:a16="http://schemas.microsoft.com/office/drawing/2014/main" id="{79C02273-395C-444E-AADD-C73212AFD60C}"/>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Как найденные фрагменты</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попадают в ответ</a:t>
            </a:r>
          </a:p>
        </p:txBody>
      </p:sp>
      <p:sp>
        <p:nvSpPr>
          <p:cNvPr id="7" name="Переход графа 0">
            <a:extLst xmlns:a="http://schemas.openxmlformats.org/drawingml/2006/main">
              <a:ext uri="{FF2B5EF4-FFF2-40B4-BE49-F238E27FC236}">
                <a16:creationId xmlns:a16="http://schemas.microsoft.com/office/drawing/2014/main" id="{F70081FC-4399-4133-928F-14F267A9243D}"/>
              </a:ext>
            </a:extLst>
          </p:cNvPr>
          <p:cNvSpPr>
            <a:spLocks xmlns:a="http://schemas.openxmlformats.org/drawingml/2006/main" noGrp="1"/>
          </p:cNvSpPr>
          <p:nvPr/>
        </p:nvSpPr>
        <p:spPr>
          <a:xfrm xmlns:a="http://schemas.openxmlformats.org/drawingml/2006/main">
            <a:off x="3771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8" name="Переход графа 1">
            <a:extLst xmlns:a="http://schemas.openxmlformats.org/drawingml/2006/main">
              <a:ext uri="{FF2B5EF4-FFF2-40B4-BE49-F238E27FC236}">
                <a16:creationId xmlns:a16="http://schemas.microsoft.com/office/drawing/2014/main" id="{3912DC25-4DA7-44AC-ABD0-7A8C3E02A5B3}"/>
              </a:ext>
            </a:extLst>
          </p:cNvPr>
          <p:cNvSpPr>
            <a:spLocks xmlns:a="http://schemas.openxmlformats.org/drawingml/2006/main" noGrp="1"/>
          </p:cNvSpPr>
          <p:nvPr/>
        </p:nvSpPr>
        <p:spPr>
          <a:xfrm xmlns:a="http://schemas.openxmlformats.org/drawingml/2006/main">
            <a:off x="73914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9" name="Переход графа 2">
            <a:extLst xmlns:a="http://schemas.openxmlformats.org/drawingml/2006/main">
              <a:ext uri="{FF2B5EF4-FFF2-40B4-BE49-F238E27FC236}">
                <a16:creationId xmlns:a16="http://schemas.microsoft.com/office/drawing/2014/main" id="{BD0732BE-814A-4149-AC8E-25096394102C}"/>
              </a:ext>
            </a:extLst>
          </p:cNvPr>
          <p:cNvSpPr>
            <a:spLocks xmlns:a="http://schemas.openxmlformats.org/drawingml/2006/main" noGrp="1"/>
          </p:cNvSpPr>
          <p:nvPr/>
        </p:nvSpPr>
        <p:spPr>
          <a:xfrm xmlns:a="http://schemas.openxmlformats.org/drawingml/2006/main">
            <a:off x="11010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10" name="Акцент этапа 0">
            <a:extLst xmlns:a="http://schemas.openxmlformats.org/drawingml/2006/main">
              <a:ext uri="{FF2B5EF4-FFF2-40B4-BE49-F238E27FC236}">
                <a16:creationId xmlns:a16="http://schemas.microsoft.com/office/drawing/2014/main" id="{F2575196-3E1B-44EA-BF26-0EECAEE90269}"/>
              </a:ext>
            </a:extLst>
          </p:cNvPr>
          <p:cNvSpPr>
            <a:spLocks xmlns:a="http://schemas.openxmlformats.org/drawingml/2006/main" noGrp="1"/>
          </p:cNvSpPr>
          <p:nvPr/>
        </p:nvSpPr>
        <p:spPr>
          <a:xfrm xmlns:a="http://schemas.openxmlformats.org/drawingml/2006/main">
            <a:off x="762000" y="3333750"/>
            <a:ext cx="2857500" cy="28575"/>
          </a:xfrm>
          <a:prstGeom xmlns:a="http://schemas.openxmlformats.org/drawingml/2006/main" prst="rect">
            <a:avLst/>
          </a:prstGeom>
          <a:solidFill xmlns:a="http://schemas.openxmlformats.org/drawingml/2006/main">
            <a:srgbClr val="A4B8C9"/>
          </a:solidFill>
          <a:ln xmlns:a="http://schemas.openxmlformats.org/drawingml/2006/main" w="0">
            <a:noFill/>
            <a:prstDash val="solid"/>
          </a:ln>
        </p:spPr>
      </p:sp>
      <p:sp>
        <p:nvSpPr>
          <p:cNvPr id="11" name="Этап графа 0">
            <a:extLst xmlns:a="http://schemas.openxmlformats.org/drawingml/2006/main">
              <a:ext uri="{FF2B5EF4-FFF2-40B4-BE49-F238E27FC236}">
                <a16:creationId xmlns:a16="http://schemas.microsoft.com/office/drawing/2014/main" id="{023935E9-C9F4-45D4-9171-CF2C67697A4F}"/>
              </a:ext>
            </a:extLst>
          </p:cNvPr>
          <p:cNvSpPr>
            <a:spLocks xmlns:a="http://schemas.openxmlformats.org/drawingml/2006/main" noGrp="1"/>
          </p:cNvSpPr>
          <p:nvPr/>
        </p:nvSpPr>
        <p:spPr>
          <a:xfrm xmlns:a="http://schemas.openxmlformats.org/drawingml/2006/main">
            <a:off x="762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Вектор</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 фильтры</a:t>
            </a:r>
          </a:p>
        </p:txBody>
      </p:sp>
      <p:sp>
        <p:nvSpPr>
          <p:cNvPr id="12" name="Данные графа 0">
            <a:extLst xmlns:a="http://schemas.openxmlformats.org/drawingml/2006/main">
              <a:ext uri="{FF2B5EF4-FFF2-40B4-BE49-F238E27FC236}">
                <a16:creationId xmlns:a16="http://schemas.microsoft.com/office/drawing/2014/main" id="{7AB7F316-DD2A-4E37-8EAB-E510652A573D}"/>
              </a:ext>
            </a:extLst>
          </p:cNvPr>
          <p:cNvSpPr>
            <a:spLocks xmlns:a="http://schemas.openxmlformats.org/drawingml/2006/main" noGrp="1"/>
          </p:cNvSpPr>
          <p:nvPr/>
        </p:nvSpPr>
        <p:spPr>
          <a:xfrm xmlns:a="http://schemas.openxmlformats.org/drawingml/2006/main">
            <a:off x="762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Вопрос кодируется тем же провайдером. По умолчанию status=current; можно отфильтровать метаданные.</a:t>
            </a:r>
          </a:p>
        </p:txBody>
      </p:sp>
      <p:sp>
        <p:nvSpPr>
          <p:cNvPr id="13" name="Акцент этапа 1">
            <a:extLst xmlns:a="http://schemas.openxmlformats.org/drawingml/2006/main">
              <a:ext uri="{FF2B5EF4-FFF2-40B4-BE49-F238E27FC236}">
                <a16:creationId xmlns:a16="http://schemas.microsoft.com/office/drawing/2014/main" id="{0860E638-430F-472A-8D6E-380406E1EC03}"/>
              </a:ext>
            </a:extLst>
          </p:cNvPr>
          <p:cNvSpPr>
            <a:spLocks xmlns:a="http://schemas.openxmlformats.org/drawingml/2006/main" noGrp="1"/>
          </p:cNvSpPr>
          <p:nvPr/>
        </p:nvSpPr>
        <p:spPr>
          <a:xfrm xmlns:a="http://schemas.openxmlformats.org/drawingml/2006/main">
            <a:off x="4381500" y="3333750"/>
            <a:ext cx="28575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4" name="Этап графа 1">
            <a:extLst xmlns:a="http://schemas.openxmlformats.org/drawingml/2006/main">
              <a:ext uri="{FF2B5EF4-FFF2-40B4-BE49-F238E27FC236}">
                <a16:creationId xmlns:a16="http://schemas.microsoft.com/office/drawing/2014/main" id="{9F24E217-7BB9-4E7F-96F7-34F2BBB2B383}"/>
              </a:ext>
            </a:extLst>
          </p:cNvPr>
          <p:cNvSpPr>
            <a:spLocks xmlns:a="http://schemas.openxmlformats.org/drawingml/2006/main" noGrp="1"/>
          </p:cNvSpPr>
          <p:nvPr/>
        </p:nvSpPr>
        <p:spPr>
          <a:xfrm xmlns:a="http://schemas.openxmlformats.org/drawingml/2006/main">
            <a:off x="4381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Кандидаты</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по score</a:t>
            </a:r>
          </a:p>
        </p:txBody>
      </p:sp>
      <p:sp>
        <p:nvSpPr>
          <p:cNvPr id="15" name="Данные графа 1">
            <a:extLst xmlns:a="http://schemas.openxmlformats.org/drawingml/2006/main">
              <a:ext uri="{FF2B5EF4-FFF2-40B4-BE49-F238E27FC236}">
                <a16:creationId xmlns:a16="http://schemas.microsoft.com/office/drawing/2014/main" id="{01AF4E37-0279-48C7-93D2-D40597D1AE72}"/>
              </a:ext>
            </a:extLst>
          </p:cNvPr>
          <p:cNvSpPr>
            <a:spLocks xmlns:a="http://schemas.openxmlformats.org/drawingml/2006/main" noGrp="1"/>
          </p:cNvSpPr>
          <p:nvPr/>
        </p:nvSpPr>
        <p:spPr>
          <a:xfrm xmlns:a="http://schemas.openxmlformats.org/drawingml/2006/main">
            <a:off x="4381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Полный поиск и ранжирование. При стандартных настройках выбирается до 12 кандидатов.</a:t>
            </a:r>
          </a:p>
        </p:txBody>
      </p:sp>
      <p:sp>
        <p:nvSpPr>
          <p:cNvPr id="16" name="Акцент этапа 2">
            <a:extLst xmlns:a="http://schemas.openxmlformats.org/drawingml/2006/main">
              <a:ext uri="{FF2B5EF4-FFF2-40B4-BE49-F238E27FC236}">
                <a16:creationId xmlns:a16="http://schemas.microsoft.com/office/drawing/2014/main" id="{F615F3F9-3BF3-40E8-A274-B0D44ADD8EF4}"/>
              </a:ext>
            </a:extLst>
          </p:cNvPr>
          <p:cNvSpPr>
            <a:spLocks xmlns:a="http://schemas.openxmlformats.org/drawingml/2006/main" noGrp="1"/>
          </p:cNvSpPr>
          <p:nvPr/>
        </p:nvSpPr>
        <p:spPr>
          <a:xfrm xmlns:a="http://schemas.openxmlformats.org/drawingml/2006/main">
            <a:off x="8001000" y="3333750"/>
            <a:ext cx="28575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Этап графа 2">
            <a:extLst xmlns:a="http://schemas.openxmlformats.org/drawingml/2006/main">
              <a:ext uri="{FF2B5EF4-FFF2-40B4-BE49-F238E27FC236}">
                <a16:creationId xmlns:a16="http://schemas.microsoft.com/office/drawing/2014/main" id="{1054F0DE-E03B-4FE5-914D-E3789485C119}"/>
              </a:ext>
            </a:extLst>
          </p:cNvPr>
          <p:cNvSpPr>
            <a:spLocks xmlns:a="http://schemas.openxmlformats.org/drawingml/2006/main" noGrp="1"/>
          </p:cNvSpPr>
          <p:nvPr/>
        </p:nvSpPr>
        <p:spPr>
          <a:xfrm xmlns:a="http://schemas.openxmlformats.org/drawingml/2006/main">
            <a:off x="8001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Короткие</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выдержки</a:t>
            </a:r>
          </a:p>
        </p:txBody>
      </p:sp>
      <p:sp>
        <p:nvSpPr>
          <p:cNvPr id="18" name="Данные графа 2">
            <a:extLst xmlns:a="http://schemas.openxmlformats.org/drawingml/2006/main">
              <a:ext uri="{FF2B5EF4-FFF2-40B4-BE49-F238E27FC236}">
                <a16:creationId xmlns:a16="http://schemas.microsoft.com/office/drawing/2014/main" id="{FA15BB49-2691-4E91-B062-10F761EA68F7}"/>
              </a:ext>
            </a:extLst>
          </p:cNvPr>
          <p:cNvSpPr>
            <a:spLocks xmlns:a="http://schemas.openxmlformats.org/drawingml/2006/main" noGrp="1"/>
          </p:cNvSpPr>
          <p:nvPr/>
        </p:nvSpPr>
        <p:spPr>
          <a:xfrm xmlns:a="http://schemas.openxmlformats.org/drawingml/2006/main">
            <a:off x="8001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До 3 результатов, до 1 чанка на документ. До 260 условных токенов на выдержку.</a:t>
            </a:r>
          </a:p>
        </p:txBody>
      </p:sp>
      <p:sp>
        <p:nvSpPr>
          <p:cNvPr id="19" name="Акцент этапа 3">
            <a:extLst xmlns:a="http://schemas.openxmlformats.org/drawingml/2006/main">
              <a:ext uri="{FF2B5EF4-FFF2-40B4-BE49-F238E27FC236}">
                <a16:creationId xmlns:a16="http://schemas.microsoft.com/office/drawing/2014/main" id="{1D1BB226-2B83-4735-8F76-26E50D32FF60}"/>
              </a:ext>
            </a:extLst>
          </p:cNvPr>
          <p:cNvSpPr>
            <a:spLocks xmlns:a="http://schemas.openxmlformats.org/drawingml/2006/main" noGrp="1"/>
          </p:cNvSpPr>
          <p:nvPr/>
        </p:nvSpPr>
        <p:spPr>
          <a:xfrm xmlns:a="http://schemas.openxmlformats.org/drawingml/2006/main">
            <a:off x="11620500" y="3333750"/>
            <a:ext cx="28575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0" name="Этап графа 3">
            <a:extLst xmlns:a="http://schemas.openxmlformats.org/drawingml/2006/main">
              <a:ext uri="{FF2B5EF4-FFF2-40B4-BE49-F238E27FC236}">
                <a16:creationId xmlns:a16="http://schemas.microsoft.com/office/drawing/2014/main" id="{F19080D8-62FA-4CE2-9E7F-9F73084E7F4D}"/>
              </a:ext>
            </a:extLst>
          </p:cNvPr>
          <p:cNvSpPr>
            <a:spLocks xmlns:a="http://schemas.openxmlformats.org/drawingml/2006/main" noGrp="1"/>
          </p:cNvSpPr>
          <p:nvPr/>
        </p:nvSpPr>
        <p:spPr>
          <a:xfrm xmlns:a="http://schemas.openxmlformats.org/drawingml/2006/main">
            <a:off x="11620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Контекст</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для LLM</a:t>
            </a:r>
          </a:p>
        </p:txBody>
      </p:sp>
      <p:sp>
        <p:nvSpPr>
          <p:cNvPr id="21" name="Данные графа 3">
            <a:extLst xmlns:a="http://schemas.openxmlformats.org/drawingml/2006/main">
              <a:ext uri="{FF2B5EF4-FFF2-40B4-BE49-F238E27FC236}">
                <a16:creationId xmlns:a16="http://schemas.microsoft.com/office/drawing/2014/main" id="{DD2FDFF0-4436-46EE-9909-B4229A10FCC4}"/>
              </a:ext>
            </a:extLst>
          </p:cNvPr>
          <p:cNvSpPr>
            <a:spLocks xmlns:a="http://schemas.openxmlformats.org/drawingml/2006/main" noGrp="1"/>
          </p:cNvSpPr>
          <p:nvPr/>
        </p:nvSpPr>
        <p:spPr>
          <a:xfrm xmlns:a="http://schemas.openxmlformats.org/drawingml/2006/main">
            <a:off x="11620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MCP возвращает текст, score и citation. LLM-клиент формулирует ответ по найденным источникам.</a:t>
            </a:r>
          </a:p>
        </p:txBody>
      </p:sp>
      <p:sp>
        <p:nvSpPr>
          <p:cNvPr id="22" name="Акцент вывода">
            <a:extLst xmlns:a="http://schemas.openxmlformats.org/drawingml/2006/main">
              <a:ext uri="{FF2B5EF4-FFF2-40B4-BE49-F238E27FC236}">
                <a16:creationId xmlns:a16="http://schemas.microsoft.com/office/drawing/2014/main" id="{E276D912-2576-432D-9D2B-7D1BF6F80377}"/>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3" name="Ключевой вывод">
            <a:extLst xmlns:a="http://schemas.openxmlformats.org/drawingml/2006/main">
              <a:ext uri="{FF2B5EF4-FFF2-40B4-BE49-F238E27FC236}">
                <a16:creationId xmlns:a16="http://schemas.microsoft.com/office/drawing/2014/main" id="{5E77864F-A6DA-44CA-9FB1-D65661C56B5D}"/>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12 → 3 — настройки по умолчанию, не гарантия числа результатов. </a:t>
            </a:r>
            <a:r>
              <a:rPr sz="1800" b="0">
                <a:solidFill>
                  <a:srgbClr val="A4B8C9"/>
                </a:solidFill>
                <a:latin typeface="Arial"/>
                <a:ea typeface="Arial"/>
                <a:cs typeface="Arial"/>
              </a:rPr>
              <a:t>Бюджет 1000 считает только тексты выдержек; сжатие извлекает предложения без отдельной LLM.</a:t>
            </a:r>
          </a:p>
        </p:txBody>
      </p:sp>
    </p:spTree>
    <p:extLst>
      <p:ext uri="{BB962C8B-B14F-4D97-AF65-F5344CB8AC3E}">
        <p14:creationId xmlns:p14="http://schemas.microsoft.com/office/powerpoint/2010/main" val="1557549246"/>
      </p:ext>
    </p:extLst>
  </p:cSld>
</p:sld>
</file>

<file path=ppt/slides/slide17.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4" name="Рамка слайда">
            <a:extLst xmlns:a="http://schemas.openxmlformats.org/drawingml/2006/main">
              <a:ext uri="{FF2B5EF4-FFF2-40B4-BE49-F238E27FC236}">
                <a16:creationId xmlns:a16="http://schemas.microsoft.com/office/drawing/2014/main" id="{BD89F306-D873-443D-B7B6-5F5B211DA18A}"/>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6B7DF547-E51D-41AD-AE40-2243D3EF6610}"/>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23EE4370-72F6-405C-B803-696F6800F43B}"/>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A5574BFC-3423-4077-8CE8-42CD8FA0983C}"/>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17 / 27</a:t>
            </a:r>
          </a:p>
        </p:txBody>
      </p:sp>
      <p:sp>
        <p:nvSpPr>
          <p:cNvPr id="5" name="Надзаголовок">
            <a:extLst xmlns:a="http://schemas.openxmlformats.org/drawingml/2006/main">
              <a:ext uri="{FF2B5EF4-FFF2-40B4-BE49-F238E27FC236}">
                <a16:creationId xmlns:a16="http://schemas.microsoft.com/office/drawing/2014/main" id="{97BC9A5F-AC5C-4B74-B473-EFA1B37E41F8}"/>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ГРАФ СИСТЕМЫ</a:t>
            </a:r>
          </a:p>
        </p:txBody>
      </p:sp>
      <p:sp>
        <p:nvSpPr>
          <p:cNvPr id="6" name="Заголовок">
            <a:extLst xmlns:a="http://schemas.openxmlformats.org/drawingml/2006/main">
              <a:ext uri="{FF2B5EF4-FFF2-40B4-BE49-F238E27FC236}">
                <a16:creationId xmlns:a16="http://schemas.microsoft.com/office/drawing/2014/main" id="{F480A352-5BFE-4952-B1DB-96F62EBDBFC8}"/>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Построение графа</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AF98FF"/>
                </a:solidFill>
                <a:latin typeface="Arial"/>
                <a:ea typeface="Arial"/>
                <a:cs typeface="Arial"/>
              </a:rPr>
              <a:t>межсервисных связей</a:t>
            </a:r>
          </a:p>
        </p:txBody>
      </p:sp>
      <p:sp>
        <p:nvSpPr>
          <p:cNvPr id="7" name="Переход графа 0">
            <a:extLst xmlns:a="http://schemas.openxmlformats.org/drawingml/2006/main">
              <a:ext uri="{FF2B5EF4-FFF2-40B4-BE49-F238E27FC236}">
                <a16:creationId xmlns:a16="http://schemas.microsoft.com/office/drawing/2014/main" id="{F5C0E3F2-7AC9-4314-B5AB-C1741888B482}"/>
              </a:ext>
            </a:extLst>
          </p:cNvPr>
          <p:cNvSpPr>
            <a:spLocks xmlns:a="http://schemas.openxmlformats.org/drawingml/2006/main" noGrp="1"/>
          </p:cNvSpPr>
          <p:nvPr/>
        </p:nvSpPr>
        <p:spPr>
          <a:xfrm xmlns:a="http://schemas.openxmlformats.org/drawingml/2006/main">
            <a:off x="3771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8" name="Переход графа 1">
            <a:extLst xmlns:a="http://schemas.openxmlformats.org/drawingml/2006/main">
              <a:ext uri="{FF2B5EF4-FFF2-40B4-BE49-F238E27FC236}">
                <a16:creationId xmlns:a16="http://schemas.microsoft.com/office/drawing/2014/main" id="{B7B473A5-39B9-43FC-9007-1DBA71E8EAED}"/>
              </a:ext>
            </a:extLst>
          </p:cNvPr>
          <p:cNvSpPr>
            <a:spLocks xmlns:a="http://schemas.openxmlformats.org/drawingml/2006/main" noGrp="1"/>
          </p:cNvSpPr>
          <p:nvPr/>
        </p:nvSpPr>
        <p:spPr>
          <a:xfrm xmlns:a="http://schemas.openxmlformats.org/drawingml/2006/main">
            <a:off x="73914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9" name="Переход графа 2">
            <a:extLst xmlns:a="http://schemas.openxmlformats.org/drawingml/2006/main">
              <a:ext uri="{FF2B5EF4-FFF2-40B4-BE49-F238E27FC236}">
                <a16:creationId xmlns:a16="http://schemas.microsoft.com/office/drawing/2014/main" id="{535B0CCF-6286-4645-8115-600CDFAB0AAC}"/>
              </a:ext>
            </a:extLst>
          </p:cNvPr>
          <p:cNvSpPr>
            <a:spLocks xmlns:a="http://schemas.openxmlformats.org/drawingml/2006/main" noGrp="1"/>
          </p:cNvSpPr>
          <p:nvPr/>
        </p:nvSpPr>
        <p:spPr>
          <a:xfrm xmlns:a="http://schemas.openxmlformats.org/drawingml/2006/main">
            <a:off x="11010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10" name="Акцент этапа 0">
            <a:extLst xmlns:a="http://schemas.openxmlformats.org/drawingml/2006/main">
              <a:ext uri="{FF2B5EF4-FFF2-40B4-BE49-F238E27FC236}">
                <a16:creationId xmlns:a16="http://schemas.microsoft.com/office/drawing/2014/main" id="{CAF21FB2-B549-430C-8904-E46616D97970}"/>
              </a:ext>
            </a:extLst>
          </p:cNvPr>
          <p:cNvSpPr>
            <a:spLocks xmlns:a="http://schemas.openxmlformats.org/drawingml/2006/main" noGrp="1"/>
          </p:cNvSpPr>
          <p:nvPr/>
        </p:nvSpPr>
        <p:spPr>
          <a:xfrm xmlns:a="http://schemas.openxmlformats.org/drawingml/2006/main">
            <a:off x="762000" y="3333750"/>
            <a:ext cx="2857500" cy="28575"/>
          </a:xfrm>
          <a:prstGeom xmlns:a="http://schemas.openxmlformats.org/drawingml/2006/main" prst="rect">
            <a:avLst/>
          </a:prstGeom>
          <a:solidFill xmlns:a="http://schemas.openxmlformats.org/drawingml/2006/main">
            <a:srgbClr val="A4B8C9"/>
          </a:solidFill>
          <a:ln xmlns:a="http://schemas.openxmlformats.org/drawingml/2006/main" w="0">
            <a:noFill/>
            <a:prstDash val="solid"/>
          </a:ln>
        </p:spPr>
      </p:sp>
      <p:sp>
        <p:nvSpPr>
          <p:cNvPr id="11" name="Этап графа 0">
            <a:extLst xmlns:a="http://schemas.openxmlformats.org/drawingml/2006/main">
              <a:ext uri="{FF2B5EF4-FFF2-40B4-BE49-F238E27FC236}">
                <a16:creationId xmlns:a16="http://schemas.microsoft.com/office/drawing/2014/main" id="{A98B7F55-D794-4BC3-9B65-F8340435BAAD}"/>
              </a:ext>
            </a:extLst>
          </p:cNvPr>
          <p:cNvSpPr>
            <a:spLocks xmlns:a="http://schemas.openxmlformats.org/drawingml/2006/main" noGrp="1"/>
          </p:cNvSpPr>
          <p:nvPr/>
        </p:nvSpPr>
        <p:spPr>
          <a:xfrm xmlns:a="http://schemas.openxmlformats.org/drawingml/2006/main">
            <a:off x="762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Исходники</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 контракты</a:t>
            </a:r>
          </a:p>
        </p:txBody>
      </p:sp>
      <p:sp>
        <p:nvSpPr>
          <p:cNvPr id="12" name="Данные графа 0">
            <a:extLst xmlns:a="http://schemas.openxmlformats.org/drawingml/2006/main">
              <a:ext uri="{FF2B5EF4-FFF2-40B4-BE49-F238E27FC236}">
                <a16:creationId xmlns:a16="http://schemas.microsoft.com/office/drawing/2014/main" id="{32E0D4C4-9CB3-4DD8-A846-AF3E880B4532}"/>
              </a:ext>
            </a:extLst>
          </p:cNvPr>
          <p:cNvSpPr>
            <a:spLocks xmlns:a="http://schemas.openxmlformats.org/drawingml/2006/main" noGrp="1"/>
          </p:cNvSpPr>
          <p:nvPr/>
        </p:nvSpPr>
        <p:spPr>
          <a:xfrm xmlns:a="http://schemas.openxmlformats.org/drawingml/2006/main">
            <a:off x="762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клиенты HTTP · OpenAPI · Kafka · конфигурация</a:t>
            </a:r>
          </a:p>
        </p:txBody>
      </p:sp>
      <p:sp>
        <p:nvSpPr>
          <p:cNvPr id="13" name="Акцент этапа 1">
            <a:extLst xmlns:a="http://schemas.openxmlformats.org/drawingml/2006/main">
              <a:ext uri="{FF2B5EF4-FFF2-40B4-BE49-F238E27FC236}">
                <a16:creationId xmlns:a16="http://schemas.microsoft.com/office/drawing/2014/main" id="{ED9490C9-CC34-4609-B8B2-008549248D19}"/>
              </a:ext>
            </a:extLst>
          </p:cNvPr>
          <p:cNvSpPr>
            <a:spLocks xmlns:a="http://schemas.openxmlformats.org/drawingml/2006/main" noGrp="1"/>
          </p:cNvSpPr>
          <p:nvPr/>
        </p:nvSpPr>
        <p:spPr>
          <a:xfrm xmlns:a="http://schemas.openxmlformats.org/drawingml/2006/main">
            <a:off x="4381500" y="3333750"/>
            <a:ext cx="28575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4" name="Этап графа 1">
            <a:extLst xmlns:a="http://schemas.openxmlformats.org/drawingml/2006/main">
              <a:ext uri="{FF2B5EF4-FFF2-40B4-BE49-F238E27FC236}">
                <a16:creationId xmlns:a16="http://schemas.microsoft.com/office/drawing/2014/main" id="{7AC45235-A3B0-4637-B1A8-9E904A392E62}"/>
              </a:ext>
            </a:extLst>
          </p:cNvPr>
          <p:cNvSpPr>
            <a:spLocks xmlns:a="http://schemas.openxmlformats.org/drawingml/2006/main" noGrp="1"/>
          </p:cNvSpPr>
          <p:nvPr/>
        </p:nvSpPr>
        <p:spPr>
          <a:xfrm xmlns:a="http://schemas.openxmlformats.org/drawingml/2006/main">
            <a:off x="4381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Извлекаем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связи</a:t>
            </a:r>
          </a:p>
        </p:txBody>
      </p:sp>
      <p:sp>
        <p:nvSpPr>
          <p:cNvPr id="15" name="Данные графа 1">
            <a:extLst xmlns:a="http://schemas.openxmlformats.org/drawingml/2006/main">
              <a:ext uri="{FF2B5EF4-FFF2-40B4-BE49-F238E27FC236}">
                <a16:creationId xmlns:a16="http://schemas.microsoft.com/office/drawing/2014/main" id="{F039175B-7A0C-4C38-8B30-892288EF2D73}"/>
              </a:ext>
            </a:extLst>
          </p:cNvPr>
          <p:cNvSpPr>
            <a:spLocks xmlns:a="http://schemas.openxmlformats.org/drawingml/2006/main" noGrp="1"/>
          </p:cNvSpPr>
          <p:nvPr/>
        </p:nvSpPr>
        <p:spPr>
          <a:xfrm xmlns:a="http://schemas.openxmlformats.org/drawingml/2006/main">
            <a:off x="4381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кто вызывает, публикует, читает и владеет данными</a:t>
            </a:r>
          </a:p>
        </p:txBody>
      </p:sp>
      <p:sp>
        <p:nvSpPr>
          <p:cNvPr id="16" name="Акцент этапа 2">
            <a:extLst xmlns:a="http://schemas.openxmlformats.org/drawingml/2006/main">
              <a:ext uri="{FF2B5EF4-FFF2-40B4-BE49-F238E27FC236}">
                <a16:creationId xmlns:a16="http://schemas.microsoft.com/office/drawing/2014/main" id="{68A2B033-CE3C-4B88-AB3B-71C05B7497F8}"/>
              </a:ext>
            </a:extLst>
          </p:cNvPr>
          <p:cNvSpPr>
            <a:spLocks xmlns:a="http://schemas.openxmlformats.org/drawingml/2006/main" noGrp="1"/>
          </p:cNvSpPr>
          <p:nvPr/>
        </p:nvSpPr>
        <p:spPr>
          <a:xfrm xmlns:a="http://schemas.openxmlformats.org/drawingml/2006/main">
            <a:off x="8001000" y="3333750"/>
            <a:ext cx="28575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Этап графа 2">
            <a:extLst xmlns:a="http://schemas.openxmlformats.org/drawingml/2006/main">
              <a:ext uri="{FF2B5EF4-FFF2-40B4-BE49-F238E27FC236}">
                <a16:creationId xmlns:a16="http://schemas.microsoft.com/office/drawing/2014/main" id="{B838B32A-47C4-4B47-BA14-C30F8818D9ED}"/>
              </a:ext>
            </a:extLst>
          </p:cNvPr>
          <p:cNvSpPr>
            <a:spLocks xmlns:a="http://schemas.openxmlformats.org/drawingml/2006/main" noGrp="1"/>
          </p:cNvSpPr>
          <p:nvPr/>
        </p:nvSpPr>
        <p:spPr>
          <a:xfrm xmlns:a="http://schemas.openxmlformats.org/drawingml/2006/main">
            <a:off x="8001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Граф</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сервисов</a:t>
            </a:r>
          </a:p>
        </p:txBody>
      </p:sp>
      <p:sp>
        <p:nvSpPr>
          <p:cNvPr id="18" name="Данные графа 2">
            <a:extLst xmlns:a="http://schemas.openxmlformats.org/drawingml/2006/main">
              <a:ext uri="{FF2B5EF4-FFF2-40B4-BE49-F238E27FC236}">
                <a16:creationId xmlns:a16="http://schemas.microsoft.com/office/drawing/2014/main" id="{A5B9FE44-B3B8-4918-A8D3-B52808DEC4CA}"/>
              </a:ext>
            </a:extLst>
          </p:cNvPr>
          <p:cNvSpPr>
            <a:spLocks xmlns:a="http://schemas.openxmlformats.org/drawingml/2006/main" noGrp="1"/>
          </p:cNvSpPr>
          <p:nvPr/>
        </p:nvSpPr>
        <p:spPr>
          <a:xfrm xmlns:a="http://schemas.openxmlformats.org/drawingml/2006/main">
            <a:off x="8001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узлы · рёбра · направление · confidence</a:t>
            </a:r>
          </a:p>
        </p:txBody>
      </p:sp>
      <p:sp>
        <p:nvSpPr>
          <p:cNvPr id="19" name="Акцент этапа 3">
            <a:extLst xmlns:a="http://schemas.openxmlformats.org/drawingml/2006/main">
              <a:ext uri="{FF2B5EF4-FFF2-40B4-BE49-F238E27FC236}">
                <a16:creationId xmlns:a16="http://schemas.microsoft.com/office/drawing/2014/main" id="{DF656D7C-E87B-42B5-B45D-9EC18FD81498}"/>
              </a:ext>
            </a:extLst>
          </p:cNvPr>
          <p:cNvSpPr>
            <a:spLocks xmlns:a="http://schemas.openxmlformats.org/drawingml/2006/main" noGrp="1"/>
          </p:cNvSpPr>
          <p:nvPr/>
        </p:nvSpPr>
        <p:spPr>
          <a:xfrm xmlns:a="http://schemas.openxmlformats.org/drawingml/2006/main">
            <a:off x="11620500" y="3333750"/>
            <a:ext cx="28575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0" name="Этап графа 3">
            <a:extLst xmlns:a="http://schemas.openxmlformats.org/drawingml/2006/main">
              <a:ext uri="{FF2B5EF4-FFF2-40B4-BE49-F238E27FC236}">
                <a16:creationId xmlns:a16="http://schemas.microsoft.com/office/drawing/2014/main" id="{A9A6163A-7BE1-4DC1-9F82-4A74BDAB42C6}"/>
              </a:ext>
            </a:extLst>
          </p:cNvPr>
          <p:cNvSpPr>
            <a:spLocks xmlns:a="http://schemas.openxmlformats.org/drawingml/2006/main" noGrp="1"/>
          </p:cNvSpPr>
          <p:nvPr/>
        </p:nvSpPr>
        <p:spPr>
          <a:xfrm xmlns:a="http://schemas.openxmlformats.org/drawingml/2006/main">
            <a:off x="11620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Evidence</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 revision</a:t>
            </a:r>
          </a:p>
        </p:txBody>
      </p:sp>
      <p:sp>
        <p:nvSpPr>
          <p:cNvPr id="21" name="Данные графа 3">
            <a:extLst xmlns:a="http://schemas.openxmlformats.org/drawingml/2006/main">
              <a:ext uri="{FF2B5EF4-FFF2-40B4-BE49-F238E27FC236}">
                <a16:creationId xmlns:a16="http://schemas.microsoft.com/office/drawing/2014/main" id="{54B0CF8C-AF1C-4A8A-ABE3-D75C910D7252}"/>
              </a:ext>
            </a:extLst>
          </p:cNvPr>
          <p:cNvSpPr>
            <a:spLocks xmlns:a="http://schemas.openxmlformats.org/drawingml/2006/main" noGrp="1"/>
          </p:cNvSpPr>
          <p:nvPr/>
        </p:nvSpPr>
        <p:spPr>
          <a:xfrm xmlns:a="http://schemas.openxmlformats.org/drawingml/2006/main">
            <a:off x="11620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видно, из какого источника взята каждая связь</a:t>
            </a:r>
          </a:p>
        </p:txBody>
      </p:sp>
      <p:sp>
        <p:nvSpPr>
          <p:cNvPr id="22" name="Акцент вывода">
            <a:extLst xmlns:a="http://schemas.openxmlformats.org/drawingml/2006/main">
              <a:ext uri="{FF2B5EF4-FFF2-40B4-BE49-F238E27FC236}">
                <a16:creationId xmlns:a16="http://schemas.microsoft.com/office/drawing/2014/main" id="{A1EE501C-733B-47C2-B924-09067B9C74F6}"/>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3" name="Ключевой вывод">
            <a:extLst xmlns:a="http://schemas.openxmlformats.org/drawingml/2006/main">
              <a:ext uri="{FF2B5EF4-FFF2-40B4-BE49-F238E27FC236}">
                <a16:creationId xmlns:a16="http://schemas.microsoft.com/office/drawing/2014/main" id="{E7621B4C-E10E-4C6E-B450-D6C3DA0ACDAB}"/>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1">
                <a:solidFill>
                  <a:srgbClr val="F4F8FB"/>
                </a:solidFill>
                <a:latin typeface="Arial"/>
                <a:ea typeface="Arial"/>
                <a:cs typeface="Arial"/>
              </a:rPr>
              <a:t>Это навигация, а не runtime trace:</a:t>
            </a:r>
            <a:r>
              <a:rPr sz="1800" b="0">
                <a:solidFill>
                  <a:srgbClr val="A4B8C9"/>
                </a:solidFill>
                <a:latin typeface="Arial"/>
                <a:ea typeface="Arial"/>
                <a:cs typeface="Arial"/>
              </a:rPr>
              <a:t> граф помогает выбрать маршрут анализа, но важный вывод всё равно проверяется по коду, контракту и документу.</a:t>
            </a:r>
          </a:p>
        </p:txBody>
      </p:sp>
    </p:spTree>
    <p:extLst>
      <p:ext uri="{BB962C8B-B14F-4D97-AF65-F5344CB8AC3E}">
        <p14:creationId xmlns:p14="http://schemas.microsoft.com/office/powerpoint/2010/main" val="937715852"/>
      </p:ext>
    </p:extLst>
  </p:cSld>
</p:sld>
</file>

<file path=ppt/slides/slide18.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A0CF447D-C47F-439E-83E2-648669EEE586}"/>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F60C6A8-A811-4ACA-B1E0-1899E08F4974}"/>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48BF6F16-320E-4A8F-AE18-0F160D5D9D7D}"/>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46EDB48F-44BD-4A29-A83F-E04D10E951BE}"/>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18 / 27</a:t>
            </a:r>
          </a:p>
        </p:txBody>
      </p:sp>
      <p:sp>
        <p:nvSpPr>
          <p:cNvPr id="5" name="Надзаголовок">
            <a:extLst xmlns:a="http://schemas.openxmlformats.org/drawingml/2006/main">
              <a:ext uri="{FF2B5EF4-FFF2-40B4-BE49-F238E27FC236}">
                <a16:creationId xmlns:a16="http://schemas.microsoft.com/office/drawing/2014/main" id="{4C1F3A22-B0BC-4D2D-8929-11DB0A557382}"/>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СТАТИЧЕСКИЙ АНАЛИЗ</a:t>
            </a:r>
          </a:p>
        </p:txBody>
      </p:sp>
      <p:sp>
        <p:nvSpPr>
          <p:cNvPr id="6" name="Заголовок">
            <a:extLst xmlns:a="http://schemas.openxmlformats.org/drawingml/2006/main">
              <a:ext uri="{FF2B5EF4-FFF2-40B4-BE49-F238E27FC236}">
                <a16:creationId xmlns:a16="http://schemas.microsoft.com/office/drawing/2014/main" id="{4D7048CC-BF60-44A0-9B6F-83FAF8A6B2F6}"/>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Статический анализ репозиториев</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AF98FF"/>
                </a:solidFill>
                <a:latin typeface="Arial"/>
                <a:ea typeface="Arial"/>
                <a:cs typeface="Arial"/>
              </a:rPr>
              <a:t>для построения графа</a:t>
            </a:r>
          </a:p>
        </p:txBody>
      </p:sp>
      <p:sp>
        <p:nvSpPr>
          <p:cNvPr id="7" name="Акцент колонки 0">
            <a:extLst xmlns:a="http://schemas.openxmlformats.org/drawingml/2006/main">
              <a:ext uri="{FF2B5EF4-FFF2-40B4-BE49-F238E27FC236}">
                <a16:creationId xmlns:a16="http://schemas.microsoft.com/office/drawing/2014/main" id="{668928DE-1874-4653-BC34-9BD35F97920B}"/>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FD24940F-D575-4672-8B3A-D4C98DC4AB26}"/>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Находим границы</a:t>
            </a:r>
          </a:p>
        </p:txBody>
      </p:sp>
      <p:sp>
        <p:nvSpPr>
          <p:cNvPr id="9" name="Текст колонки 0">
            <a:extLst xmlns:a="http://schemas.openxmlformats.org/drawingml/2006/main">
              <a:ext uri="{FF2B5EF4-FFF2-40B4-BE49-F238E27FC236}">
                <a16:creationId xmlns:a16="http://schemas.microsoft.com/office/drawing/2014/main" id="{7A4D7554-D41A-4E0A-AF8E-5F636714379F}"/>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Maven/Gradle-модули, </a:t>
            </a:r>
            <a:r>
              <a:rPr sz="1950" b="0">
                <a:solidFill>
                  <a:srgbClr val="A4B8C9"/>
                </a:solidFill>
                <a:latin typeface="Arial"/>
                <a:ea typeface="Arial"/>
                <a:cs typeface="Arial"/>
              </a:rPr>
              <a:t>spring.application.name</a:t>
            </a:r>
            <a:r>
              <a:rPr sz="1950" b="0">
                <a:solidFill>
                  <a:srgbClr val="A4B8C9"/>
                </a:solidFill>
                <a:latin typeface="Arial"/>
                <a:ea typeface="Arial"/>
                <a:cs typeface="Arial"/>
              </a:rPr>
              <a:t>, manifest и конфигурация подсказывают, где начинается сервис.</a:t>
            </a:r>
          </a:p>
        </p:txBody>
      </p:sp>
      <p:sp>
        <p:nvSpPr>
          <p:cNvPr id="10" name="Акцент колонки 1">
            <a:extLst xmlns:a="http://schemas.openxmlformats.org/drawingml/2006/main">
              <a:ext uri="{FF2B5EF4-FFF2-40B4-BE49-F238E27FC236}">
                <a16:creationId xmlns:a16="http://schemas.microsoft.com/office/drawing/2014/main" id="{4D3B76C3-417A-4D6A-A3F6-482890D24019}"/>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FD1924AE-3CCF-4434-A939-E4B4BE1D6251}"/>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Читаем исходники</a:t>
            </a:r>
          </a:p>
        </p:txBody>
      </p:sp>
      <p:sp>
        <p:nvSpPr>
          <p:cNvPr id="12" name="Текст колонки 1">
            <a:extLst xmlns:a="http://schemas.openxmlformats.org/drawingml/2006/main">
              <a:ext uri="{FF2B5EF4-FFF2-40B4-BE49-F238E27FC236}">
                <a16:creationId xmlns:a16="http://schemas.microsoft.com/office/drawing/2014/main" id="{2D716F1A-7C9E-420C-8D75-B07351682B70}"/>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Tree-sitter разбирает Java и Kotlin: контроллеры, клиенты, listeners, producers и точки входа.</a:t>
            </a:r>
          </a:p>
        </p:txBody>
      </p:sp>
      <p:sp>
        <p:nvSpPr>
          <p:cNvPr id="13" name="Акцент колонки 2">
            <a:extLst xmlns:a="http://schemas.openxmlformats.org/drawingml/2006/main">
              <a:ext uri="{FF2B5EF4-FFF2-40B4-BE49-F238E27FC236}">
                <a16:creationId xmlns:a16="http://schemas.microsoft.com/office/drawing/2014/main" id="{BDF08DEF-5C85-4BD9-A5D7-071EF06EE1BE}"/>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3EDDE5E1-8363-4B18-9B58-0CF469D8AC89}"/>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Публикуем snapshot</a:t>
            </a:r>
          </a:p>
        </p:txBody>
      </p:sp>
      <p:sp>
        <p:nvSpPr>
          <p:cNvPr id="15" name="Текст колонки 2">
            <a:extLst xmlns:a="http://schemas.openxmlformats.org/drawingml/2006/main">
              <a:ext uri="{FF2B5EF4-FFF2-40B4-BE49-F238E27FC236}">
                <a16:creationId xmlns:a16="http://schemas.microsoft.com/office/drawing/2014/main" id="{746F67FA-5156-47EF-AE64-D152E57E3CD0}"/>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Узлы, связи, evidence и revision сохраняются в versioned JSON для повторяемого анализа.</a:t>
            </a:r>
          </a:p>
        </p:txBody>
      </p:sp>
      <p:sp>
        <p:nvSpPr>
          <p:cNvPr id="16" name="Акцент вывода">
            <a:extLst xmlns:a="http://schemas.openxmlformats.org/drawingml/2006/main">
              <a:ext uri="{FF2B5EF4-FFF2-40B4-BE49-F238E27FC236}">
                <a16:creationId xmlns:a16="http://schemas.microsoft.com/office/drawing/2014/main" id="{20188569-AA8C-4E21-9635-B46429D7B6E6}"/>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E6FFC413-1DCB-4FC5-A021-800C51016E9E}"/>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1">
                <a:solidFill>
                  <a:srgbClr val="F4F8FB"/>
                </a:solidFill>
                <a:latin typeface="Arial"/>
                <a:ea typeface="Arial"/>
                <a:cs typeface="Arial"/>
              </a:rPr>
              <a:t>Для быстрого графа не нужно запускать сервисы, сборку или вызывать API системы:</a:t>
            </a:r>
            <a:r>
              <a:rPr sz="1800" b="0">
                <a:solidFill>
                  <a:srgbClr val="A4B8C9"/>
                </a:solidFill>
                <a:latin typeface="Arial"/>
                <a:ea typeface="Arial"/>
                <a:cs typeface="Arial"/>
              </a:rPr>
              <a:t> достаточно исходников и конфигурации из Git.</a:t>
            </a:r>
          </a:p>
        </p:txBody>
      </p:sp>
    </p:spTree>
    <p:extLst>
      <p:ext uri="{BB962C8B-B14F-4D97-AF65-F5344CB8AC3E}">
        <p14:creationId xmlns:p14="http://schemas.microsoft.com/office/powerpoint/2010/main" val="882701622"/>
      </p:ext>
    </p:extLst>
  </p:cSld>
</p:sld>
</file>

<file path=ppt/slides/slide19.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4" name="Рамка слайда">
            <a:extLst xmlns:a="http://schemas.openxmlformats.org/drawingml/2006/main">
              <a:ext uri="{FF2B5EF4-FFF2-40B4-BE49-F238E27FC236}">
                <a16:creationId xmlns:a16="http://schemas.microsoft.com/office/drawing/2014/main" id="{551FA674-12C2-45BA-B688-7310C78A154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FB69621D-7554-43D4-9522-75DCA5316D32}"/>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87564B28-9C84-4568-AA56-0D9EB7F495CF}"/>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C96E9273-5D59-45A6-B8A6-DB53A31A89C9}"/>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19 / 27</a:t>
            </a:r>
          </a:p>
        </p:txBody>
      </p:sp>
      <p:sp>
        <p:nvSpPr>
          <p:cNvPr id="5" name="Надзаголовок">
            <a:extLst xmlns:a="http://schemas.openxmlformats.org/drawingml/2006/main">
              <a:ext uri="{FF2B5EF4-FFF2-40B4-BE49-F238E27FC236}">
                <a16:creationId xmlns:a16="http://schemas.microsoft.com/office/drawing/2014/main" id="{0A8150E2-F526-402F-8C0C-DF92D228D0B7}"/>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СОПОСТАВЛЕНИЕ КОНТРАКТОВ</a:t>
            </a:r>
          </a:p>
        </p:txBody>
      </p:sp>
      <p:sp>
        <p:nvSpPr>
          <p:cNvPr id="6" name="Заголовок">
            <a:extLst xmlns:a="http://schemas.openxmlformats.org/drawingml/2006/main">
              <a:ext uri="{FF2B5EF4-FFF2-40B4-BE49-F238E27FC236}">
                <a16:creationId xmlns:a16="http://schemas.microsoft.com/office/drawing/2014/main" id="{79C02273-395C-444E-AADD-C73212AFD60C}"/>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Выявление межсервисных связей</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по коду и контрактам</a:t>
            </a:r>
          </a:p>
        </p:txBody>
      </p:sp>
      <p:sp>
        <p:nvSpPr>
          <p:cNvPr id="7" name="Переход графа 0">
            <a:extLst xmlns:a="http://schemas.openxmlformats.org/drawingml/2006/main">
              <a:ext uri="{FF2B5EF4-FFF2-40B4-BE49-F238E27FC236}">
                <a16:creationId xmlns:a16="http://schemas.microsoft.com/office/drawing/2014/main" id="{F70081FC-4399-4133-928F-14F267A9243D}"/>
              </a:ext>
            </a:extLst>
          </p:cNvPr>
          <p:cNvSpPr>
            <a:spLocks xmlns:a="http://schemas.openxmlformats.org/drawingml/2006/main" noGrp="1"/>
          </p:cNvSpPr>
          <p:nvPr/>
        </p:nvSpPr>
        <p:spPr>
          <a:xfrm xmlns:a="http://schemas.openxmlformats.org/drawingml/2006/main">
            <a:off x="3771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8" name="Переход графа 1">
            <a:extLst xmlns:a="http://schemas.openxmlformats.org/drawingml/2006/main">
              <a:ext uri="{FF2B5EF4-FFF2-40B4-BE49-F238E27FC236}">
                <a16:creationId xmlns:a16="http://schemas.microsoft.com/office/drawing/2014/main" id="{3912DC25-4DA7-44AC-ABD0-7A8C3E02A5B3}"/>
              </a:ext>
            </a:extLst>
          </p:cNvPr>
          <p:cNvSpPr>
            <a:spLocks xmlns:a="http://schemas.openxmlformats.org/drawingml/2006/main" noGrp="1"/>
          </p:cNvSpPr>
          <p:nvPr/>
        </p:nvSpPr>
        <p:spPr>
          <a:xfrm xmlns:a="http://schemas.openxmlformats.org/drawingml/2006/main">
            <a:off x="73914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9" name="Переход графа 2">
            <a:extLst xmlns:a="http://schemas.openxmlformats.org/drawingml/2006/main">
              <a:ext uri="{FF2B5EF4-FFF2-40B4-BE49-F238E27FC236}">
                <a16:creationId xmlns:a16="http://schemas.microsoft.com/office/drawing/2014/main" id="{BD0732BE-814A-4149-AC8E-25096394102C}"/>
              </a:ext>
            </a:extLst>
          </p:cNvPr>
          <p:cNvSpPr>
            <a:spLocks xmlns:a="http://schemas.openxmlformats.org/drawingml/2006/main" noGrp="1"/>
          </p:cNvSpPr>
          <p:nvPr/>
        </p:nvSpPr>
        <p:spPr>
          <a:xfrm xmlns:a="http://schemas.openxmlformats.org/drawingml/2006/main">
            <a:off x="11010900" y="4524375"/>
            <a:ext cx="457200"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10" name="Акцент этапа 0">
            <a:extLst xmlns:a="http://schemas.openxmlformats.org/drawingml/2006/main">
              <a:ext uri="{FF2B5EF4-FFF2-40B4-BE49-F238E27FC236}">
                <a16:creationId xmlns:a16="http://schemas.microsoft.com/office/drawing/2014/main" id="{F2575196-3E1B-44EA-BF26-0EECAEE90269}"/>
              </a:ext>
            </a:extLst>
          </p:cNvPr>
          <p:cNvSpPr>
            <a:spLocks xmlns:a="http://schemas.openxmlformats.org/drawingml/2006/main" noGrp="1"/>
          </p:cNvSpPr>
          <p:nvPr/>
        </p:nvSpPr>
        <p:spPr>
          <a:xfrm xmlns:a="http://schemas.openxmlformats.org/drawingml/2006/main">
            <a:off x="762000" y="3333750"/>
            <a:ext cx="2857500" cy="28575"/>
          </a:xfrm>
          <a:prstGeom xmlns:a="http://schemas.openxmlformats.org/drawingml/2006/main" prst="rect">
            <a:avLst/>
          </a:prstGeom>
          <a:solidFill xmlns:a="http://schemas.openxmlformats.org/drawingml/2006/main">
            <a:srgbClr val="A4B8C9"/>
          </a:solidFill>
          <a:ln xmlns:a="http://schemas.openxmlformats.org/drawingml/2006/main" w="0">
            <a:noFill/>
            <a:prstDash val="solid"/>
          </a:ln>
        </p:spPr>
      </p:sp>
      <p:sp>
        <p:nvSpPr>
          <p:cNvPr id="11" name="Этап графа 0">
            <a:extLst xmlns:a="http://schemas.openxmlformats.org/drawingml/2006/main">
              <a:ext uri="{FF2B5EF4-FFF2-40B4-BE49-F238E27FC236}">
                <a16:creationId xmlns:a16="http://schemas.microsoft.com/office/drawing/2014/main" id="{023935E9-C9F4-45D4-9171-CF2C67697A4F}"/>
              </a:ext>
            </a:extLst>
          </p:cNvPr>
          <p:cNvSpPr>
            <a:spLocks xmlns:a="http://schemas.openxmlformats.org/drawingml/2006/main" noGrp="1"/>
          </p:cNvSpPr>
          <p:nvPr/>
        </p:nvSpPr>
        <p:spPr>
          <a:xfrm xmlns:a="http://schemas.openxmlformats.org/drawingml/2006/main">
            <a:off x="762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Находим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источник</a:t>
            </a:r>
          </a:p>
        </p:txBody>
      </p:sp>
      <p:sp>
        <p:nvSpPr>
          <p:cNvPr id="12" name="Данные графа 0">
            <a:extLst xmlns:a="http://schemas.openxmlformats.org/drawingml/2006/main">
              <a:ext uri="{FF2B5EF4-FFF2-40B4-BE49-F238E27FC236}">
                <a16:creationId xmlns:a16="http://schemas.microsoft.com/office/drawing/2014/main" id="{7AB7F316-DD2A-4E37-8EAB-E510652A573D}"/>
              </a:ext>
            </a:extLst>
          </p:cNvPr>
          <p:cNvSpPr>
            <a:spLocks xmlns:a="http://schemas.openxmlformats.org/drawingml/2006/main" noGrp="1"/>
          </p:cNvSpPr>
          <p:nvPr/>
        </p:nvSpPr>
        <p:spPr>
          <a:xfrm xmlns:a="http://schemas.openxmlformats.org/drawingml/2006/main">
            <a:off x="762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Feign · WebClient · RestTemplate · KafkaTemplate · listener</a:t>
            </a:r>
          </a:p>
        </p:txBody>
      </p:sp>
      <p:sp>
        <p:nvSpPr>
          <p:cNvPr id="13" name="Акцент этапа 1">
            <a:extLst xmlns:a="http://schemas.openxmlformats.org/drawingml/2006/main">
              <a:ext uri="{FF2B5EF4-FFF2-40B4-BE49-F238E27FC236}">
                <a16:creationId xmlns:a16="http://schemas.microsoft.com/office/drawing/2014/main" id="{0860E638-430F-472A-8D6E-380406E1EC03}"/>
              </a:ext>
            </a:extLst>
          </p:cNvPr>
          <p:cNvSpPr>
            <a:spLocks xmlns:a="http://schemas.openxmlformats.org/drawingml/2006/main" noGrp="1"/>
          </p:cNvSpPr>
          <p:nvPr/>
        </p:nvSpPr>
        <p:spPr>
          <a:xfrm xmlns:a="http://schemas.openxmlformats.org/drawingml/2006/main">
            <a:off x="4381500" y="3333750"/>
            <a:ext cx="2857500"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4" name="Этап графа 1">
            <a:extLst xmlns:a="http://schemas.openxmlformats.org/drawingml/2006/main">
              <a:ext uri="{FF2B5EF4-FFF2-40B4-BE49-F238E27FC236}">
                <a16:creationId xmlns:a16="http://schemas.microsoft.com/office/drawing/2014/main" id="{9F24E217-7BB9-4E7F-96F7-34F2BBB2B383}"/>
              </a:ext>
            </a:extLst>
          </p:cNvPr>
          <p:cNvSpPr>
            <a:spLocks xmlns:a="http://schemas.openxmlformats.org/drawingml/2006/main" noGrp="1"/>
          </p:cNvSpPr>
          <p:nvPr/>
        </p:nvSpPr>
        <p:spPr>
          <a:xfrm xmlns:a="http://schemas.openxmlformats.org/drawingml/2006/main">
            <a:off x="4381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Нормализуем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значения</a:t>
            </a:r>
          </a:p>
        </p:txBody>
      </p:sp>
      <p:sp>
        <p:nvSpPr>
          <p:cNvPr id="15" name="Данные графа 1">
            <a:extLst xmlns:a="http://schemas.openxmlformats.org/drawingml/2006/main">
              <a:ext uri="{FF2B5EF4-FFF2-40B4-BE49-F238E27FC236}">
                <a16:creationId xmlns:a16="http://schemas.microsoft.com/office/drawing/2014/main" id="{01AF4E37-0279-48C7-93D2-D40597D1AE72}"/>
              </a:ext>
            </a:extLst>
          </p:cNvPr>
          <p:cNvSpPr>
            <a:spLocks xmlns:a="http://schemas.openxmlformats.org/drawingml/2006/main" noGrp="1"/>
          </p:cNvSpPr>
          <p:nvPr/>
        </p:nvSpPr>
        <p:spPr>
          <a:xfrm xmlns:a="http://schemas.openxmlformats.org/drawingml/2006/main">
            <a:off x="4381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разрешаем properties и простой YAML, приводим path к шаблону</a:t>
            </a:r>
          </a:p>
        </p:txBody>
      </p:sp>
      <p:sp>
        <p:nvSpPr>
          <p:cNvPr id="16" name="Акцент этапа 2">
            <a:extLst xmlns:a="http://schemas.openxmlformats.org/drawingml/2006/main">
              <a:ext uri="{FF2B5EF4-FFF2-40B4-BE49-F238E27FC236}">
                <a16:creationId xmlns:a16="http://schemas.microsoft.com/office/drawing/2014/main" id="{F615F3F9-3BF3-40E8-A274-B0D44ADD8EF4}"/>
              </a:ext>
            </a:extLst>
          </p:cNvPr>
          <p:cNvSpPr>
            <a:spLocks xmlns:a="http://schemas.openxmlformats.org/drawingml/2006/main" noGrp="1"/>
          </p:cNvSpPr>
          <p:nvPr/>
        </p:nvSpPr>
        <p:spPr>
          <a:xfrm xmlns:a="http://schemas.openxmlformats.org/drawingml/2006/main">
            <a:off x="8001000" y="3333750"/>
            <a:ext cx="285750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Этап графа 2">
            <a:extLst xmlns:a="http://schemas.openxmlformats.org/drawingml/2006/main">
              <a:ext uri="{FF2B5EF4-FFF2-40B4-BE49-F238E27FC236}">
                <a16:creationId xmlns:a16="http://schemas.microsoft.com/office/drawing/2014/main" id="{1054F0DE-E03B-4FE5-914D-E3789485C119}"/>
              </a:ext>
            </a:extLst>
          </p:cNvPr>
          <p:cNvSpPr>
            <a:spLocks xmlns:a="http://schemas.openxmlformats.org/drawingml/2006/main" noGrp="1"/>
          </p:cNvSpPr>
          <p:nvPr/>
        </p:nvSpPr>
        <p:spPr>
          <a:xfrm xmlns:a="http://schemas.openxmlformats.org/drawingml/2006/main">
            <a:off x="80010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Сверяем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контракт</a:t>
            </a:r>
          </a:p>
        </p:txBody>
      </p:sp>
      <p:sp>
        <p:nvSpPr>
          <p:cNvPr id="18" name="Данные графа 2">
            <a:extLst xmlns:a="http://schemas.openxmlformats.org/drawingml/2006/main">
              <a:ext uri="{FF2B5EF4-FFF2-40B4-BE49-F238E27FC236}">
                <a16:creationId xmlns:a16="http://schemas.microsoft.com/office/drawing/2014/main" id="{FA15BB49-2691-4E91-B062-10F761EA68F7}"/>
              </a:ext>
            </a:extLst>
          </p:cNvPr>
          <p:cNvSpPr>
            <a:spLocks xmlns:a="http://schemas.openxmlformats.org/drawingml/2006/main" noGrp="1"/>
          </p:cNvSpPr>
          <p:nvPr/>
        </p:nvSpPr>
        <p:spPr>
          <a:xfrm xmlns:a="http://schemas.openxmlformats.org/drawingml/2006/main">
            <a:off x="80010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HTTP: alias/host, method/path</a:t>
            </a:r>
          </a:p>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Kafka: точный topic</a:t>
            </a:r>
          </a:p>
        </p:txBody>
      </p:sp>
      <p:sp>
        <p:nvSpPr>
          <p:cNvPr id="19" name="Акцент этапа 3">
            <a:extLst xmlns:a="http://schemas.openxmlformats.org/drawingml/2006/main">
              <a:ext uri="{FF2B5EF4-FFF2-40B4-BE49-F238E27FC236}">
                <a16:creationId xmlns:a16="http://schemas.microsoft.com/office/drawing/2014/main" id="{1D1BB226-2B83-4735-8F76-26E50D32FF60}"/>
              </a:ext>
            </a:extLst>
          </p:cNvPr>
          <p:cNvSpPr>
            <a:spLocks xmlns:a="http://schemas.openxmlformats.org/drawingml/2006/main" noGrp="1"/>
          </p:cNvSpPr>
          <p:nvPr/>
        </p:nvSpPr>
        <p:spPr>
          <a:xfrm xmlns:a="http://schemas.openxmlformats.org/drawingml/2006/main">
            <a:off x="11620500" y="3333750"/>
            <a:ext cx="28575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20" name="Этап графа 3">
            <a:extLst xmlns:a="http://schemas.openxmlformats.org/drawingml/2006/main">
              <a:ext uri="{FF2B5EF4-FFF2-40B4-BE49-F238E27FC236}">
                <a16:creationId xmlns:a16="http://schemas.microsoft.com/office/drawing/2014/main" id="{F19080D8-62FA-4CE2-9E7F-9F73084E7F4D}"/>
              </a:ext>
            </a:extLst>
          </p:cNvPr>
          <p:cNvSpPr>
            <a:spLocks xmlns:a="http://schemas.openxmlformats.org/drawingml/2006/main" noGrp="1"/>
          </p:cNvSpPr>
          <p:nvPr/>
        </p:nvSpPr>
        <p:spPr>
          <a:xfrm xmlns:a="http://schemas.openxmlformats.org/drawingml/2006/main">
            <a:off x="11620500" y="368617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Сохраняем</a:t>
            </a:r>
          </a:p>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evidence</a:t>
            </a:r>
          </a:p>
        </p:txBody>
      </p:sp>
      <p:sp>
        <p:nvSpPr>
          <p:cNvPr id="21" name="Данные графа 3">
            <a:extLst xmlns:a="http://schemas.openxmlformats.org/drawingml/2006/main">
              <a:ext uri="{FF2B5EF4-FFF2-40B4-BE49-F238E27FC236}">
                <a16:creationId xmlns:a16="http://schemas.microsoft.com/office/drawing/2014/main" id="{DD2FDFF0-4436-46EE-9909-B4229A10FCC4}"/>
              </a:ext>
            </a:extLst>
          </p:cNvPr>
          <p:cNvSpPr>
            <a:spLocks xmlns:a="http://schemas.openxmlformats.org/drawingml/2006/main" noGrp="1"/>
          </p:cNvSpPr>
          <p:nvPr/>
        </p:nvSpPr>
        <p:spPr>
          <a:xfrm xmlns:a="http://schemas.openxmlformats.org/drawingml/2006/main">
            <a:off x="11620500" y="4733925"/>
            <a:ext cx="2857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repository · commit · file:line · snippet · extractor</a:t>
            </a:r>
          </a:p>
        </p:txBody>
      </p:sp>
      <p:sp>
        <p:nvSpPr>
          <p:cNvPr id="22" name="Акцент вывода">
            <a:extLst xmlns:a="http://schemas.openxmlformats.org/drawingml/2006/main">
              <a:ext uri="{FF2B5EF4-FFF2-40B4-BE49-F238E27FC236}">
                <a16:creationId xmlns:a16="http://schemas.microsoft.com/office/drawing/2014/main" id="{E276D912-2576-432D-9D2B-7D1BF6F80377}"/>
              </a:ext>
            </a:extLst>
          </p:cNvPr>
          <p:cNvSpPr>
            <a:spLocks xmlns:a="http://schemas.openxmlformats.org/drawingml/2006/main" noGrp="1"/>
          </p:cNvSpPr>
          <p:nvPr/>
        </p:nvSpPr>
        <p:spPr>
          <a:xfrm xmlns:a="http://schemas.openxmlformats.org/drawingml/2006/main">
            <a:off x="762000" y="67722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3" name="Ключевой вывод">
            <a:extLst xmlns:a="http://schemas.openxmlformats.org/drawingml/2006/main">
              <a:ext uri="{FF2B5EF4-FFF2-40B4-BE49-F238E27FC236}">
                <a16:creationId xmlns:a16="http://schemas.microsoft.com/office/drawing/2014/main" id="{5E77864F-A6DA-44CA-9FB1-D65661C56B5D}"/>
              </a:ext>
            </a:extLst>
          </p:cNvPr>
          <p:cNvSpPr>
            <a:spLocks xmlns:a="http://schemas.openxmlformats.org/drawingml/2006/main" noGrp="1"/>
          </p:cNvSpPr>
          <p:nvPr/>
        </p:nvSpPr>
        <p:spPr>
          <a:xfrm xmlns:a="http://schemas.openxmlformats.org/drawingml/2006/main">
            <a:off x="1028700" y="68199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Не все совпадения одинаково сильны: </a:t>
            </a:r>
            <a:r>
              <a:rPr sz="1800" b="0">
                <a:solidFill>
                  <a:srgbClr val="A4B8C9"/>
                </a:solidFill>
                <a:latin typeface="Arial"/>
                <a:ea typeface="Arial"/>
                <a:cs typeface="Arial"/>
              </a:rPr>
              <a:t>alias сервиса может дать связь без полного HTTP-контракта; неоднозначные цели остаются кандидатами или unresolved. Для Kafka сопоставляется topic.</a:t>
            </a:r>
          </a:p>
        </p:txBody>
      </p:sp>
    </p:spTree>
    <p:extLst>
      <p:ext uri="{BB962C8B-B14F-4D97-AF65-F5344CB8AC3E}">
        <p14:creationId xmlns:p14="http://schemas.microsoft.com/office/powerpoint/2010/main" val="1557549246"/>
      </p:ext>
    </p:extLst>
  </p:cSld>
</p:sld>
</file>

<file path=ppt/slides/slide20.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8" name="Рамка слайда">
            <a:extLst xmlns:a="http://schemas.openxmlformats.org/drawingml/2006/main">
              <a:ext uri="{FF2B5EF4-FFF2-40B4-BE49-F238E27FC236}">
                <a16:creationId xmlns:a16="http://schemas.microsoft.com/office/drawing/2014/main" id="{960C0F42-91D9-4DFA-9104-F60C0EA37035}"/>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CB723929-4560-4303-AE14-359C1F6C3E81}"/>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7DDEA13C-B6BB-430F-A2F0-A455FD5909C9}"/>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AD5D6888-57A3-4CEE-8B00-7F266641671A}"/>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20 / 27</a:t>
            </a:r>
          </a:p>
        </p:txBody>
      </p:sp>
      <p:sp>
        <p:nvSpPr>
          <p:cNvPr id="5" name="Надзаголовок">
            <a:extLst xmlns:a="http://schemas.openxmlformats.org/drawingml/2006/main">
              <a:ext uri="{FF2B5EF4-FFF2-40B4-BE49-F238E27FC236}">
                <a16:creationId xmlns:a16="http://schemas.microsoft.com/office/drawing/2014/main" id="{96C86669-1AAB-4AB7-9792-9E3BC4A2264D}"/>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ДОСТОВЕРНОСТЬ ГРАФА</a:t>
            </a:r>
          </a:p>
        </p:txBody>
      </p:sp>
      <p:sp>
        <p:nvSpPr>
          <p:cNvPr id="6" name="Заголовок">
            <a:extLst xmlns:a="http://schemas.openxmlformats.org/drawingml/2006/main">
              <a:ext uri="{FF2B5EF4-FFF2-40B4-BE49-F238E27FC236}">
                <a16:creationId xmlns:a16="http://schemas.microsoft.com/office/drawing/2014/main" id="{CD197E17-9AB6-408C-B44A-E862DAE30900}"/>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Уровни достоверности</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BD73"/>
                </a:solidFill>
                <a:latin typeface="Arial"/>
                <a:ea typeface="Arial"/>
                <a:cs typeface="Arial"/>
              </a:rPr>
              <a:t>и неразрешённые связи графа</a:t>
            </a:r>
          </a:p>
        </p:txBody>
      </p:sp>
      <p:sp>
        <p:nvSpPr>
          <p:cNvPr id="7" name="Акцент колонки 0">
            <a:extLst xmlns:a="http://schemas.openxmlformats.org/drawingml/2006/main">
              <a:ext uri="{FF2B5EF4-FFF2-40B4-BE49-F238E27FC236}">
                <a16:creationId xmlns:a16="http://schemas.microsoft.com/office/drawing/2014/main" id="{4E9A50B6-0E4A-4368-AD51-B856F3D320A2}"/>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EE521251-BFD4-4339-A65F-EB39C10A8D31}"/>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DECLARED / HIGH</a:t>
            </a:r>
          </a:p>
        </p:txBody>
      </p:sp>
      <p:sp>
        <p:nvSpPr>
          <p:cNvPr id="9" name="Текст колонки 0">
            <a:extLst xmlns:a="http://schemas.openxmlformats.org/drawingml/2006/main">
              <a:ext uri="{FF2B5EF4-FFF2-40B4-BE49-F238E27FC236}">
                <a16:creationId xmlns:a16="http://schemas.microsoft.com/office/drawing/2014/main" id="{33062E19-C339-4226-B86A-EACD57E4BA8E}"/>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Есть декларация или сильное source evidence: связь можно использовать как маршрут анализа.</a:t>
            </a:r>
          </a:p>
        </p:txBody>
      </p:sp>
      <p:sp>
        <p:nvSpPr>
          <p:cNvPr id="10" name="Акцент колонки 1">
            <a:extLst xmlns:a="http://schemas.openxmlformats.org/drawingml/2006/main">
              <a:ext uri="{FF2B5EF4-FFF2-40B4-BE49-F238E27FC236}">
                <a16:creationId xmlns:a16="http://schemas.microsoft.com/office/drawing/2014/main" id="{7A6D3815-BC79-45D1-8D48-F74D4A18361C}"/>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FA98A139-799F-4FBF-B12A-C208E10B014C}"/>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MEDIUM / LOW</a:t>
            </a:r>
          </a:p>
        </p:txBody>
      </p:sp>
      <p:sp>
        <p:nvSpPr>
          <p:cNvPr id="12" name="Текст колонки 1">
            <a:extLst xmlns:a="http://schemas.openxmlformats.org/drawingml/2006/main">
              <a:ext uri="{FF2B5EF4-FFF2-40B4-BE49-F238E27FC236}">
                <a16:creationId xmlns:a16="http://schemas.microsoft.com/office/drawing/2014/main" id="{A49F237B-DC74-404E-9FBB-5C4A6E8AF2FC}"/>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Есть кандидат: похожий клиент, интерфейс или неполный контракт. Его нужно проверить.</a:t>
            </a:r>
          </a:p>
        </p:txBody>
      </p:sp>
      <p:sp>
        <p:nvSpPr>
          <p:cNvPr id="13" name="Акцент колонки 2">
            <a:extLst xmlns:a="http://schemas.openxmlformats.org/drawingml/2006/main">
              <a:ext uri="{FF2B5EF4-FFF2-40B4-BE49-F238E27FC236}">
                <a16:creationId xmlns:a16="http://schemas.microsoft.com/office/drawing/2014/main" id="{734365DC-247A-4B98-8B21-A1CD80F842B4}"/>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FF7C8B"/>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32976135-61D3-434E-9901-43378F702D6B}"/>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UNRESOLVED</a:t>
            </a:r>
          </a:p>
        </p:txBody>
      </p:sp>
      <p:sp>
        <p:nvSpPr>
          <p:cNvPr id="15" name="Текст колонки 2">
            <a:extLst xmlns:a="http://schemas.openxmlformats.org/drawingml/2006/main">
              <a:ext uri="{FF2B5EF4-FFF2-40B4-BE49-F238E27FC236}">
                <a16:creationId xmlns:a16="http://schemas.microsoft.com/office/drawing/2014/main" id="{57340758-FBB9-45F8-81BE-80518E5C838F}"/>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Динамический URL, topic или несколько целей. Граф не выбирает ответ за человека.</a:t>
            </a:r>
          </a:p>
        </p:txBody>
      </p:sp>
      <p:sp>
        <p:nvSpPr>
          <p:cNvPr id="16" name="Акцент вывода">
            <a:extLst xmlns:a="http://schemas.openxmlformats.org/drawingml/2006/main">
              <a:ext uri="{FF2B5EF4-FFF2-40B4-BE49-F238E27FC236}">
                <a16:creationId xmlns:a16="http://schemas.microsoft.com/office/drawing/2014/main" id="{F27C72DC-12E3-4B65-A2DE-3665E564BF8B}"/>
              </a:ext>
            </a:extLst>
          </p:cNvPr>
          <p:cNvSpPr>
            <a:spLocks xmlns:a="http://schemas.openxmlformats.org/drawingml/2006/main" noGrp="1"/>
          </p:cNvSpPr>
          <p:nvPr/>
        </p:nvSpPr>
        <p:spPr>
          <a:xfrm xmlns:a="http://schemas.openxmlformats.org/drawingml/2006/main">
            <a:off x="762000" y="68484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7" name="Ключевой вывод">
            <a:extLst xmlns:a="http://schemas.openxmlformats.org/drawingml/2006/main">
              <a:ext uri="{FF2B5EF4-FFF2-40B4-BE49-F238E27FC236}">
                <a16:creationId xmlns:a16="http://schemas.microsoft.com/office/drawing/2014/main" id="{13143E6D-4775-47C1-9C94-F8420F83D1CF}"/>
              </a:ext>
            </a:extLst>
          </p:cNvPr>
          <p:cNvSpPr>
            <a:spLocks xmlns:a="http://schemas.openxmlformats.org/drawingml/2006/main" noGrp="1"/>
          </p:cNvSpPr>
          <p:nvPr/>
        </p:nvSpPr>
        <p:spPr>
          <a:xfrm xmlns:a="http://schemas.openxmlformats.org/drawingml/2006/main">
            <a:off x="1028700" y="68961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latin typeface="Arial"/>
                <a:ea typeface="Arial"/>
                <a:cs typeface="Arial"/>
              </a:defRPr>
            </a:pPr>
            <a:r>
              <a:rPr sz="1800" b="1">
                <a:solidFill>
                  <a:srgbClr val="F4F8FB"/>
                </a:solidFill>
                <a:latin typeface="Arial"/>
                <a:ea typeface="Arial"/>
                <a:cs typeface="Arial"/>
              </a:rPr>
              <a:t>Опциональная проверка GigaCode работает с кандидатами: </a:t>
            </a:r>
            <a:r>
              <a:rPr sz="1800" b="0">
                <a:solidFill>
                  <a:srgbClr val="A4B8C9"/>
                </a:solidFill>
                <a:latin typeface="Arial"/>
                <a:ea typeface="Arial"/>
                <a:cs typeface="Arial"/>
              </a:rPr>
              <a:t>требует подтверждения из исходников; для новых обнаруженных связей дополнительно проверяет точную цель.</a:t>
            </a:r>
          </a:p>
        </p:txBody>
      </p:sp>
    </p:spTree>
    <p:extLst>
      <p:ext uri="{BB962C8B-B14F-4D97-AF65-F5344CB8AC3E}">
        <p14:creationId xmlns:p14="http://schemas.microsoft.com/office/powerpoint/2010/main" val="621822618"/>
      </p:ext>
    </p:extLst>
  </p:cSld>
</p:sld>
</file>

<file path=ppt/slides/slide21.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49" name="Рамка слайда">
            <a:extLst xmlns:a="http://schemas.openxmlformats.org/drawingml/2006/main">
              <a:ext uri="{FF2B5EF4-FFF2-40B4-BE49-F238E27FC236}">
                <a16:creationId xmlns:a16="http://schemas.microsoft.com/office/drawing/2014/main" id="{CC8B518E-CFBC-402C-89B8-2595C8CDC7BC}"/>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06A7A2F6-A526-4021-8B4E-BFA5AD11F5B4}"/>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93779063-1822-4DE3-BEF6-29756241F68B}"/>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05BB5969-4AC3-42A2-8150-A1F8376BE79A}"/>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21 / 27</a:t>
            </a:r>
          </a:p>
        </p:txBody>
      </p:sp>
      <p:sp>
        <p:nvSpPr>
          <p:cNvPr id="5" name="Надзаголовок">
            <a:extLst xmlns:a="http://schemas.openxmlformats.org/drawingml/2006/main">
              <a:ext uri="{FF2B5EF4-FFF2-40B4-BE49-F238E27FC236}">
                <a16:creationId xmlns:a16="http://schemas.microsoft.com/office/drawing/2014/main" id="{FC115A31-3D4D-42FF-B7DD-81821590EE5F}"/>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ПРОЦЕСС ПЛАНИРОВАНИЯ</a:t>
            </a:r>
          </a:p>
        </p:txBody>
      </p:sp>
      <p:sp>
        <p:nvSpPr>
          <p:cNvPr id="6" name="Заголовок">
            <a:extLst xmlns:a="http://schemas.openxmlformats.org/drawingml/2006/main">
              <a:ext uri="{FF2B5EF4-FFF2-40B4-BE49-F238E27FC236}">
                <a16:creationId xmlns:a16="http://schemas.microsoft.com/office/drawing/2014/main" id="{970CE430-4FB1-4EBA-85FE-EF80AC3BF8DA}"/>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Алгоритм планирования</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межсервисных изменений</a:t>
            </a:r>
          </a:p>
        </p:txBody>
      </p:sp>
      <p:sp>
        <p:nvSpPr>
          <p:cNvPr id="7" name="Блок алгоритма 0">
            <a:extLst xmlns:a="http://schemas.openxmlformats.org/drawingml/2006/main">
              <a:ext uri="{FF2B5EF4-FFF2-40B4-BE49-F238E27FC236}">
                <a16:creationId xmlns:a16="http://schemas.microsoft.com/office/drawing/2014/main" id="{55B67BDC-F701-47C7-B998-8050AAE0A792}"/>
              </a:ext>
            </a:extLst>
          </p:cNvPr>
          <p:cNvSpPr>
            <a:spLocks xmlns:a="http://schemas.openxmlformats.org/drawingml/2006/main" noGrp="1"/>
          </p:cNvSpPr>
          <p:nvPr/>
        </p:nvSpPr>
        <p:spPr>
          <a:xfrm xmlns:a="http://schemas.openxmlformats.org/drawingml/2006/main">
            <a:off x="762000" y="30861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8" name="Акцент алгоритма 0">
            <a:extLst xmlns:a="http://schemas.openxmlformats.org/drawingml/2006/main">
              <a:ext uri="{FF2B5EF4-FFF2-40B4-BE49-F238E27FC236}">
                <a16:creationId xmlns:a16="http://schemas.microsoft.com/office/drawing/2014/main" id="{0DF851A7-EFEA-47B7-81AA-6C1A0FF84353}"/>
              </a:ext>
            </a:extLst>
          </p:cNvPr>
          <p:cNvSpPr>
            <a:spLocks xmlns:a="http://schemas.openxmlformats.org/drawingml/2006/main" noGrp="1"/>
          </p:cNvSpPr>
          <p:nvPr/>
        </p:nvSpPr>
        <p:spPr>
          <a:xfrm xmlns:a="http://schemas.openxmlformats.org/drawingml/2006/main">
            <a:off x="762000" y="3086100"/>
            <a:ext cx="3286125"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9" name="Номер шага 0">
            <a:extLst xmlns:a="http://schemas.openxmlformats.org/drawingml/2006/main">
              <a:ext uri="{FF2B5EF4-FFF2-40B4-BE49-F238E27FC236}">
                <a16:creationId xmlns:a16="http://schemas.microsoft.com/office/drawing/2014/main" id="{F7968AC8-F221-4EFF-A7C4-885BF1EACEA9}"/>
              </a:ext>
            </a:extLst>
          </p:cNvPr>
          <p:cNvSpPr>
            <a:spLocks xmlns:a="http://schemas.openxmlformats.org/drawingml/2006/main" noGrp="1"/>
          </p:cNvSpPr>
          <p:nvPr/>
        </p:nvSpPr>
        <p:spPr>
          <a:xfrm xmlns:a="http://schemas.openxmlformats.org/drawingml/2006/main">
            <a:off x="942975" y="32194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01</a:t>
            </a:r>
          </a:p>
        </p:txBody>
      </p:sp>
      <p:sp>
        <p:nvSpPr>
          <p:cNvPr id="10" name="Действие 0">
            <a:extLst xmlns:a="http://schemas.openxmlformats.org/drawingml/2006/main">
              <a:ext uri="{FF2B5EF4-FFF2-40B4-BE49-F238E27FC236}">
                <a16:creationId xmlns:a16="http://schemas.microsoft.com/office/drawing/2014/main" id="{46DFA8A6-07C2-4AD9-8F0F-1417C9347355}"/>
              </a:ext>
            </a:extLst>
          </p:cNvPr>
          <p:cNvSpPr>
            <a:spLocks xmlns:a="http://schemas.openxmlformats.org/drawingml/2006/main" noGrp="1"/>
          </p:cNvSpPr>
          <p:nvPr/>
        </p:nvSpPr>
        <p:spPr>
          <a:xfrm xmlns:a="http://schemas.openxmlformats.org/drawingml/2006/main">
            <a:off x="942975" y="35147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Разобрать задачу</a:t>
            </a:r>
          </a:p>
        </p:txBody>
      </p:sp>
      <p:sp>
        <p:nvSpPr>
          <p:cNvPr id="11" name="Описание действия 0">
            <a:extLst xmlns:a="http://schemas.openxmlformats.org/drawingml/2006/main">
              <a:ext uri="{FF2B5EF4-FFF2-40B4-BE49-F238E27FC236}">
                <a16:creationId xmlns:a16="http://schemas.microsoft.com/office/drawing/2014/main" id="{A6530D8C-96BB-4D08-8D11-1445C362786D}"/>
              </a:ext>
            </a:extLst>
          </p:cNvPr>
          <p:cNvSpPr>
            <a:spLocks xmlns:a="http://schemas.openxmlformats.org/drawingml/2006/main" noGrp="1"/>
          </p:cNvSpPr>
          <p:nvPr/>
        </p:nvSpPr>
        <p:spPr>
          <a:xfrm xmlns:a="http://schemas.openxmlformats.org/drawingml/2006/main">
            <a:off x="942975" y="40386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цель, актор, ожидаемый результат и ограничения</a:t>
            </a:r>
          </a:p>
        </p:txBody>
      </p:sp>
      <p:sp>
        <p:nvSpPr>
          <p:cNvPr id="12" name="Блок алгоритма 1">
            <a:extLst xmlns:a="http://schemas.openxmlformats.org/drawingml/2006/main">
              <a:ext uri="{FF2B5EF4-FFF2-40B4-BE49-F238E27FC236}">
                <a16:creationId xmlns:a16="http://schemas.microsoft.com/office/drawing/2014/main" id="{457E559E-CB07-4756-A6EB-4F2F38238D6D}"/>
              </a:ext>
            </a:extLst>
          </p:cNvPr>
          <p:cNvSpPr>
            <a:spLocks xmlns:a="http://schemas.openxmlformats.org/drawingml/2006/main" noGrp="1"/>
          </p:cNvSpPr>
          <p:nvPr/>
        </p:nvSpPr>
        <p:spPr>
          <a:xfrm xmlns:a="http://schemas.openxmlformats.org/drawingml/2006/main">
            <a:off x="4238625" y="30861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13" name="Акцент алгоритма 1">
            <a:extLst xmlns:a="http://schemas.openxmlformats.org/drawingml/2006/main">
              <a:ext uri="{FF2B5EF4-FFF2-40B4-BE49-F238E27FC236}">
                <a16:creationId xmlns:a16="http://schemas.microsoft.com/office/drawing/2014/main" id="{725AB5A8-2AD4-4299-93C6-24CB316C1DCC}"/>
              </a:ext>
            </a:extLst>
          </p:cNvPr>
          <p:cNvSpPr>
            <a:spLocks xmlns:a="http://schemas.openxmlformats.org/drawingml/2006/main" noGrp="1"/>
          </p:cNvSpPr>
          <p:nvPr/>
        </p:nvSpPr>
        <p:spPr>
          <a:xfrm xmlns:a="http://schemas.openxmlformats.org/drawingml/2006/main">
            <a:off x="4238625" y="3086100"/>
            <a:ext cx="3286125"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14" name="Номер шага 1">
            <a:extLst xmlns:a="http://schemas.openxmlformats.org/drawingml/2006/main">
              <a:ext uri="{FF2B5EF4-FFF2-40B4-BE49-F238E27FC236}">
                <a16:creationId xmlns:a16="http://schemas.microsoft.com/office/drawing/2014/main" id="{C4CFBC32-8977-43E7-A14A-70F695CE9686}"/>
              </a:ext>
            </a:extLst>
          </p:cNvPr>
          <p:cNvSpPr>
            <a:spLocks xmlns:a="http://schemas.openxmlformats.org/drawingml/2006/main" noGrp="1"/>
          </p:cNvSpPr>
          <p:nvPr/>
        </p:nvSpPr>
        <p:spPr>
          <a:xfrm xmlns:a="http://schemas.openxmlformats.org/drawingml/2006/main">
            <a:off x="4419600" y="32194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02</a:t>
            </a:r>
          </a:p>
        </p:txBody>
      </p:sp>
      <p:sp>
        <p:nvSpPr>
          <p:cNvPr id="15" name="Действие 1">
            <a:extLst xmlns:a="http://schemas.openxmlformats.org/drawingml/2006/main">
              <a:ext uri="{FF2B5EF4-FFF2-40B4-BE49-F238E27FC236}">
                <a16:creationId xmlns:a16="http://schemas.microsoft.com/office/drawing/2014/main" id="{F8932678-4830-4C86-BDDC-FEFC2DAF0DA1}"/>
              </a:ext>
            </a:extLst>
          </p:cNvPr>
          <p:cNvSpPr>
            <a:spLocks xmlns:a="http://schemas.openxmlformats.org/drawingml/2006/main" noGrp="1"/>
          </p:cNvSpPr>
          <p:nvPr/>
        </p:nvSpPr>
        <p:spPr>
          <a:xfrm xmlns:a="http://schemas.openxmlformats.org/drawingml/2006/main">
            <a:off x="4419600" y="35147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Найти точку входа</a:t>
            </a:r>
          </a:p>
        </p:txBody>
      </p:sp>
      <p:sp>
        <p:nvSpPr>
          <p:cNvPr id="16" name="Описание действия 1">
            <a:extLst xmlns:a="http://schemas.openxmlformats.org/drawingml/2006/main">
              <a:ext uri="{FF2B5EF4-FFF2-40B4-BE49-F238E27FC236}">
                <a16:creationId xmlns:a16="http://schemas.microsoft.com/office/drawing/2014/main" id="{AF5C3A3C-FDE7-4AEB-BC9B-0C2E65665B8F}"/>
              </a:ext>
            </a:extLst>
          </p:cNvPr>
          <p:cNvSpPr>
            <a:spLocks xmlns:a="http://schemas.openxmlformats.org/drawingml/2006/main" noGrp="1"/>
          </p:cNvSpPr>
          <p:nvPr/>
        </p:nvSpPr>
        <p:spPr>
          <a:xfrm xmlns:a="http://schemas.openxmlformats.org/drawingml/2006/main">
            <a:off x="4419600" y="40386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корневой сервис или список кандидатов</a:t>
            </a:r>
          </a:p>
        </p:txBody>
      </p:sp>
      <p:sp>
        <p:nvSpPr>
          <p:cNvPr id="17" name="Блок алгоритма 2">
            <a:extLst xmlns:a="http://schemas.openxmlformats.org/drawingml/2006/main">
              <a:ext uri="{FF2B5EF4-FFF2-40B4-BE49-F238E27FC236}">
                <a16:creationId xmlns:a16="http://schemas.microsoft.com/office/drawing/2014/main" id="{FA7315B7-C7A0-45ED-8DF7-034631ED2CC4}"/>
              </a:ext>
            </a:extLst>
          </p:cNvPr>
          <p:cNvSpPr>
            <a:spLocks xmlns:a="http://schemas.openxmlformats.org/drawingml/2006/main" noGrp="1"/>
          </p:cNvSpPr>
          <p:nvPr/>
        </p:nvSpPr>
        <p:spPr>
          <a:xfrm xmlns:a="http://schemas.openxmlformats.org/drawingml/2006/main">
            <a:off x="7715250" y="30861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18" name="Акцент алгоритма 2">
            <a:extLst xmlns:a="http://schemas.openxmlformats.org/drawingml/2006/main">
              <a:ext uri="{FF2B5EF4-FFF2-40B4-BE49-F238E27FC236}">
                <a16:creationId xmlns:a16="http://schemas.microsoft.com/office/drawing/2014/main" id="{46277EFD-0791-4A5D-AB4D-C5F43223636B}"/>
              </a:ext>
            </a:extLst>
          </p:cNvPr>
          <p:cNvSpPr>
            <a:spLocks xmlns:a="http://schemas.openxmlformats.org/drawingml/2006/main" noGrp="1"/>
          </p:cNvSpPr>
          <p:nvPr/>
        </p:nvSpPr>
        <p:spPr>
          <a:xfrm xmlns:a="http://schemas.openxmlformats.org/drawingml/2006/main">
            <a:off x="7715250" y="3086100"/>
            <a:ext cx="3286125"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19" name="Номер шага 2">
            <a:extLst xmlns:a="http://schemas.openxmlformats.org/drawingml/2006/main">
              <a:ext uri="{FF2B5EF4-FFF2-40B4-BE49-F238E27FC236}">
                <a16:creationId xmlns:a16="http://schemas.microsoft.com/office/drawing/2014/main" id="{78180DDB-91CF-478B-B0AF-B2DF2BD7C70B}"/>
              </a:ext>
            </a:extLst>
          </p:cNvPr>
          <p:cNvSpPr>
            <a:spLocks xmlns:a="http://schemas.openxmlformats.org/drawingml/2006/main" noGrp="1"/>
          </p:cNvSpPr>
          <p:nvPr/>
        </p:nvSpPr>
        <p:spPr>
          <a:xfrm xmlns:a="http://schemas.openxmlformats.org/drawingml/2006/main">
            <a:off x="7896225" y="32194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03</a:t>
            </a:r>
          </a:p>
        </p:txBody>
      </p:sp>
      <p:sp>
        <p:nvSpPr>
          <p:cNvPr id="20" name="Действие 2">
            <a:extLst xmlns:a="http://schemas.openxmlformats.org/drawingml/2006/main">
              <a:ext uri="{FF2B5EF4-FFF2-40B4-BE49-F238E27FC236}">
                <a16:creationId xmlns:a16="http://schemas.microsoft.com/office/drawing/2014/main" id="{89B80919-F24D-4D95-99A7-2BAB2EB0B703}"/>
              </a:ext>
            </a:extLst>
          </p:cNvPr>
          <p:cNvSpPr>
            <a:spLocks xmlns:a="http://schemas.openxmlformats.org/drawingml/2006/main" noGrp="1"/>
          </p:cNvSpPr>
          <p:nvPr/>
        </p:nvSpPr>
        <p:spPr>
          <a:xfrm xmlns:a="http://schemas.openxmlformats.org/drawingml/2006/main">
            <a:off x="7896225" y="35147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Пройти по графу</a:t>
            </a:r>
          </a:p>
        </p:txBody>
      </p:sp>
      <p:sp>
        <p:nvSpPr>
          <p:cNvPr id="21" name="Описание действия 2">
            <a:extLst xmlns:a="http://schemas.openxmlformats.org/drawingml/2006/main">
              <a:ext uri="{FF2B5EF4-FFF2-40B4-BE49-F238E27FC236}">
                <a16:creationId xmlns:a16="http://schemas.microsoft.com/office/drawing/2014/main" id="{0BB590CF-47F1-48CA-99E7-F8EEEA3F733B}"/>
              </a:ext>
            </a:extLst>
          </p:cNvPr>
          <p:cNvSpPr>
            <a:spLocks xmlns:a="http://schemas.openxmlformats.org/drawingml/2006/main" noGrp="1"/>
          </p:cNvSpPr>
          <p:nvPr/>
        </p:nvSpPr>
        <p:spPr>
          <a:xfrm xmlns:a="http://schemas.openxmlformats.org/drawingml/2006/main">
            <a:off x="7896225" y="40386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выбрать соседей и границы репозиториев</a:t>
            </a:r>
          </a:p>
        </p:txBody>
      </p:sp>
      <p:sp>
        <p:nvSpPr>
          <p:cNvPr id="22" name="Блок алгоритма 3">
            <a:extLst xmlns:a="http://schemas.openxmlformats.org/drawingml/2006/main">
              <a:ext uri="{FF2B5EF4-FFF2-40B4-BE49-F238E27FC236}">
                <a16:creationId xmlns:a16="http://schemas.microsoft.com/office/drawing/2014/main" id="{66714E58-089F-471B-BF7C-7FA1C5FCB06F}"/>
              </a:ext>
            </a:extLst>
          </p:cNvPr>
          <p:cNvSpPr>
            <a:spLocks xmlns:a="http://schemas.openxmlformats.org/drawingml/2006/main" noGrp="1"/>
          </p:cNvSpPr>
          <p:nvPr/>
        </p:nvSpPr>
        <p:spPr>
          <a:xfrm xmlns:a="http://schemas.openxmlformats.org/drawingml/2006/main">
            <a:off x="11191875" y="30861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23" name="Акцент алгоритма 3">
            <a:extLst xmlns:a="http://schemas.openxmlformats.org/drawingml/2006/main">
              <a:ext uri="{FF2B5EF4-FFF2-40B4-BE49-F238E27FC236}">
                <a16:creationId xmlns:a16="http://schemas.microsoft.com/office/drawing/2014/main" id="{23DDE456-2E4F-4965-B61C-EFDB1ECFB92E}"/>
              </a:ext>
            </a:extLst>
          </p:cNvPr>
          <p:cNvSpPr>
            <a:spLocks xmlns:a="http://schemas.openxmlformats.org/drawingml/2006/main" noGrp="1"/>
          </p:cNvSpPr>
          <p:nvPr/>
        </p:nvSpPr>
        <p:spPr>
          <a:xfrm xmlns:a="http://schemas.openxmlformats.org/drawingml/2006/main">
            <a:off x="11191875" y="3086100"/>
            <a:ext cx="3286125"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4" name="Номер шага 3">
            <a:extLst xmlns:a="http://schemas.openxmlformats.org/drawingml/2006/main">
              <a:ext uri="{FF2B5EF4-FFF2-40B4-BE49-F238E27FC236}">
                <a16:creationId xmlns:a16="http://schemas.microsoft.com/office/drawing/2014/main" id="{B2DFFC22-63DA-4C4D-8B88-6DCFC461B5EF}"/>
              </a:ext>
            </a:extLst>
          </p:cNvPr>
          <p:cNvSpPr>
            <a:spLocks xmlns:a="http://schemas.openxmlformats.org/drawingml/2006/main" noGrp="1"/>
          </p:cNvSpPr>
          <p:nvPr/>
        </p:nvSpPr>
        <p:spPr>
          <a:xfrm xmlns:a="http://schemas.openxmlformats.org/drawingml/2006/main">
            <a:off x="11372850" y="32194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04</a:t>
            </a:r>
          </a:p>
        </p:txBody>
      </p:sp>
      <p:sp>
        <p:nvSpPr>
          <p:cNvPr id="25" name="Действие 3">
            <a:extLst xmlns:a="http://schemas.openxmlformats.org/drawingml/2006/main">
              <a:ext uri="{FF2B5EF4-FFF2-40B4-BE49-F238E27FC236}">
                <a16:creationId xmlns:a16="http://schemas.microsoft.com/office/drawing/2014/main" id="{49B92406-F2D5-482A-A2E4-86BAB631FA2A}"/>
              </a:ext>
            </a:extLst>
          </p:cNvPr>
          <p:cNvSpPr>
            <a:spLocks xmlns:a="http://schemas.openxmlformats.org/drawingml/2006/main" noGrp="1"/>
          </p:cNvSpPr>
          <p:nvPr/>
        </p:nvSpPr>
        <p:spPr>
          <a:xfrm xmlns:a="http://schemas.openxmlformats.org/drawingml/2006/main">
            <a:off x="11372850" y="35147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Поднять источники</a:t>
            </a:r>
          </a:p>
        </p:txBody>
      </p:sp>
      <p:sp>
        <p:nvSpPr>
          <p:cNvPr id="26" name="Описание действия 3">
            <a:extLst xmlns:a="http://schemas.openxmlformats.org/drawingml/2006/main">
              <a:ext uri="{FF2B5EF4-FFF2-40B4-BE49-F238E27FC236}">
                <a16:creationId xmlns:a16="http://schemas.microsoft.com/office/drawing/2014/main" id="{AC976BAF-A752-487D-B821-F784EC558966}"/>
              </a:ext>
            </a:extLst>
          </p:cNvPr>
          <p:cNvSpPr>
            <a:spLocks xmlns:a="http://schemas.openxmlformats.org/drawingml/2006/main" noGrp="1"/>
          </p:cNvSpPr>
          <p:nvPr/>
        </p:nvSpPr>
        <p:spPr>
          <a:xfrm xmlns:a="http://schemas.openxmlformats.org/drawingml/2006/main">
            <a:off x="11372850" y="40386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найти контракты, правила и код в нужных индексах</a:t>
            </a:r>
          </a:p>
        </p:txBody>
      </p:sp>
      <p:sp>
        <p:nvSpPr>
          <p:cNvPr id="27" name="Блок алгоритма 4">
            <a:extLst xmlns:a="http://schemas.openxmlformats.org/drawingml/2006/main">
              <a:ext uri="{FF2B5EF4-FFF2-40B4-BE49-F238E27FC236}">
                <a16:creationId xmlns:a16="http://schemas.microsoft.com/office/drawing/2014/main" id="{E049AFA5-0373-449B-AD31-74BD99CDA061}"/>
              </a:ext>
            </a:extLst>
          </p:cNvPr>
          <p:cNvSpPr>
            <a:spLocks xmlns:a="http://schemas.openxmlformats.org/drawingml/2006/main" noGrp="1"/>
          </p:cNvSpPr>
          <p:nvPr/>
        </p:nvSpPr>
        <p:spPr>
          <a:xfrm xmlns:a="http://schemas.openxmlformats.org/drawingml/2006/main">
            <a:off x="762000" y="49530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28" name="Акцент алгоритма 4">
            <a:extLst xmlns:a="http://schemas.openxmlformats.org/drawingml/2006/main">
              <a:ext uri="{FF2B5EF4-FFF2-40B4-BE49-F238E27FC236}">
                <a16:creationId xmlns:a16="http://schemas.microsoft.com/office/drawing/2014/main" id="{3BE1629D-D390-4D16-84E1-BAC0D9ABA832}"/>
              </a:ext>
            </a:extLst>
          </p:cNvPr>
          <p:cNvSpPr>
            <a:spLocks xmlns:a="http://schemas.openxmlformats.org/drawingml/2006/main" noGrp="1"/>
          </p:cNvSpPr>
          <p:nvPr/>
        </p:nvSpPr>
        <p:spPr>
          <a:xfrm xmlns:a="http://schemas.openxmlformats.org/drawingml/2006/main">
            <a:off x="762000" y="4953000"/>
            <a:ext cx="3286125"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9" name="Номер шага 4">
            <a:extLst xmlns:a="http://schemas.openxmlformats.org/drawingml/2006/main">
              <a:ext uri="{FF2B5EF4-FFF2-40B4-BE49-F238E27FC236}">
                <a16:creationId xmlns:a16="http://schemas.microsoft.com/office/drawing/2014/main" id="{847C4519-0EFF-42F5-A58E-E4F141F65EA3}"/>
              </a:ext>
            </a:extLst>
          </p:cNvPr>
          <p:cNvSpPr>
            <a:spLocks xmlns:a="http://schemas.openxmlformats.org/drawingml/2006/main" noGrp="1"/>
          </p:cNvSpPr>
          <p:nvPr/>
        </p:nvSpPr>
        <p:spPr>
          <a:xfrm xmlns:a="http://schemas.openxmlformats.org/drawingml/2006/main">
            <a:off x="942975" y="50863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05</a:t>
            </a:r>
          </a:p>
        </p:txBody>
      </p:sp>
      <p:sp>
        <p:nvSpPr>
          <p:cNvPr id="30" name="Действие 4">
            <a:extLst xmlns:a="http://schemas.openxmlformats.org/drawingml/2006/main">
              <a:ext uri="{FF2B5EF4-FFF2-40B4-BE49-F238E27FC236}">
                <a16:creationId xmlns:a16="http://schemas.microsoft.com/office/drawing/2014/main" id="{16C720A0-84C5-4788-94C1-299C70810963}"/>
              </a:ext>
            </a:extLst>
          </p:cNvPr>
          <p:cNvSpPr>
            <a:spLocks xmlns:a="http://schemas.openxmlformats.org/drawingml/2006/main" noGrp="1"/>
          </p:cNvSpPr>
          <p:nvPr/>
        </p:nvSpPr>
        <p:spPr>
          <a:xfrm xmlns:a="http://schemas.openxmlformats.org/drawingml/2006/main">
            <a:off x="942975" y="53816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Подтвердить scope</a:t>
            </a:r>
          </a:p>
        </p:txBody>
      </p:sp>
      <p:sp>
        <p:nvSpPr>
          <p:cNvPr id="31" name="Описание действия 4">
            <a:extLst xmlns:a="http://schemas.openxmlformats.org/drawingml/2006/main">
              <a:ext uri="{FF2B5EF4-FFF2-40B4-BE49-F238E27FC236}">
                <a16:creationId xmlns:a16="http://schemas.microsoft.com/office/drawing/2014/main" id="{BEAB1B21-2C31-4FAE-ACA4-FB08C82F2E9D}"/>
              </a:ext>
            </a:extLst>
          </p:cNvPr>
          <p:cNvSpPr>
            <a:spLocks xmlns:a="http://schemas.openxmlformats.org/drawingml/2006/main" noGrp="1"/>
          </p:cNvSpPr>
          <p:nvPr/>
        </p:nvSpPr>
        <p:spPr>
          <a:xfrm xmlns:a="http://schemas.openxmlformats.org/drawingml/2006/main">
            <a:off x="942975" y="59055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отделить затронутые сервисы от кандидатов</a:t>
            </a:r>
          </a:p>
        </p:txBody>
      </p:sp>
      <p:sp>
        <p:nvSpPr>
          <p:cNvPr id="32" name="Блок алгоритма 5">
            <a:extLst xmlns:a="http://schemas.openxmlformats.org/drawingml/2006/main">
              <a:ext uri="{FF2B5EF4-FFF2-40B4-BE49-F238E27FC236}">
                <a16:creationId xmlns:a16="http://schemas.microsoft.com/office/drawing/2014/main" id="{F79C2442-3D44-476C-9715-E3B76DCC0710}"/>
              </a:ext>
            </a:extLst>
          </p:cNvPr>
          <p:cNvSpPr>
            <a:spLocks xmlns:a="http://schemas.openxmlformats.org/drawingml/2006/main" noGrp="1"/>
          </p:cNvSpPr>
          <p:nvPr/>
        </p:nvSpPr>
        <p:spPr>
          <a:xfrm xmlns:a="http://schemas.openxmlformats.org/drawingml/2006/main">
            <a:off x="4238625" y="49530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33" name="Акцент алгоритма 5">
            <a:extLst xmlns:a="http://schemas.openxmlformats.org/drawingml/2006/main">
              <a:ext uri="{FF2B5EF4-FFF2-40B4-BE49-F238E27FC236}">
                <a16:creationId xmlns:a16="http://schemas.microsoft.com/office/drawing/2014/main" id="{D60E33D2-8C17-4906-9229-3F3EF0B5B34A}"/>
              </a:ext>
            </a:extLst>
          </p:cNvPr>
          <p:cNvSpPr>
            <a:spLocks xmlns:a="http://schemas.openxmlformats.org/drawingml/2006/main" noGrp="1"/>
          </p:cNvSpPr>
          <p:nvPr/>
        </p:nvSpPr>
        <p:spPr>
          <a:xfrm xmlns:a="http://schemas.openxmlformats.org/drawingml/2006/main">
            <a:off x="4238625" y="4953000"/>
            <a:ext cx="3286125" cy="28575"/>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34" name="Номер шага 5">
            <a:extLst xmlns:a="http://schemas.openxmlformats.org/drawingml/2006/main">
              <a:ext uri="{FF2B5EF4-FFF2-40B4-BE49-F238E27FC236}">
                <a16:creationId xmlns:a16="http://schemas.microsoft.com/office/drawing/2014/main" id="{D3F1AA9B-DD29-4F85-BCC7-5CF4A8C1315E}"/>
              </a:ext>
            </a:extLst>
          </p:cNvPr>
          <p:cNvSpPr>
            <a:spLocks xmlns:a="http://schemas.openxmlformats.org/drawingml/2006/main" noGrp="1"/>
          </p:cNvSpPr>
          <p:nvPr/>
        </p:nvSpPr>
        <p:spPr>
          <a:xfrm xmlns:a="http://schemas.openxmlformats.org/drawingml/2006/main">
            <a:off x="4419600" y="50863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06</a:t>
            </a:r>
          </a:p>
        </p:txBody>
      </p:sp>
      <p:sp>
        <p:nvSpPr>
          <p:cNvPr id="35" name="Действие 5">
            <a:extLst xmlns:a="http://schemas.openxmlformats.org/drawingml/2006/main">
              <a:ext uri="{FF2B5EF4-FFF2-40B4-BE49-F238E27FC236}">
                <a16:creationId xmlns:a16="http://schemas.microsoft.com/office/drawing/2014/main" id="{19B095B4-896E-4C49-9E98-6260E60E5EF9}"/>
              </a:ext>
            </a:extLst>
          </p:cNvPr>
          <p:cNvSpPr>
            <a:spLocks xmlns:a="http://schemas.openxmlformats.org/drawingml/2006/main" noGrp="1"/>
          </p:cNvSpPr>
          <p:nvPr/>
        </p:nvSpPr>
        <p:spPr>
          <a:xfrm xmlns:a="http://schemas.openxmlformats.org/drawingml/2006/main">
            <a:off x="4419600" y="53816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Собрать план</a:t>
            </a:r>
          </a:p>
        </p:txBody>
      </p:sp>
      <p:sp>
        <p:nvSpPr>
          <p:cNvPr id="36" name="Описание действия 5">
            <a:extLst xmlns:a="http://schemas.openxmlformats.org/drawingml/2006/main">
              <a:ext uri="{FF2B5EF4-FFF2-40B4-BE49-F238E27FC236}">
                <a16:creationId xmlns:a16="http://schemas.microsoft.com/office/drawing/2014/main" id="{BB4E63B8-AB8B-4BD1-9457-BD3B374B0ADC}"/>
              </a:ext>
            </a:extLst>
          </p:cNvPr>
          <p:cNvSpPr>
            <a:spLocks xmlns:a="http://schemas.openxmlformats.org/drawingml/2006/main" noGrp="1"/>
          </p:cNvSpPr>
          <p:nvPr/>
        </p:nvSpPr>
        <p:spPr>
          <a:xfrm xmlns:a="http://schemas.openxmlformats.org/drawingml/2006/main">
            <a:off x="4419600" y="59055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изменения, контракты, rollout, тесты и риски</a:t>
            </a:r>
          </a:p>
        </p:txBody>
      </p:sp>
      <p:sp>
        <p:nvSpPr>
          <p:cNvPr id="37" name="Блок алгоритма 6">
            <a:extLst xmlns:a="http://schemas.openxmlformats.org/drawingml/2006/main">
              <a:ext uri="{FF2B5EF4-FFF2-40B4-BE49-F238E27FC236}">
                <a16:creationId xmlns:a16="http://schemas.microsoft.com/office/drawing/2014/main" id="{866FE99B-3950-4F1C-A387-8DE8C40CED3A}"/>
              </a:ext>
            </a:extLst>
          </p:cNvPr>
          <p:cNvSpPr>
            <a:spLocks xmlns:a="http://schemas.openxmlformats.org/drawingml/2006/main" noGrp="1"/>
          </p:cNvSpPr>
          <p:nvPr/>
        </p:nvSpPr>
        <p:spPr>
          <a:xfrm xmlns:a="http://schemas.openxmlformats.org/drawingml/2006/main">
            <a:off x="7715250" y="49530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38" name="Акцент алгоритма 6">
            <a:extLst xmlns:a="http://schemas.openxmlformats.org/drawingml/2006/main">
              <a:ext uri="{FF2B5EF4-FFF2-40B4-BE49-F238E27FC236}">
                <a16:creationId xmlns:a16="http://schemas.microsoft.com/office/drawing/2014/main" id="{171F282E-9312-4466-8654-0578D0892275}"/>
              </a:ext>
            </a:extLst>
          </p:cNvPr>
          <p:cNvSpPr>
            <a:spLocks xmlns:a="http://schemas.openxmlformats.org/drawingml/2006/main" noGrp="1"/>
          </p:cNvSpPr>
          <p:nvPr/>
        </p:nvSpPr>
        <p:spPr>
          <a:xfrm xmlns:a="http://schemas.openxmlformats.org/drawingml/2006/main">
            <a:off x="7715250" y="4953000"/>
            <a:ext cx="3286125"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39" name="Номер шага 6">
            <a:extLst xmlns:a="http://schemas.openxmlformats.org/drawingml/2006/main">
              <a:ext uri="{FF2B5EF4-FFF2-40B4-BE49-F238E27FC236}">
                <a16:creationId xmlns:a16="http://schemas.microsoft.com/office/drawing/2014/main" id="{57E775F8-59B1-4376-BE38-5F1E1B57BCBD}"/>
              </a:ext>
            </a:extLst>
          </p:cNvPr>
          <p:cNvSpPr>
            <a:spLocks xmlns:a="http://schemas.openxmlformats.org/drawingml/2006/main" noGrp="1"/>
          </p:cNvSpPr>
          <p:nvPr/>
        </p:nvSpPr>
        <p:spPr>
          <a:xfrm xmlns:a="http://schemas.openxmlformats.org/drawingml/2006/main">
            <a:off x="7896225" y="50863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07</a:t>
            </a:r>
          </a:p>
        </p:txBody>
      </p:sp>
      <p:sp>
        <p:nvSpPr>
          <p:cNvPr id="40" name="Действие 6">
            <a:extLst xmlns:a="http://schemas.openxmlformats.org/drawingml/2006/main">
              <a:ext uri="{FF2B5EF4-FFF2-40B4-BE49-F238E27FC236}">
                <a16:creationId xmlns:a16="http://schemas.microsoft.com/office/drawing/2014/main" id="{FE65FDE7-642F-445B-A3E6-554234B995CA}"/>
              </a:ext>
            </a:extLst>
          </p:cNvPr>
          <p:cNvSpPr>
            <a:spLocks xmlns:a="http://schemas.openxmlformats.org/drawingml/2006/main" noGrp="1"/>
          </p:cNvSpPr>
          <p:nvPr/>
        </p:nvSpPr>
        <p:spPr>
          <a:xfrm xmlns:a="http://schemas.openxmlformats.org/drawingml/2006/main">
            <a:off x="7896225" y="53816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Проверить план</a:t>
            </a:r>
          </a:p>
        </p:txBody>
      </p:sp>
      <p:sp>
        <p:nvSpPr>
          <p:cNvPr id="41" name="Описание действия 6">
            <a:extLst xmlns:a="http://schemas.openxmlformats.org/drawingml/2006/main">
              <a:ext uri="{FF2B5EF4-FFF2-40B4-BE49-F238E27FC236}">
                <a16:creationId xmlns:a16="http://schemas.microsoft.com/office/drawing/2014/main" id="{2DB409EE-2660-4C53-A146-6D12676A4746}"/>
              </a:ext>
            </a:extLst>
          </p:cNvPr>
          <p:cNvSpPr>
            <a:spLocks xmlns:a="http://schemas.openxmlformats.org/drawingml/2006/main" noGrp="1"/>
          </p:cNvSpPr>
          <p:nvPr/>
        </p:nvSpPr>
        <p:spPr>
          <a:xfrm xmlns:a="http://schemas.openxmlformats.org/drawingml/2006/main">
            <a:off x="7896225" y="59055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найти выдуманные факты, конфликты и пробелы</a:t>
            </a:r>
          </a:p>
        </p:txBody>
      </p:sp>
      <p:sp>
        <p:nvSpPr>
          <p:cNvPr id="42" name="Блок алгоритма 7">
            <a:extLst xmlns:a="http://schemas.openxmlformats.org/drawingml/2006/main">
              <a:ext uri="{FF2B5EF4-FFF2-40B4-BE49-F238E27FC236}">
                <a16:creationId xmlns:a16="http://schemas.microsoft.com/office/drawing/2014/main" id="{0F451A88-40FB-42CF-9445-0B001BFD5F83}"/>
              </a:ext>
            </a:extLst>
          </p:cNvPr>
          <p:cNvSpPr>
            <a:spLocks xmlns:a="http://schemas.openxmlformats.org/drawingml/2006/main" noGrp="1"/>
          </p:cNvSpPr>
          <p:nvPr/>
        </p:nvSpPr>
        <p:spPr>
          <a:xfrm xmlns:a="http://schemas.openxmlformats.org/drawingml/2006/main">
            <a:off x="11191875" y="4953000"/>
            <a:ext cx="3286125" cy="1676400"/>
          </a:xfrm>
          <a:prstGeom xmlns:a="http://schemas.openxmlformats.org/drawingml/2006/main" prst="rect">
            <a:avLst/>
          </a:prstGeom>
          <a:solidFill xmlns:a="http://schemas.openxmlformats.org/drawingml/2006/main">
            <a:srgbClr val="0D1B2C"/>
          </a:solidFill>
          <a:ln xmlns:a="http://schemas.openxmlformats.org/drawingml/2006/main" w="0">
            <a:noFill/>
            <a:prstDash val="solid"/>
          </a:ln>
        </p:spPr>
      </p:sp>
      <p:sp>
        <p:nvSpPr>
          <p:cNvPr id="43" name="Акцент алгоритма 7">
            <a:extLst xmlns:a="http://schemas.openxmlformats.org/drawingml/2006/main">
              <a:ext uri="{FF2B5EF4-FFF2-40B4-BE49-F238E27FC236}">
                <a16:creationId xmlns:a16="http://schemas.microsoft.com/office/drawing/2014/main" id="{BB9F01D2-480E-49F0-B460-F12235151790}"/>
              </a:ext>
            </a:extLst>
          </p:cNvPr>
          <p:cNvSpPr>
            <a:spLocks xmlns:a="http://schemas.openxmlformats.org/drawingml/2006/main" noGrp="1"/>
          </p:cNvSpPr>
          <p:nvPr/>
        </p:nvSpPr>
        <p:spPr>
          <a:xfrm xmlns:a="http://schemas.openxmlformats.org/drawingml/2006/main">
            <a:off x="11191875" y="4953000"/>
            <a:ext cx="3286125"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44" name="Номер шага 7">
            <a:extLst xmlns:a="http://schemas.openxmlformats.org/drawingml/2006/main">
              <a:ext uri="{FF2B5EF4-FFF2-40B4-BE49-F238E27FC236}">
                <a16:creationId xmlns:a16="http://schemas.microsoft.com/office/drawing/2014/main" id="{DFF67B97-A109-4054-8E3C-7C1ED6E7B3FD}"/>
              </a:ext>
            </a:extLst>
          </p:cNvPr>
          <p:cNvSpPr>
            <a:spLocks xmlns:a="http://schemas.openxmlformats.org/drawingml/2006/main" noGrp="1"/>
          </p:cNvSpPr>
          <p:nvPr/>
        </p:nvSpPr>
        <p:spPr>
          <a:xfrm xmlns:a="http://schemas.openxmlformats.org/drawingml/2006/main">
            <a:off x="11372850" y="50863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A4B8C9"/>
                </a:solidFill>
                <a:latin typeface="Arial"/>
                <a:ea typeface="Arial"/>
                <a:cs typeface="Arial"/>
              </a:defRPr>
            </a:pPr>
            <a:r>
              <a:rPr sz="1350" b="1">
                <a:solidFill>
                  <a:srgbClr val="F4F8FB"/>
                </a:solidFill>
                <a:latin typeface="Arial"/>
                <a:ea typeface="Arial"/>
                <a:cs typeface="Arial"/>
              </a:rPr>
              <a:t>08</a:t>
            </a:r>
          </a:p>
        </p:txBody>
      </p:sp>
      <p:sp>
        <p:nvSpPr>
          <p:cNvPr id="45" name="Действие 7">
            <a:extLst xmlns:a="http://schemas.openxmlformats.org/drawingml/2006/main">
              <a:ext uri="{FF2B5EF4-FFF2-40B4-BE49-F238E27FC236}">
                <a16:creationId xmlns:a16="http://schemas.microsoft.com/office/drawing/2014/main" id="{9AC508E2-A166-461C-AF8B-44263DD06257}"/>
              </a:ext>
            </a:extLst>
          </p:cNvPr>
          <p:cNvSpPr>
            <a:spLocks xmlns:a="http://schemas.openxmlformats.org/drawingml/2006/main" noGrp="1"/>
          </p:cNvSpPr>
          <p:nvPr/>
        </p:nvSpPr>
        <p:spPr>
          <a:xfrm xmlns:a="http://schemas.openxmlformats.org/drawingml/2006/main">
            <a:off x="11372850" y="5381625"/>
            <a:ext cx="29241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Подготовить Jira</a:t>
            </a:r>
          </a:p>
        </p:txBody>
      </p:sp>
      <p:sp>
        <p:nvSpPr>
          <p:cNvPr id="46" name="Описание действия 7">
            <a:extLst xmlns:a="http://schemas.openxmlformats.org/drawingml/2006/main">
              <a:ext uri="{FF2B5EF4-FFF2-40B4-BE49-F238E27FC236}">
                <a16:creationId xmlns:a16="http://schemas.microsoft.com/office/drawing/2014/main" id="{ED13339E-E098-412C-AC4B-0BF9F679B904}"/>
              </a:ext>
            </a:extLst>
          </p:cNvPr>
          <p:cNvSpPr>
            <a:spLocks xmlns:a="http://schemas.openxmlformats.org/drawingml/2006/main" noGrp="1"/>
          </p:cNvSpPr>
          <p:nvPr/>
        </p:nvSpPr>
        <p:spPr>
          <a:xfrm xmlns:a="http://schemas.openxmlformats.org/drawingml/2006/main">
            <a:off x="11372850" y="5905500"/>
            <a:ext cx="29241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показать preview и ждать явного подтверждения</a:t>
            </a:r>
          </a:p>
        </p:txBody>
      </p:sp>
      <p:sp>
        <p:nvSpPr>
          <p:cNvPr id="47" name="Акцент вывода">
            <a:extLst xmlns:a="http://schemas.openxmlformats.org/drawingml/2006/main">
              <a:ext uri="{FF2B5EF4-FFF2-40B4-BE49-F238E27FC236}">
                <a16:creationId xmlns:a16="http://schemas.microsoft.com/office/drawing/2014/main" id="{51383351-9D0B-41C1-A422-A3BCD7F2B5E1}"/>
              </a:ext>
            </a:extLst>
          </p:cNvPr>
          <p:cNvSpPr>
            <a:spLocks xmlns:a="http://schemas.openxmlformats.org/drawingml/2006/main" noGrp="1"/>
          </p:cNvSpPr>
          <p:nvPr/>
        </p:nvSpPr>
        <p:spPr>
          <a:xfrm xmlns:a="http://schemas.openxmlformats.org/drawingml/2006/main">
            <a:off x="762000" y="6896100"/>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48" name="Ключевой вывод">
            <a:extLst xmlns:a="http://schemas.openxmlformats.org/drawingml/2006/main">
              <a:ext uri="{FF2B5EF4-FFF2-40B4-BE49-F238E27FC236}">
                <a16:creationId xmlns:a16="http://schemas.microsoft.com/office/drawing/2014/main" id="{694AA197-DA81-415C-9C7B-86D9A505D30D}"/>
              </a:ext>
            </a:extLst>
          </p:cNvPr>
          <p:cNvSpPr>
            <a:spLocks xmlns:a="http://schemas.openxmlformats.org/drawingml/2006/main" noGrp="1"/>
          </p:cNvSpPr>
          <p:nvPr/>
        </p:nvSpPr>
        <p:spPr>
          <a:xfrm xmlns:a="http://schemas.openxmlformats.org/drawingml/2006/main">
            <a:off x="1028700" y="6943725"/>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1">
                <a:solidFill>
                  <a:srgbClr val="F4F8FB"/>
                </a:solidFill>
                <a:latin typeface="Arial"/>
                <a:ea typeface="Arial"/>
                <a:cs typeface="Arial"/>
              </a:rPr>
              <a:t>На каждом шаге можно остановиться:</a:t>
            </a:r>
            <a:r>
              <a:rPr sz="1800" b="0">
                <a:solidFill>
                  <a:srgbClr val="A4B8C9"/>
                </a:solidFill>
                <a:latin typeface="Arial"/>
                <a:ea typeface="Arial"/>
                <a:cs typeface="Arial"/>
              </a:rPr>
              <a:t> если не найдена точка входа, нет источника или сервис остаётся кандидатом, это фиксируется как неизвестное, а не маскируется красивым планом.</a:t>
            </a:r>
          </a:p>
        </p:txBody>
      </p:sp>
    </p:spTree>
    <p:extLst>
      <p:ext uri="{BB962C8B-B14F-4D97-AF65-F5344CB8AC3E}">
        <p14:creationId xmlns:p14="http://schemas.microsoft.com/office/powerpoint/2010/main" val="176065255"/>
      </p:ext>
    </p:extLst>
  </p:cSld>
</p:sld>
</file>

<file path=ppt/slides/slide22.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32" name="Рамка слайда">
            <a:extLst xmlns:a="http://schemas.openxmlformats.org/drawingml/2006/main">
              <a:ext uri="{FF2B5EF4-FFF2-40B4-BE49-F238E27FC236}">
                <a16:creationId xmlns:a16="http://schemas.microsoft.com/office/drawing/2014/main" id="{63D8849A-7FA5-4A2D-899B-E81D744B9003}"/>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26FAD9C6-C950-41DE-8309-AE83C9DDF0D6}"/>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1E16C877-8CE0-4329-9D9E-C594D3D5BDF2}"/>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3F814FFE-C903-422C-98CE-0CA34256BDCA}"/>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22 / 27</a:t>
            </a:r>
          </a:p>
        </p:txBody>
      </p:sp>
      <p:sp>
        <p:nvSpPr>
          <p:cNvPr id="5" name="Надзаголовок">
            <a:extLst xmlns:a="http://schemas.openxmlformats.org/drawingml/2006/main">
              <a:ext uri="{FF2B5EF4-FFF2-40B4-BE49-F238E27FC236}">
                <a16:creationId xmlns:a16="http://schemas.microsoft.com/office/drawing/2014/main" id="{E6C2EDE4-5B62-434B-8B49-32845B4D738F}"/>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СТРУКТУРА РЕЗУЛЬТАТА</a:t>
            </a:r>
          </a:p>
        </p:txBody>
      </p:sp>
      <p:sp>
        <p:nvSpPr>
          <p:cNvPr id="6" name="Заголовок">
            <a:extLst xmlns:a="http://schemas.openxmlformats.org/drawingml/2006/main">
              <a:ext uri="{FF2B5EF4-FFF2-40B4-BE49-F238E27FC236}">
                <a16:creationId xmlns:a16="http://schemas.microsoft.com/office/drawing/2014/main" id="{A7AF7DBE-2D3F-4E66-B265-92828AD9BD0E}"/>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Формат PLAN_OUTPUT_V1</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4D7FF"/>
                </a:solidFill>
                <a:latin typeface="Arial"/>
                <a:ea typeface="Arial"/>
                <a:cs typeface="Arial"/>
              </a:rPr>
              <a:t>и проверка плана изменений</a:t>
            </a:r>
          </a:p>
        </p:txBody>
      </p:sp>
      <p:sp>
        <p:nvSpPr>
          <p:cNvPr id="7" name="Переход skill 0">
            <a:extLst xmlns:a="http://schemas.openxmlformats.org/drawingml/2006/main">
              <a:ext uri="{FF2B5EF4-FFF2-40B4-BE49-F238E27FC236}">
                <a16:creationId xmlns:a16="http://schemas.microsoft.com/office/drawing/2014/main" id="{CF113A97-3910-493C-AB07-0FE0C562A190}"/>
              </a:ext>
            </a:extLst>
          </p:cNvPr>
          <p:cNvSpPr>
            <a:spLocks xmlns:a="http://schemas.openxmlformats.org/drawingml/2006/main" noGrp="1"/>
          </p:cNvSpPr>
          <p:nvPr/>
        </p:nvSpPr>
        <p:spPr>
          <a:xfrm xmlns:a="http://schemas.openxmlformats.org/drawingml/2006/main">
            <a:off x="3943350" y="4600575"/>
            <a:ext cx="292036"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8" name="Переход skill 1">
            <a:extLst xmlns:a="http://schemas.openxmlformats.org/drawingml/2006/main">
              <a:ext uri="{FF2B5EF4-FFF2-40B4-BE49-F238E27FC236}">
                <a16:creationId xmlns:a16="http://schemas.microsoft.com/office/drawing/2014/main" id="{86E3CD61-CE3A-4C1A-9E85-E681D2713EB2}"/>
              </a:ext>
            </a:extLst>
          </p:cNvPr>
          <p:cNvSpPr>
            <a:spLocks xmlns:a="http://schemas.openxmlformats.org/drawingml/2006/main" noGrp="1"/>
          </p:cNvSpPr>
          <p:nvPr/>
        </p:nvSpPr>
        <p:spPr>
          <a:xfrm xmlns:a="http://schemas.openxmlformats.org/drawingml/2006/main">
            <a:off x="7473887" y="4600575"/>
            <a:ext cx="292036"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9" name="Переход skill 2">
            <a:extLst xmlns:a="http://schemas.openxmlformats.org/drawingml/2006/main">
              <a:ext uri="{FF2B5EF4-FFF2-40B4-BE49-F238E27FC236}">
                <a16:creationId xmlns:a16="http://schemas.microsoft.com/office/drawing/2014/main" id="{CFA92D06-8247-41C2-8CDC-91715034D44F}"/>
              </a:ext>
            </a:extLst>
          </p:cNvPr>
          <p:cNvSpPr>
            <a:spLocks xmlns:a="http://schemas.openxmlformats.org/drawingml/2006/main" noGrp="1"/>
          </p:cNvSpPr>
          <p:nvPr/>
        </p:nvSpPr>
        <p:spPr>
          <a:xfrm xmlns:a="http://schemas.openxmlformats.org/drawingml/2006/main">
            <a:off x="11004423" y="4600575"/>
            <a:ext cx="292036" cy="190500"/>
          </a:xfrm>
          <a:prstGeom xmlns:a="http://schemas.openxmlformats.org/drawingml/2006/main" prst="rightArrow">
            <a:avLst/>
          </a:prstGeom>
          <a:solidFill xmlns:a="http://schemas.openxmlformats.org/drawingml/2006/main">
            <a:srgbClr val="28425A"/>
          </a:solidFill>
          <a:ln xmlns:a="http://schemas.openxmlformats.org/drawingml/2006/main" w="0">
            <a:noFill/>
            <a:prstDash val="solid"/>
          </a:ln>
        </p:spPr>
      </p:sp>
      <p:sp>
        <p:nvSpPr>
          <p:cNvPr id="10" name="Skill 0">
            <a:extLst xmlns:a="http://schemas.openxmlformats.org/drawingml/2006/main">
              <a:ext uri="{FF2B5EF4-FFF2-40B4-BE49-F238E27FC236}">
                <a16:creationId xmlns:a16="http://schemas.microsoft.com/office/drawing/2014/main" id="{6AFB5715-2107-492A-ABC4-085D28322021}"/>
              </a:ext>
            </a:extLst>
          </p:cNvPr>
          <p:cNvSpPr>
            <a:spLocks xmlns:a="http://schemas.openxmlformats.org/drawingml/2006/main" noGrp="1"/>
          </p:cNvSpPr>
          <p:nvPr/>
        </p:nvSpPr>
        <p:spPr>
          <a:xfrm xmlns:a="http://schemas.openxmlformats.org/drawingml/2006/main">
            <a:off x="762000" y="3219450"/>
            <a:ext cx="3124200" cy="3390900"/>
          </a:xfrm>
          <a:prstGeom xmlns:a="http://schemas.openxmlformats.org/drawingml/2006/main" prst="roundRect">
            <a:avLst>
              <a:gd name="adj" fmla="val 5488"/>
            </a:avLst>
          </a:prstGeom>
          <a:solidFill xmlns:a="http://schemas.openxmlformats.org/drawingml/2006/main">
            <a:srgbClr val="0D1B2C"/>
          </a:solidFill>
          <a:ln xmlns:a="http://schemas.openxmlformats.org/drawingml/2006/main" w="9525">
            <a:solidFill>
              <a:srgbClr val="28425A"/>
            </a:solidFill>
            <a:prstDash val="solid"/>
          </a:ln>
        </p:spPr>
      </p:sp>
      <p:sp>
        <p:nvSpPr>
          <p:cNvPr id="11" name="Акцент skill 0">
            <a:extLst xmlns:a="http://schemas.openxmlformats.org/drawingml/2006/main">
              <a:ext uri="{FF2B5EF4-FFF2-40B4-BE49-F238E27FC236}">
                <a16:creationId xmlns:a16="http://schemas.microsoft.com/office/drawing/2014/main" id="{940E6A15-B96D-4155-A412-8443717CE44D}"/>
              </a:ext>
            </a:extLst>
          </p:cNvPr>
          <p:cNvSpPr>
            <a:spLocks xmlns:a="http://schemas.openxmlformats.org/drawingml/2006/main" noGrp="1"/>
          </p:cNvSpPr>
          <p:nvPr/>
        </p:nvSpPr>
        <p:spPr>
          <a:xfrm xmlns:a="http://schemas.openxmlformats.org/drawingml/2006/main">
            <a:off x="942975" y="3219450"/>
            <a:ext cx="2762250" cy="38100"/>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2" name="Команда skill 0">
            <a:extLst xmlns:a="http://schemas.openxmlformats.org/drawingml/2006/main">
              <a:ext uri="{FF2B5EF4-FFF2-40B4-BE49-F238E27FC236}">
                <a16:creationId xmlns:a16="http://schemas.microsoft.com/office/drawing/2014/main" id="{9387BF1A-165B-4929-A427-D3F468BF2FB0}"/>
              </a:ext>
            </a:extLst>
          </p:cNvPr>
          <p:cNvSpPr>
            <a:spLocks xmlns:a="http://schemas.openxmlformats.org/drawingml/2006/main" noGrp="1"/>
          </p:cNvSpPr>
          <p:nvPr/>
        </p:nvSpPr>
        <p:spPr>
          <a:xfrm xmlns:a="http://schemas.openxmlformats.org/drawingml/2006/main">
            <a:off x="952500" y="3543300"/>
            <a:ext cx="274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425" b="0">
                <a:solidFill>
                  <a:srgbClr val="A4B8C9"/>
                </a:solidFill>
                <a:latin typeface="Arial"/>
                <a:ea typeface="Arial"/>
                <a:cs typeface="Arial"/>
              </a:defRPr>
            </a:pPr>
            <a:r>
              <a:rPr sz="1425" b="0">
                <a:solidFill>
                  <a:srgbClr val="A4B8C9"/>
                </a:solidFill>
                <a:latin typeface="Arial"/>
                <a:ea typeface="Arial"/>
                <a:cs typeface="Arial"/>
              </a:rPr>
              <a:t>$generate-cross-service-feature</a:t>
            </a:r>
          </a:p>
        </p:txBody>
      </p:sp>
      <p:sp>
        <p:nvSpPr>
          <p:cNvPr id="13" name="Действие skill 0">
            <a:extLst xmlns:a="http://schemas.openxmlformats.org/drawingml/2006/main">
              <a:ext uri="{FF2B5EF4-FFF2-40B4-BE49-F238E27FC236}">
                <a16:creationId xmlns:a16="http://schemas.microsoft.com/office/drawing/2014/main" id="{DF4058A0-E43E-4E5A-AAE5-517BC318C8EA}"/>
              </a:ext>
            </a:extLst>
          </p:cNvPr>
          <p:cNvSpPr>
            <a:spLocks xmlns:a="http://schemas.openxmlformats.org/drawingml/2006/main" noGrp="1"/>
          </p:cNvSpPr>
          <p:nvPr/>
        </p:nvSpPr>
        <p:spPr>
          <a:xfrm xmlns:a="http://schemas.openxmlformats.org/drawingml/2006/main">
            <a:off x="952500" y="4429125"/>
            <a:ext cx="2743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Формулирует задачу</a:t>
            </a:r>
          </a:p>
        </p:txBody>
      </p:sp>
      <p:sp>
        <p:nvSpPr>
          <p:cNvPr id="14" name="Результат skill 0">
            <a:extLst xmlns:a="http://schemas.openxmlformats.org/drawingml/2006/main">
              <a:ext uri="{FF2B5EF4-FFF2-40B4-BE49-F238E27FC236}">
                <a16:creationId xmlns:a16="http://schemas.microsoft.com/office/drawing/2014/main" id="{FC54CE66-6792-4F9A-8BE2-CF603B29CBD8}"/>
              </a:ext>
            </a:extLst>
          </p:cNvPr>
          <p:cNvSpPr>
            <a:spLocks xmlns:a="http://schemas.openxmlformats.org/drawingml/2006/main" noGrp="1"/>
          </p:cNvSpPr>
          <p:nvPr/>
        </p:nvSpPr>
        <p:spPr>
          <a:xfrm xmlns:a="http://schemas.openxmlformats.org/drawingml/2006/main">
            <a:off x="952500" y="55245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цель, акторы, сценарии, ограничения и критерии приёмки</a:t>
            </a:r>
          </a:p>
        </p:txBody>
      </p:sp>
      <p:sp>
        <p:nvSpPr>
          <p:cNvPr id="15" name="Skill 1">
            <a:extLst xmlns:a="http://schemas.openxmlformats.org/drawingml/2006/main">
              <a:ext uri="{FF2B5EF4-FFF2-40B4-BE49-F238E27FC236}">
                <a16:creationId xmlns:a16="http://schemas.microsoft.com/office/drawing/2014/main" id="{BAB52C15-19AD-4910-9BE3-3AD234174821}"/>
              </a:ext>
            </a:extLst>
          </p:cNvPr>
          <p:cNvSpPr>
            <a:spLocks xmlns:a="http://schemas.openxmlformats.org/drawingml/2006/main" noGrp="1"/>
          </p:cNvSpPr>
          <p:nvPr/>
        </p:nvSpPr>
        <p:spPr>
          <a:xfrm xmlns:a="http://schemas.openxmlformats.org/drawingml/2006/main">
            <a:off x="4292537" y="3219450"/>
            <a:ext cx="3124200" cy="3390900"/>
          </a:xfrm>
          <a:prstGeom xmlns:a="http://schemas.openxmlformats.org/drawingml/2006/main" prst="roundRect">
            <a:avLst>
              <a:gd name="adj" fmla="val 5488"/>
            </a:avLst>
          </a:prstGeom>
          <a:solidFill xmlns:a="http://schemas.openxmlformats.org/drawingml/2006/main">
            <a:srgbClr val="0D1B2C"/>
          </a:solidFill>
          <a:ln xmlns:a="http://schemas.openxmlformats.org/drawingml/2006/main" w="9525">
            <a:solidFill>
              <a:srgbClr val="28425A"/>
            </a:solidFill>
            <a:prstDash val="solid"/>
          </a:ln>
        </p:spPr>
      </p:sp>
      <p:sp>
        <p:nvSpPr>
          <p:cNvPr id="16" name="Акцент skill 1">
            <a:extLst xmlns:a="http://schemas.openxmlformats.org/drawingml/2006/main">
              <a:ext uri="{FF2B5EF4-FFF2-40B4-BE49-F238E27FC236}">
                <a16:creationId xmlns:a16="http://schemas.microsoft.com/office/drawing/2014/main" id="{7FA581AD-D2AB-4DB3-9720-40394C348492}"/>
              </a:ext>
            </a:extLst>
          </p:cNvPr>
          <p:cNvSpPr>
            <a:spLocks xmlns:a="http://schemas.openxmlformats.org/drawingml/2006/main" noGrp="1"/>
          </p:cNvSpPr>
          <p:nvPr/>
        </p:nvSpPr>
        <p:spPr>
          <a:xfrm xmlns:a="http://schemas.openxmlformats.org/drawingml/2006/main">
            <a:off x="4473512" y="3219450"/>
            <a:ext cx="2762250" cy="38100"/>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17" name="Команда skill 1">
            <a:extLst xmlns:a="http://schemas.openxmlformats.org/drawingml/2006/main">
              <a:ext uri="{FF2B5EF4-FFF2-40B4-BE49-F238E27FC236}">
                <a16:creationId xmlns:a16="http://schemas.microsoft.com/office/drawing/2014/main" id="{4A0B6B54-14A4-4055-B5FE-F3D8AF1C98C0}"/>
              </a:ext>
            </a:extLst>
          </p:cNvPr>
          <p:cNvSpPr>
            <a:spLocks xmlns:a="http://schemas.openxmlformats.org/drawingml/2006/main" noGrp="1"/>
          </p:cNvSpPr>
          <p:nvPr/>
        </p:nvSpPr>
        <p:spPr>
          <a:xfrm xmlns:a="http://schemas.openxmlformats.org/drawingml/2006/main">
            <a:off x="4483037" y="3543300"/>
            <a:ext cx="274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425" b="0">
                <a:solidFill>
                  <a:srgbClr val="A4B8C9"/>
                </a:solidFill>
                <a:latin typeface="Arial"/>
                <a:ea typeface="Arial"/>
                <a:cs typeface="Arial"/>
              </a:defRPr>
            </a:pPr>
            <a:r>
              <a:rPr sz="1425" b="0">
                <a:solidFill>
                  <a:srgbClr val="A4B8C9"/>
                </a:solidFill>
                <a:latin typeface="Arial"/>
                <a:ea typeface="Arial"/>
                <a:cs typeface="Arial"/>
              </a:rPr>
              <a:t>$verify-cross-service-feature</a:t>
            </a:r>
          </a:p>
        </p:txBody>
      </p:sp>
      <p:sp>
        <p:nvSpPr>
          <p:cNvPr id="18" name="Действие skill 1">
            <a:extLst xmlns:a="http://schemas.openxmlformats.org/drawingml/2006/main">
              <a:ext uri="{FF2B5EF4-FFF2-40B4-BE49-F238E27FC236}">
                <a16:creationId xmlns:a16="http://schemas.microsoft.com/office/drawing/2014/main" id="{99ED5015-F217-4695-9DCD-E223C35F6326}"/>
              </a:ext>
            </a:extLst>
          </p:cNvPr>
          <p:cNvSpPr>
            <a:spLocks xmlns:a="http://schemas.openxmlformats.org/drawingml/2006/main" noGrp="1"/>
          </p:cNvSpPr>
          <p:nvPr/>
        </p:nvSpPr>
        <p:spPr>
          <a:xfrm xmlns:a="http://schemas.openxmlformats.org/drawingml/2006/main">
            <a:off x="4483037" y="4429125"/>
            <a:ext cx="2743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Проверяет исходные факты</a:t>
            </a:r>
          </a:p>
        </p:txBody>
      </p:sp>
      <p:sp>
        <p:nvSpPr>
          <p:cNvPr id="19" name="Результат skill 1">
            <a:extLst xmlns:a="http://schemas.openxmlformats.org/drawingml/2006/main">
              <a:ext uri="{FF2B5EF4-FFF2-40B4-BE49-F238E27FC236}">
                <a16:creationId xmlns:a16="http://schemas.microsoft.com/office/drawing/2014/main" id="{231A7E60-14DB-4E85-B8E4-4ED7328EBC19}"/>
              </a:ext>
            </a:extLst>
          </p:cNvPr>
          <p:cNvSpPr>
            <a:spLocks xmlns:a="http://schemas.openxmlformats.org/drawingml/2006/main" noGrp="1"/>
          </p:cNvSpPr>
          <p:nvPr/>
        </p:nvSpPr>
        <p:spPr>
          <a:xfrm xmlns:a="http://schemas.openxmlformats.org/drawingml/2006/main">
            <a:off x="4483037" y="55245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не даёт выдать требования или догадки за текущее состояние</a:t>
            </a:r>
          </a:p>
        </p:txBody>
      </p:sp>
      <p:sp>
        <p:nvSpPr>
          <p:cNvPr id="20" name="Skill 2">
            <a:extLst xmlns:a="http://schemas.openxmlformats.org/drawingml/2006/main">
              <a:ext uri="{FF2B5EF4-FFF2-40B4-BE49-F238E27FC236}">
                <a16:creationId xmlns:a16="http://schemas.microsoft.com/office/drawing/2014/main" id="{EA606AE7-D5B4-498D-A53F-3EEFBA1DBDF7}"/>
              </a:ext>
            </a:extLst>
          </p:cNvPr>
          <p:cNvSpPr>
            <a:spLocks xmlns:a="http://schemas.openxmlformats.org/drawingml/2006/main" noGrp="1"/>
          </p:cNvSpPr>
          <p:nvPr/>
        </p:nvSpPr>
        <p:spPr>
          <a:xfrm xmlns:a="http://schemas.openxmlformats.org/drawingml/2006/main">
            <a:off x="7823073" y="3219450"/>
            <a:ext cx="3124200" cy="3390900"/>
          </a:xfrm>
          <a:prstGeom xmlns:a="http://schemas.openxmlformats.org/drawingml/2006/main" prst="roundRect">
            <a:avLst>
              <a:gd name="adj" fmla="val 5488"/>
            </a:avLst>
          </a:prstGeom>
          <a:solidFill xmlns:a="http://schemas.openxmlformats.org/drawingml/2006/main">
            <a:srgbClr val="0D1B2C"/>
          </a:solidFill>
          <a:ln xmlns:a="http://schemas.openxmlformats.org/drawingml/2006/main" w="9525">
            <a:solidFill>
              <a:srgbClr val="28425A"/>
            </a:solidFill>
            <a:prstDash val="solid"/>
          </a:ln>
        </p:spPr>
      </p:sp>
      <p:sp>
        <p:nvSpPr>
          <p:cNvPr id="21" name="Акцент skill 2">
            <a:extLst xmlns:a="http://schemas.openxmlformats.org/drawingml/2006/main">
              <a:ext uri="{FF2B5EF4-FFF2-40B4-BE49-F238E27FC236}">
                <a16:creationId xmlns:a16="http://schemas.microsoft.com/office/drawing/2014/main" id="{D164FFE8-0CB9-4CCC-85EA-009B8C02B202}"/>
              </a:ext>
            </a:extLst>
          </p:cNvPr>
          <p:cNvSpPr>
            <a:spLocks xmlns:a="http://schemas.openxmlformats.org/drawingml/2006/main" noGrp="1"/>
          </p:cNvSpPr>
          <p:nvPr/>
        </p:nvSpPr>
        <p:spPr>
          <a:xfrm xmlns:a="http://schemas.openxmlformats.org/drawingml/2006/main">
            <a:off x="8004048" y="3219450"/>
            <a:ext cx="2762250" cy="38100"/>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22" name="Команда skill 2">
            <a:extLst xmlns:a="http://schemas.openxmlformats.org/drawingml/2006/main">
              <a:ext uri="{FF2B5EF4-FFF2-40B4-BE49-F238E27FC236}">
                <a16:creationId xmlns:a16="http://schemas.microsoft.com/office/drawing/2014/main" id="{E4636FCC-49DA-4E10-89FD-CC9C236F0492}"/>
              </a:ext>
            </a:extLst>
          </p:cNvPr>
          <p:cNvSpPr>
            <a:spLocks xmlns:a="http://schemas.openxmlformats.org/drawingml/2006/main" noGrp="1"/>
          </p:cNvSpPr>
          <p:nvPr/>
        </p:nvSpPr>
        <p:spPr>
          <a:xfrm xmlns:a="http://schemas.openxmlformats.org/drawingml/2006/main">
            <a:off x="8013573" y="3543300"/>
            <a:ext cx="274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425" b="0">
                <a:solidFill>
                  <a:srgbClr val="A4B8C9"/>
                </a:solidFill>
                <a:latin typeface="Arial"/>
                <a:ea typeface="Arial"/>
                <a:cs typeface="Arial"/>
              </a:defRPr>
            </a:pPr>
            <a:r>
              <a:rPr sz="1425" b="0">
                <a:solidFill>
                  <a:srgbClr val="A4B8C9"/>
                </a:solidFill>
                <a:latin typeface="Arial"/>
                <a:ea typeface="Arial"/>
                <a:cs typeface="Arial"/>
              </a:rPr>
              <a:t>$plan-feature-with-system-graph</a:t>
            </a:r>
          </a:p>
        </p:txBody>
      </p:sp>
      <p:sp>
        <p:nvSpPr>
          <p:cNvPr id="23" name="Действие skill 2">
            <a:extLst xmlns:a="http://schemas.openxmlformats.org/drawingml/2006/main">
              <a:ext uri="{FF2B5EF4-FFF2-40B4-BE49-F238E27FC236}">
                <a16:creationId xmlns:a16="http://schemas.microsoft.com/office/drawing/2014/main" id="{E3D020EE-F9E2-4D3C-AEED-624ED0C74846}"/>
              </a:ext>
            </a:extLst>
          </p:cNvPr>
          <p:cNvSpPr>
            <a:spLocks xmlns:a="http://schemas.openxmlformats.org/drawingml/2006/main" noGrp="1"/>
          </p:cNvSpPr>
          <p:nvPr/>
        </p:nvSpPr>
        <p:spPr>
          <a:xfrm xmlns:a="http://schemas.openxmlformats.org/drawingml/2006/main">
            <a:off x="8013573" y="4429125"/>
            <a:ext cx="2743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Собирает единый план</a:t>
            </a:r>
          </a:p>
        </p:txBody>
      </p:sp>
      <p:sp>
        <p:nvSpPr>
          <p:cNvPr id="24" name="Результат skill 2">
            <a:extLst xmlns:a="http://schemas.openxmlformats.org/drawingml/2006/main">
              <a:ext uri="{FF2B5EF4-FFF2-40B4-BE49-F238E27FC236}">
                <a16:creationId xmlns:a16="http://schemas.microsoft.com/office/drawing/2014/main" id="{E1561DF5-384C-448C-AA59-99CF1F57C51B}"/>
              </a:ext>
            </a:extLst>
          </p:cNvPr>
          <p:cNvSpPr>
            <a:spLocks xmlns:a="http://schemas.openxmlformats.org/drawingml/2006/main" noGrp="1"/>
          </p:cNvSpPr>
          <p:nvPr/>
        </p:nvSpPr>
        <p:spPr>
          <a:xfrm xmlns:a="http://schemas.openxmlformats.org/drawingml/2006/main">
            <a:off x="8013573" y="55245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бизнес-резюме · сервисы · изменения · тесты · риски · Jira drafts</a:t>
            </a:r>
          </a:p>
        </p:txBody>
      </p:sp>
      <p:sp>
        <p:nvSpPr>
          <p:cNvPr id="25" name="Skill 3">
            <a:extLst xmlns:a="http://schemas.openxmlformats.org/drawingml/2006/main">
              <a:ext uri="{FF2B5EF4-FFF2-40B4-BE49-F238E27FC236}">
                <a16:creationId xmlns:a16="http://schemas.microsoft.com/office/drawing/2014/main" id="{EFD0BC72-8206-48DF-A38D-CD2DE5E75AC4}"/>
              </a:ext>
            </a:extLst>
          </p:cNvPr>
          <p:cNvSpPr>
            <a:spLocks xmlns:a="http://schemas.openxmlformats.org/drawingml/2006/main" noGrp="1"/>
          </p:cNvSpPr>
          <p:nvPr/>
        </p:nvSpPr>
        <p:spPr>
          <a:xfrm xmlns:a="http://schemas.openxmlformats.org/drawingml/2006/main">
            <a:off x="11353610" y="3219450"/>
            <a:ext cx="3124200" cy="3390900"/>
          </a:xfrm>
          <a:prstGeom xmlns:a="http://schemas.openxmlformats.org/drawingml/2006/main" prst="roundRect">
            <a:avLst>
              <a:gd name="adj" fmla="val 5488"/>
            </a:avLst>
          </a:prstGeom>
          <a:solidFill xmlns:a="http://schemas.openxmlformats.org/drawingml/2006/main">
            <a:srgbClr val="0D1B2C"/>
          </a:solidFill>
          <a:ln xmlns:a="http://schemas.openxmlformats.org/drawingml/2006/main" w="9525">
            <a:solidFill>
              <a:srgbClr val="28425A"/>
            </a:solidFill>
            <a:prstDash val="solid"/>
          </a:ln>
        </p:spPr>
      </p:sp>
      <p:sp>
        <p:nvSpPr>
          <p:cNvPr id="26" name="Акцент skill 3">
            <a:extLst xmlns:a="http://schemas.openxmlformats.org/drawingml/2006/main">
              <a:ext uri="{FF2B5EF4-FFF2-40B4-BE49-F238E27FC236}">
                <a16:creationId xmlns:a16="http://schemas.microsoft.com/office/drawing/2014/main" id="{95C57258-53FB-4ECB-A365-32C1C0A69B77}"/>
              </a:ext>
            </a:extLst>
          </p:cNvPr>
          <p:cNvSpPr>
            <a:spLocks xmlns:a="http://schemas.openxmlformats.org/drawingml/2006/main" noGrp="1"/>
          </p:cNvSpPr>
          <p:nvPr/>
        </p:nvSpPr>
        <p:spPr>
          <a:xfrm xmlns:a="http://schemas.openxmlformats.org/drawingml/2006/main">
            <a:off x="11534585" y="3219450"/>
            <a:ext cx="2762250" cy="38100"/>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7" name="Команда skill 3">
            <a:extLst xmlns:a="http://schemas.openxmlformats.org/drawingml/2006/main">
              <a:ext uri="{FF2B5EF4-FFF2-40B4-BE49-F238E27FC236}">
                <a16:creationId xmlns:a16="http://schemas.microsoft.com/office/drawing/2014/main" id="{3BB5F97D-B48E-488A-929D-2248562F5DA5}"/>
              </a:ext>
            </a:extLst>
          </p:cNvPr>
          <p:cNvSpPr>
            <a:spLocks xmlns:a="http://schemas.openxmlformats.org/drawingml/2006/main" noGrp="1"/>
          </p:cNvSpPr>
          <p:nvPr/>
        </p:nvSpPr>
        <p:spPr>
          <a:xfrm xmlns:a="http://schemas.openxmlformats.org/drawingml/2006/main">
            <a:off x="11544110" y="3543300"/>
            <a:ext cx="2743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425" b="0">
                <a:solidFill>
                  <a:srgbClr val="A4B8C9"/>
                </a:solidFill>
                <a:latin typeface="Arial"/>
                <a:ea typeface="Arial"/>
                <a:cs typeface="Arial"/>
              </a:defRPr>
            </a:pPr>
            <a:r>
              <a:rPr sz="1425" b="0">
                <a:solidFill>
                  <a:srgbClr val="A4B8C9"/>
                </a:solidFill>
                <a:latin typeface="Arial"/>
                <a:ea typeface="Arial"/>
                <a:cs typeface="Arial"/>
              </a:rPr>
              <a:t>$verify-cross-service-feature</a:t>
            </a:r>
          </a:p>
        </p:txBody>
      </p:sp>
      <p:sp>
        <p:nvSpPr>
          <p:cNvPr id="28" name="Действие skill 3">
            <a:extLst xmlns:a="http://schemas.openxmlformats.org/drawingml/2006/main">
              <a:ext uri="{FF2B5EF4-FFF2-40B4-BE49-F238E27FC236}">
                <a16:creationId xmlns:a16="http://schemas.microsoft.com/office/drawing/2014/main" id="{5F53D418-2187-4F70-AFF1-883225C3398D}"/>
              </a:ext>
            </a:extLst>
          </p:cNvPr>
          <p:cNvSpPr>
            <a:spLocks xmlns:a="http://schemas.openxmlformats.org/drawingml/2006/main" noGrp="1"/>
          </p:cNvSpPr>
          <p:nvPr/>
        </p:nvSpPr>
        <p:spPr>
          <a:xfrm xmlns:a="http://schemas.openxmlformats.org/drawingml/2006/main">
            <a:off x="11544110" y="4429125"/>
            <a:ext cx="2743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250" b="1">
                <a:solidFill>
                  <a:srgbClr val="F4F8FB"/>
                </a:solidFill>
                <a:latin typeface="Arial"/>
                <a:ea typeface="Arial"/>
                <a:cs typeface="Arial"/>
              </a:defRPr>
            </a:pPr>
            <a:r>
              <a:rPr sz="2250" b="1">
                <a:solidFill>
                  <a:srgbClr val="F4F8FB"/>
                </a:solidFill>
                <a:latin typeface="Arial"/>
                <a:ea typeface="Arial"/>
                <a:cs typeface="Arial"/>
              </a:rPr>
              <a:t>Проверяет готовый план</a:t>
            </a:r>
          </a:p>
        </p:txBody>
      </p:sp>
      <p:sp>
        <p:nvSpPr>
          <p:cNvPr id="29" name="Результат skill 3">
            <a:extLst xmlns:a="http://schemas.openxmlformats.org/drawingml/2006/main">
              <a:ext uri="{FF2B5EF4-FFF2-40B4-BE49-F238E27FC236}">
                <a16:creationId xmlns:a16="http://schemas.microsoft.com/office/drawing/2014/main" id="{DB2919CA-CB7C-4894-A5A5-9FD1584A0386}"/>
              </a:ext>
            </a:extLst>
          </p:cNvPr>
          <p:cNvSpPr>
            <a:spLocks xmlns:a="http://schemas.openxmlformats.org/drawingml/2006/main" noGrp="1"/>
          </p:cNvSpPr>
          <p:nvPr/>
        </p:nvSpPr>
        <p:spPr>
          <a:xfrm xmlns:a="http://schemas.openxmlformats.org/drawingml/2006/main">
            <a:off x="11544110" y="55245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сверяет сервисы, контракты, evidence и оставшиеся неизвестные</a:t>
            </a:r>
          </a:p>
        </p:txBody>
      </p:sp>
      <p:sp>
        <p:nvSpPr>
          <p:cNvPr id="30" name="Акцент вывода">
            <a:extLst xmlns:a="http://schemas.openxmlformats.org/drawingml/2006/main">
              <a:ext uri="{FF2B5EF4-FFF2-40B4-BE49-F238E27FC236}">
                <a16:creationId xmlns:a16="http://schemas.microsoft.com/office/drawing/2014/main" id="{5C325A98-F4D0-45D2-A0AA-A5D5D546B63B}"/>
              </a:ext>
            </a:extLst>
          </p:cNvPr>
          <p:cNvSpPr>
            <a:spLocks xmlns:a="http://schemas.openxmlformats.org/drawingml/2006/main" noGrp="1"/>
          </p:cNvSpPr>
          <p:nvPr/>
        </p:nvSpPr>
        <p:spPr>
          <a:xfrm xmlns:a="http://schemas.openxmlformats.org/drawingml/2006/main">
            <a:off x="762000" y="690562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31" name="Ключевой вывод">
            <a:extLst xmlns:a="http://schemas.openxmlformats.org/drawingml/2006/main">
              <a:ext uri="{FF2B5EF4-FFF2-40B4-BE49-F238E27FC236}">
                <a16:creationId xmlns:a16="http://schemas.microsoft.com/office/drawing/2014/main" id="{D8582036-CE80-4E86-BFA6-7F6C654815DA}"/>
              </a:ext>
            </a:extLst>
          </p:cNvPr>
          <p:cNvSpPr>
            <a:spLocks xmlns:a="http://schemas.openxmlformats.org/drawingml/2006/main" noGrp="1"/>
          </p:cNvSpPr>
          <p:nvPr/>
        </p:nvSpPr>
        <p:spPr>
          <a:xfrm xmlns:a="http://schemas.openxmlformats.org/drawingml/2006/main">
            <a:off x="1028700" y="695325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0">
                <a:solidFill>
                  <a:srgbClr val="A4B8C9"/>
                </a:solidFill>
                <a:latin typeface="Arial"/>
                <a:ea typeface="Arial"/>
                <a:cs typeface="Arial"/>
              </a:rPr>
              <a:t>Бизнес читает резюме и риски; инженер — изменения, контракты, rollout и тесты. Оба смотрят на один и тот же план.</a:t>
            </a:r>
          </a:p>
        </p:txBody>
      </p:sp>
    </p:spTree>
    <p:extLst>
      <p:ext uri="{BB962C8B-B14F-4D97-AF65-F5344CB8AC3E}">
        <p14:creationId xmlns:p14="http://schemas.microsoft.com/office/powerpoint/2010/main" val="1334772315"/>
      </p:ext>
    </p:extLst>
  </p:cSld>
</p:sld>
</file>

<file path=ppt/slides/slide23.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7" name="Рамка слайда">
            <a:extLst xmlns:a="http://schemas.openxmlformats.org/drawingml/2006/main">
              <a:ext uri="{FF2B5EF4-FFF2-40B4-BE49-F238E27FC236}">
                <a16:creationId xmlns:a16="http://schemas.microsoft.com/office/drawing/2014/main" id="{1018250A-F11A-43FD-AFDE-646140246E95}"/>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FA63DAD4-7326-482B-B2F2-94D6F1281AAB}"/>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3D87FC7B-4BB2-43BC-B27E-3274A5151F88}"/>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8BA5644B-08F1-4791-AC26-F12F8FD119C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23 / 27</a:t>
            </a:r>
          </a:p>
        </p:txBody>
      </p:sp>
      <p:sp>
        <p:nvSpPr>
          <p:cNvPr id="5" name="Надзаголовок">
            <a:extLst xmlns:a="http://schemas.openxmlformats.org/drawingml/2006/main">
              <a:ext uri="{FF2B5EF4-FFF2-40B4-BE49-F238E27FC236}">
                <a16:creationId xmlns:a16="http://schemas.microsoft.com/office/drawing/2014/main" id="{5192F21E-D3E5-4958-A38B-C943068C44AD}"/>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ПЛАН ИЗМЕНЕНИЙ В GIGACODE</a:t>
            </a:r>
          </a:p>
        </p:txBody>
      </p:sp>
      <p:sp>
        <p:nvSpPr>
          <p:cNvPr id="6" name="Заголовок">
            <a:extLst xmlns:a="http://schemas.openxmlformats.org/drawingml/2006/main">
              <a:ext uri="{FF2B5EF4-FFF2-40B4-BE49-F238E27FC236}">
                <a16:creationId xmlns:a16="http://schemas.microsoft.com/office/drawing/2014/main" id="{9945F9B9-FCE4-43EB-9C8B-722DBFE1221E}"/>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Планирование межсервисных изменений</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в GigaCode</a:t>
            </a:r>
          </a:p>
        </p:txBody>
      </p:sp>
      <p:sp>
        <p:nvSpPr>
          <p:cNvPr id="7" name="Редактируемая область для скриншота">
            <a:extLst xmlns:a="http://schemas.openxmlformats.org/drawingml/2006/main">
              <a:ext uri="{FF2B5EF4-FFF2-40B4-BE49-F238E27FC236}">
                <a16:creationId xmlns:a16="http://schemas.microsoft.com/office/drawing/2014/main" id="{60229D3F-CFF0-4381-A56D-0C8C17B8B761}"/>
              </a:ext>
            </a:extLst>
          </p:cNvPr>
          <p:cNvSpPr>
            <a:spLocks xmlns:a="http://schemas.openxmlformats.org/drawingml/2006/main" noGrp="1"/>
          </p:cNvSpPr>
          <p:nvPr/>
        </p:nvSpPr>
        <p:spPr>
          <a:xfrm xmlns:a="http://schemas.openxmlformats.org/drawingml/2006/main">
            <a:off x="762000" y="3133725"/>
            <a:ext cx="9410700" cy="4171950"/>
          </a:xfrm>
          <a:prstGeom xmlns:a="http://schemas.openxmlformats.org/drawingml/2006/main" prst="roundRect">
            <a:avLst>
              <a:gd name="adj" fmla="val 4566"/>
            </a:avLst>
          </a:prstGeom>
          <a:solidFill xmlns:a="http://schemas.openxmlformats.org/drawingml/2006/main">
            <a:srgbClr val="0D1B2C"/>
          </a:solidFill>
          <a:ln xmlns:a="http://schemas.openxmlformats.org/drawingml/2006/main" w="14288">
            <a:solidFill>
              <a:srgbClr val="28425A"/>
            </a:solidFill>
            <a:prstDash val="solid"/>
          </a:ln>
        </p:spPr>
      </p:sp>
      <p:sp>
        <p:nvSpPr>
          <p:cNvPr id="8" name="Линия окна">
            <a:extLst xmlns:a="http://schemas.openxmlformats.org/drawingml/2006/main">
              <a:ext uri="{FF2B5EF4-FFF2-40B4-BE49-F238E27FC236}">
                <a16:creationId xmlns:a16="http://schemas.microsoft.com/office/drawing/2014/main" id="{6EC17CCE-DED2-4503-86D8-D6E73CBE7757}"/>
              </a:ext>
            </a:extLst>
          </p:cNvPr>
          <p:cNvSpPr>
            <a:spLocks xmlns:a="http://schemas.openxmlformats.org/drawingml/2006/main" noGrp="1"/>
          </p:cNvSpPr>
          <p:nvPr/>
        </p:nvSpPr>
        <p:spPr>
          <a:xfrm xmlns:a="http://schemas.openxmlformats.org/drawingml/2006/main">
            <a:off x="762000" y="3638550"/>
            <a:ext cx="9410700" cy="9525"/>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9" name="Индикатор окна 0">
            <a:extLst xmlns:a="http://schemas.openxmlformats.org/drawingml/2006/main">
              <a:ext uri="{FF2B5EF4-FFF2-40B4-BE49-F238E27FC236}">
                <a16:creationId xmlns:a16="http://schemas.microsoft.com/office/drawing/2014/main" id="{A3D08F09-1A46-4D96-82E9-0C0BBD61E0C2}"/>
              </a:ext>
            </a:extLst>
          </p:cNvPr>
          <p:cNvSpPr>
            <a:spLocks xmlns:a="http://schemas.openxmlformats.org/drawingml/2006/main" noGrp="1"/>
          </p:cNvSpPr>
          <p:nvPr/>
        </p:nvSpPr>
        <p:spPr>
          <a:xfrm xmlns:a="http://schemas.openxmlformats.org/drawingml/2006/main">
            <a:off x="990600" y="3352800"/>
            <a:ext cx="76200" cy="76200"/>
          </a:xfrm>
          <a:prstGeom xmlns:a="http://schemas.openxmlformats.org/drawingml/2006/main" prst="ellipse">
            <a:avLst/>
          </a:prstGeom>
          <a:solidFill xmlns:a="http://schemas.openxmlformats.org/drawingml/2006/main">
            <a:srgbClr val="54D7FF"/>
          </a:solidFill>
          <a:ln xmlns:a="http://schemas.openxmlformats.org/drawingml/2006/main" w="0">
            <a:noFill/>
            <a:prstDash val="solid"/>
          </a:ln>
        </p:spPr>
      </p:sp>
      <p:sp>
        <p:nvSpPr>
          <p:cNvPr id="10" name="Индикатор окна 1">
            <a:extLst xmlns:a="http://schemas.openxmlformats.org/drawingml/2006/main">
              <a:ext uri="{FF2B5EF4-FFF2-40B4-BE49-F238E27FC236}">
                <a16:creationId xmlns:a16="http://schemas.microsoft.com/office/drawing/2014/main" id="{54DFAB54-CF08-4572-B7AA-20885CCAC92B}"/>
              </a:ext>
            </a:extLst>
          </p:cNvPr>
          <p:cNvSpPr>
            <a:spLocks xmlns:a="http://schemas.openxmlformats.org/drawingml/2006/main" noGrp="1"/>
          </p:cNvSpPr>
          <p:nvPr/>
        </p:nvSpPr>
        <p:spPr>
          <a:xfrm xmlns:a="http://schemas.openxmlformats.org/drawingml/2006/main">
            <a:off x="1162050" y="3352800"/>
            <a:ext cx="76200" cy="76200"/>
          </a:xfrm>
          <a:prstGeom xmlns:a="http://schemas.openxmlformats.org/drawingml/2006/main" prst="ellipse">
            <a:avLst/>
          </a:prstGeom>
          <a:solidFill xmlns:a="http://schemas.openxmlformats.org/drawingml/2006/main">
            <a:srgbClr val="AF98FF"/>
          </a:solidFill>
          <a:ln xmlns:a="http://schemas.openxmlformats.org/drawingml/2006/main" w="0">
            <a:noFill/>
            <a:prstDash val="solid"/>
          </a:ln>
        </p:spPr>
      </p:sp>
      <p:sp>
        <p:nvSpPr>
          <p:cNvPr id="11" name="Индикатор окна 2">
            <a:extLst xmlns:a="http://schemas.openxmlformats.org/drawingml/2006/main">
              <a:ext uri="{FF2B5EF4-FFF2-40B4-BE49-F238E27FC236}">
                <a16:creationId xmlns:a16="http://schemas.microsoft.com/office/drawing/2014/main" id="{7E2F0DF7-FCC4-4474-99FC-0F108E1219D3}"/>
              </a:ext>
            </a:extLst>
          </p:cNvPr>
          <p:cNvSpPr>
            <a:spLocks xmlns:a="http://schemas.openxmlformats.org/drawingml/2006/main" noGrp="1"/>
          </p:cNvSpPr>
          <p:nvPr/>
        </p:nvSpPr>
        <p:spPr>
          <a:xfrm xmlns:a="http://schemas.openxmlformats.org/drawingml/2006/main">
            <a:off x="1333500" y="3352800"/>
            <a:ext cx="76200" cy="76200"/>
          </a:xfrm>
          <a:prstGeom xmlns:a="http://schemas.openxmlformats.org/drawingml/2006/main" prst="ellipse">
            <a:avLst/>
          </a:prstGeom>
          <a:solidFill xmlns:a="http://schemas.openxmlformats.org/drawingml/2006/main">
            <a:srgbClr val="5CE3A0"/>
          </a:solidFill>
          <a:ln xmlns:a="http://schemas.openxmlformats.org/drawingml/2006/main" w="0">
            <a:noFill/>
            <a:prstDash val="solid"/>
          </a:ln>
        </p:spPr>
      </p:sp>
      <p:sp>
        <p:nvSpPr>
          <p:cNvPr id="12" name="Заголовок окна">
            <a:extLst xmlns:a="http://schemas.openxmlformats.org/drawingml/2006/main">
              <a:ext uri="{FF2B5EF4-FFF2-40B4-BE49-F238E27FC236}">
                <a16:creationId xmlns:a16="http://schemas.microsoft.com/office/drawing/2014/main" id="{C375ABEF-EAC0-487C-A73E-BD919D1F37B5}"/>
              </a:ext>
            </a:extLst>
          </p:cNvPr>
          <p:cNvSpPr>
            <a:spLocks xmlns:a="http://schemas.openxmlformats.org/drawingml/2006/main" noGrp="1"/>
          </p:cNvSpPr>
          <p:nvPr/>
        </p:nvSpPr>
        <p:spPr>
          <a:xfrm xmlns:a="http://schemas.openxmlformats.org/drawingml/2006/main">
            <a:off x="1724025" y="3267075"/>
            <a:ext cx="8153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575" b="0">
                <a:solidFill>
                  <a:srgbClr val="A4B8C9"/>
                </a:solidFill>
                <a:latin typeface="Arial"/>
                <a:ea typeface="Arial"/>
                <a:cs typeface="Arial"/>
              </a:defRPr>
            </a:pPr>
            <a:r>
              <a:rPr sz="1575" b="0">
                <a:solidFill>
                  <a:srgbClr val="A4B8C9"/>
                </a:solidFill>
                <a:latin typeface="Arial"/>
                <a:ea typeface="Arial"/>
                <a:cs typeface="Arial"/>
              </a:rPr>
              <a:t>GigaCode · feature planning</a:t>
            </a:r>
          </a:p>
        </p:txBody>
      </p:sp>
      <p:sp>
        <p:nvSpPr>
          <p:cNvPr id="13" name="Содержимое демо">
            <a:extLst xmlns:a="http://schemas.openxmlformats.org/drawingml/2006/main">
              <a:ext uri="{FF2B5EF4-FFF2-40B4-BE49-F238E27FC236}">
                <a16:creationId xmlns:a16="http://schemas.microsoft.com/office/drawing/2014/main" id="{94EE1F38-872E-4A3E-B364-64243A172948}"/>
              </a:ext>
            </a:extLst>
          </p:cNvPr>
          <p:cNvSpPr>
            <a:spLocks xmlns:a="http://schemas.openxmlformats.org/drawingml/2006/main" noGrp="1"/>
          </p:cNvSpPr>
          <p:nvPr/>
        </p:nvSpPr>
        <p:spPr>
          <a:xfrm xmlns:a="http://schemas.openxmlformats.org/drawingml/2006/main">
            <a:off x="1095375" y="4610100"/>
            <a:ext cx="8743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3300" b="1">
                <a:solidFill>
                  <a:srgbClr val="54D7FF"/>
                </a:solidFill>
                <a:latin typeface="Arial"/>
                <a:ea typeface="Arial"/>
                <a:cs typeface="Arial"/>
              </a:defRPr>
            </a:pPr>
            <a:r>
              <a:rPr sz="3300" b="1">
                <a:solidFill>
                  <a:srgbClr val="54D7FF"/>
                </a:solidFill>
                <a:latin typeface="Arial"/>
                <a:ea typeface="Arial"/>
                <a:cs typeface="Arial"/>
              </a:rPr>
              <a:t>План кросс-сервисной фичи</a:t>
            </a:r>
          </a:p>
        </p:txBody>
      </p:sp>
      <p:sp>
        <p:nvSpPr>
          <p:cNvPr id="14" name="Описание демо">
            <a:extLst xmlns:a="http://schemas.openxmlformats.org/drawingml/2006/main">
              <a:ext uri="{FF2B5EF4-FFF2-40B4-BE49-F238E27FC236}">
                <a16:creationId xmlns:a16="http://schemas.microsoft.com/office/drawing/2014/main" id="{DE2F5BBB-F279-4F09-87CE-AAAD3D92E8B5}"/>
              </a:ext>
            </a:extLst>
          </p:cNvPr>
          <p:cNvSpPr>
            <a:spLocks xmlns:a="http://schemas.openxmlformats.org/drawingml/2006/main" noGrp="1"/>
          </p:cNvSpPr>
          <p:nvPr/>
        </p:nvSpPr>
        <p:spPr>
          <a:xfrm xmlns:a="http://schemas.openxmlformats.org/drawingml/2006/main">
            <a:off x="1428750" y="5819775"/>
            <a:ext cx="80772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Сервисы · evidence · изменения · тесты · неизвестные</a:t>
            </a:r>
          </a:p>
        </p:txBody>
      </p:sp>
      <p:sp>
        <p:nvSpPr>
          <p:cNvPr id="15" name="Разделитель подсказки 0">
            <a:extLst xmlns:a="http://schemas.openxmlformats.org/drawingml/2006/main">
              <a:ext uri="{FF2B5EF4-FFF2-40B4-BE49-F238E27FC236}">
                <a16:creationId xmlns:a16="http://schemas.microsoft.com/office/drawing/2014/main" id="{9C78C8FC-FF06-4806-828C-8DD9BE0DFE06}"/>
              </a:ext>
            </a:extLst>
          </p:cNvPr>
          <p:cNvSpPr>
            <a:spLocks xmlns:a="http://schemas.openxmlformats.org/drawingml/2006/main" noGrp="1"/>
          </p:cNvSpPr>
          <p:nvPr/>
        </p:nvSpPr>
        <p:spPr>
          <a:xfrm xmlns:a="http://schemas.openxmlformats.org/drawingml/2006/main">
            <a:off x="10668000" y="313372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6" name="Подсказка 0">
            <a:extLst xmlns:a="http://schemas.openxmlformats.org/drawingml/2006/main">
              <a:ext uri="{FF2B5EF4-FFF2-40B4-BE49-F238E27FC236}">
                <a16:creationId xmlns:a16="http://schemas.microsoft.com/office/drawing/2014/main" id="{14E37F88-4F23-4EF1-A092-590DD2313F85}"/>
              </a:ext>
            </a:extLst>
          </p:cNvPr>
          <p:cNvSpPr>
            <a:spLocks xmlns:a="http://schemas.openxmlformats.org/drawingml/2006/main" noGrp="1"/>
          </p:cNvSpPr>
          <p:nvPr/>
        </p:nvSpPr>
        <p:spPr>
          <a:xfrm xmlns:a="http://schemas.openxmlformats.org/drawingml/2006/main">
            <a:off x="10668000" y="326707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Маршрут</a:t>
            </a:r>
          </a:p>
        </p:txBody>
      </p:sp>
      <p:sp>
        <p:nvSpPr>
          <p:cNvPr id="17" name="Детали подсказки 0">
            <a:extLst xmlns:a="http://schemas.openxmlformats.org/drawingml/2006/main">
              <a:ext uri="{FF2B5EF4-FFF2-40B4-BE49-F238E27FC236}">
                <a16:creationId xmlns:a16="http://schemas.microsoft.com/office/drawing/2014/main" id="{5468BC41-5219-4ED2-8FB3-7B3C67D6F339}"/>
              </a:ext>
            </a:extLst>
          </p:cNvPr>
          <p:cNvSpPr>
            <a:spLocks xmlns:a="http://schemas.openxmlformats.org/drawingml/2006/main" noGrp="1"/>
          </p:cNvSpPr>
          <p:nvPr/>
        </p:nvSpPr>
        <p:spPr>
          <a:xfrm xmlns:a="http://schemas.openxmlformats.org/drawingml/2006/main">
            <a:off x="10668000" y="365760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корневой и затронутые сервисы</a:t>
            </a:r>
          </a:p>
        </p:txBody>
      </p:sp>
      <p:sp>
        <p:nvSpPr>
          <p:cNvPr id="18" name="Разделитель подсказки 1">
            <a:extLst xmlns:a="http://schemas.openxmlformats.org/drawingml/2006/main">
              <a:ext uri="{FF2B5EF4-FFF2-40B4-BE49-F238E27FC236}">
                <a16:creationId xmlns:a16="http://schemas.microsoft.com/office/drawing/2014/main" id="{7BBD454C-5BBF-47BE-8441-29547F075058}"/>
              </a:ext>
            </a:extLst>
          </p:cNvPr>
          <p:cNvSpPr>
            <a:spLocks xmlns:a="http://schemas.openxmlformats.org/drawingml/2006/main" noGrp="1"/>
          </p:cNvSpPr>
          <p:nvPr/>
        </p:nvSpPr>
        <p:spPr>
          <a:xfrm xmlns:a="http://schemas.openxmlformats.org/drawingml/2006/main">
            <a:off x="10668000" y="418147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9" name="Подсказка 1">
            <a:extLst xmlns:a="http://schemas.openxmlformats.org/drawingml/2006/main">
              <a:ext uri="{FF2B5EF4-FFF2-40B4-BE49-F238E27FC236}">
                <a16:creationId xmlns:a16="http://schemas.microsoft.com/office/drawing/2014/main" id="{60DB464A-B2BC-4441-B0CD-616CF2ACDE85}"/>
              </a:ext>
            </a:extLst>
          </p:cNvPr>
          <p:cNvSpPr>
            <a:spLocks xmlns:a="http://schemas.openxmlformats.org/drawingml/2006/main" noGrp="1"/>
          </p:cNvSpPr>
          <p:nvPr/>
        </p:nvSpPr>
        <p:spPr>
          <a:xfrm xmlns:a="http://schemas.openxmlformats.org/drawingml/2006/main">
            <a:off x="10668000" y="431482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Evidence</a:t>
            </a:r>
          </a:p>
        </p:txBody>
      </p:sp>
      <p:sp>
        <p:nvSpPr>
          <p:cNvPr id="20" name="Детали подсказки 1">
            <a:extLst xmlns:a="http://schemas.openxmlformats.org/drawingml/2006/main">
              <a:ext uri="{FF2B5EF4-FFF2-40B4-BE49-F238E27FC236}">
                <a16:creationId xmlns:a16="http://schemas.microsoft.com/office/drawing/2014/main" id="{33494CA4-B04D-4AF8-8B5C-BF8D8440259A}"/>
              </a:ext>
            </a:extLst>
          </p:cNvPr>
          <p:cNvSpPr>
            <a:spLocks xmlns:a="http://schemas.openxmlformats.org/drawingml/2006/main" noGrp="1"/>
          </p:cNvSpPr>
          <p:nvPr/>
        </p:nvSpPr>
        <p:spPr>
          <a:xfrm xmlns:a="http://schemas.openxmlformats.org/drawingml/2006/main">
            <a:off x="10668000" y="470535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ссылки на документы, код и связи графа</a:t>
            </a:r>
          </a:p>
        </p:txBody>
      </p:sp>
      <p:sp>
        <p:nvSpPr>
          <p:cNvPr id="21" name="Разделитель подсказки 2">
            <a:extLst xmlns:a="http://schemas.openxmlformats.org/drawingml/2006/main">
              <a:ext uri="{FF2B5EF4-FFF2-40B4-BE49-F238E27FC236}">
                <a16:creationId xmlns:a16="http://schemas.microsoft.com/office/drawing/2014/main" id="{418CCDE6-A314-443F-8EB0-1C3746369179}"/>
              </a:ext>
            </a:extLst>
          </p:cNvPr>
          <p:cNvSpPr>
            <a:spLocks xmlns:a="http://schemas.openxmlformats.org/drawingml/2006/main" noGrp="1"/>
          </p:cNvSpPr>
          <p:nvPr/>
        </p:nvSpPr>
        <p:spPr>
          <a:xfrm xmlns:a="http://schemas.openxmlformats.org/drawingml/2006/main">
            <a:off x="10668000" y="522922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22" name="Подсказка 2">
            <a:extLst xmlns:a="http://schemas.openxmlformats.org/drawingml/2006/main">
              <a:ext uri="{FF2B5EF4-FFF2-40B4-BE49-F238E27FC236}">
                <a16:creationId xmlns:a16="http://schemas.microsoft.com/office/drawing/2014/main" id="{DE0896DA-3118-431D-8C21-48C01E2A00AC}"/>
              </a:ext>
            </a:extLst>
          </p:cNvPr>
          <p:cNvSpPr>
            <a:spLocks xmlns:a="http://schemas.openxmlformats.org/drawingml/2006/main" noGrp="1"/>
          </p:cNvSpPr>
          <p:nvPr/>
        </p:nvSpPr>
        <p:spPr>
          <a:xfrm xmlns:a="http://schemas.openxmlformats.org/drawingml/2006/main">
            <a:off x="10668000" y="536257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Изменения</a:t>
            </a:r>
          </a:p>
        </p:txBody>
      </p:sp>
      <p:sp>
        <p:nvSpPr>
          <p:cNvPr id="23" name="Детали подсказки 2">
            <a:extLst xmlns:a="http://schemas.openxmlformats.org/drawingml/2006/main">
              <a:ext uri="{FF2B5EF4-FFF2-40B4-BE49-F238E27FC236}">
                <a16:creationId xmlns:a16="http://schemas.microsoft.com/office/drawing/2014/main" id="{0C5A81FD-F53A-4E25-87DA-FC9545E7511F}"/>
              </a:ext>
            </a:extLst>
          </p:cNvPr>
          <p:cNvSpPr>
            <a:spLocks xmlns:a="http://schemas.openxmlformats.org/drawingml/2006/main" noGrp="1"/>
          </p:cNvSpPr>
          <p:nvPr/>
        </p:nvSpPr>
        <p:spPr>
          <a:xfrm xmlns:a="http://schemas.openxmlformats.org/drawingml/2006/main">
            <a:off x="10668000" y="575310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контракты, данные, тесты и rollout</a:t>
            </a:r>
          </a:p>
        </p:txBody>
      </p:sp>
      <p:sp>
        <p:nvSpPr>
          <p:cNvPr id="24" name="Разделитель подсказки 3">
            <a:extLst xmlns:a="http://schemas.openxmlformats.org/drawingml/2006/main">
              <a:ext uri="{FF2B5EF4-FFF2-40B4-BE49-F238E27FC236}">
                <a16:creationId xmlns:a16="http://schemas.microsoft.com/office/drawing/2014/main" id="{E0A6D969-93CD-47CA-8B63-C5931871682D}"/>
              </a:ext>
            </a:extLst>
          </p:cNvPr>
          <p:cNvSpPr>
            <a:spLocks xmlns:a="http://schemas.openxmlformats.org/drawingml/2006/main" noGrp="1"/>
          </p:cNvSpPr>
          <p:nvPr/>
        </p:nvSpPr>
        <p:spPr>
          <a:xfrm xmlns:a="http://schemas.openxmlformats.org/drawingml/2006/main">
            <a:off x="10668000" y="627697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25" name="Подсказка 3">
            <a:extLst xmlns:a="http://schemas.openxmlformats.org/drawingml/2006/main">
              <a:ext uri="{FF2B5EF4-FFF2-40B4-BE49-F238E27FC236}">
                <a16:creationId xmlns:a16="http://schemas.microsoft.com/office/drawing/2014/main" id="{9C9A7629-100C-4253-AE57-B54B77BE0923}"/>
              </a:ext>
            </a:extLst>
          </p:cNvPr>
          <p:cNvSpPr>
            <a:spLocks xmlns:a="http://schemas.openxmlformats.org/drawingml/2006/main" noGrp="1"/>
          </p:cNvSpPr>
          <p:nvPr/>
        </p:nvSpPr>
        <p:spPr>
          <a:xfrm xmlns:a="http://schemas.openxmlformats.org/drawingml/2006/main">
            <a:off x="10668000" y="641032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Unknowns</a:t>
            </a:r>
          </a:p>
        </p:txBody>
      </p:sp>
      <p:sp>
        <p:nvSpPr>
          <p:cNvPr id="26" name="Детали подсказки 3">
            <a:extLst xmlns:a="http://schemas.openxmlformats.org/drawingml/2006/main">
              <a:ext uri="{FF2B5EF4-FFF2-40B4-BE49-F238E27FC236}">
                <a16:creationId xmlns:a16="http://schemas.microsoft.com/office/drawing/2014/main" id="{51EF88D9-4A95-4B11-BCAF-6BE7BFEA0864}"/>
              </a:ext>
            </a:extLst>
          </p:cNvPr>
          <p:cNvSpPr>
            <a:spLocks xmlns:a="http://schemas.openxmlformats.org/drawingml/2006/main" noGrp="1"/>
          </p:cNvSpPr>
          <p:nvPr/>
        </p:nvSpPr>
        <p:spPr>
          <a:xfrm xmlns:a="http://schemas.openxmlformats.org/drawingml/2006/main">
            <a:off x="10668000" y="680085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что ещё нельзя считать подтверждённым</a:t>
            </a:r>
          </a:p>
        </p:txBody>
      </p:sp>
    </p:spTree>
    <p:extLst>
      <p:ext uri="{BB962C8B-B14F-4D97-AF65-F5344CB8AC3E}">
        <p14:creationId xmlns:p14="http://schemas.microsoft.com/office/powerpoint/2010/main" val="256672073"/>
      </p:ext>
    </p:extLst>
  </p:cSld>
</p:sld>
</file>

<file path=ppt/slides/slide24.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33" name="Рамка слайда">
            <a:extLst xmlns:a="http://schemas.openxmlformats.org/drawingml/2006/main">
              <a:ext uri="{FF2B5EF4-FFF2-40B4-BE49-F238E27FC236}">
                <a16:creationId xmlns:a16="http://schemas.microsoft.com/office/drawing/2014/main" id="{A8BD162C-A183-4684-9AE1-C49CA9000E84}"/>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8FB5D811-88DB-4499-9109-BFC59730102F}"/>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51BA3A25-84C4-456C-8CDB-70F56533A759}"/>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9A18B29D-EC57-4D12-9CB8-88311C057462}"/>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24 / 27</a:t>
            </a:r>
          </a:p>
        </p:txBody>
      </p:sp>
      <p:sp>
        <p:nvSpPr>
          <p:cNvPr id="5" name="Надзаголовок">
            <a:extLst xmlns:a="http://schemas.openxmlformats.org/drawingml/2006/main">
              <a:ext uri="{FF2B5EF4-FFF2-40B4-BE49-F238E27FC236}">
                <a16:creationId xmlns:a16="http://schemas.microsoft.com/office/drawing/2014/main" id="{F2CCF840-592B-4FAA-9C1D-2BFF80B357A7}"/>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ПУБЛИКАЦИЯ ЗАДАЧ В JIRA</a:t>
            </a:r>
          </a:p>
        </p:txBody>
      </p:sp>
      <p:sp>
        <p:nvSpPr>
          <p:cNvPr id="6" name="Заголовок">
            <a:extLst xmlns:a="http://schemas.openxmlformats.org/drawingml/2006/main">
              <a:ext uri="{FF2B5EF4-FFF2-40B4-BE49-F238E27FC236}">
                <a16:creationId xmlns:a16="http://schemas.microsoft.com/office/drawing/2014/main" id="{4605607A-FA1A-4803-A6F3-615D78370F94}"/>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Создание задач Jira</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BD73"/>
                </a:solidFill>
                <a:latin typeface="Arial"/>
                <a:ea typeface="Arial"/>
                <a:cs typeface="Arial"/>
              </a:rPr>
              <a:t>на основе согласованного плана</a:t>
            </a:r>
          </a:p>
        </p:txBody>
      </p:sp>
      <p:sp>
        <p:nvSpPr>
          <p:cNvPr id="7" name="Редактируемая область для скриншота">
            <a:extLst xmlns:a="http://schemas.openxmlformats.org/drawingml/2006/main">
              <a:ext uri="{FF2B5EF4-FFF2-40B4-BE49-F238E27FC236}">
                <a16:creationId xmlns:a16="http://schemas.microsoft.com/office/drawing/2014/main" id="{202381C3-8A09-4DEC-9711-354C4B0AF6A3}"/>
              </a:ext>
            </a:extLst>
          </p:cNvPr>
          <p:cNvSpPr>
            <a:spLocks xmlns:a="http://schemas.openxmlformats.org/drawingml/2006/main" noGrp="1"/>
          </p:cNvSpPr>
          <p:nvPr/>
        </p:nvSpPr>
        <p:spPr>
          <a:xfrm xmlns:a="http://schemas.openxmlformats.org/drawingml/2006/main">
            <a:off x="762000" y="3133725"/>
            <a:ext cx="9410700" cy="3028950"/>
          </a:xfrm>
          <a:prstGeom xmlns:a="http://schemas.openxmlformats.org/drawingml/2006/main" prst="roundRect">
            <a:avLst>
              <a:gd name="adj" fmla="val 6289"/>
            </a:avLst>
          </a:prstGeom>
          <a:solidFill xmlns:a="http://schemas.openxmlformats.org/drawingml/2006/main">
            <a:srgbClr val="0D1B2C"/>
          </a:solidFill>
          <a:ln xmlns:a="http://schemas.openxmlformats.org/drawingml/2006/main" w="14288">
            <a:solidFill>
              <a:srgbClr val="28425A"/>
            </a:solidFill>
            <a:prstDash val="solid"/>
          </a:ln>
        </p:spPr>
      </p:sp>
      <p:sp>
        <p:nvSpPr>
          <p:cNvPr id="8" name="Линия окна">
            <a:extLst xmlns:a="http://schemas.openxmlformats.org/drawingml/2006/main">
              <a:ext uri="{FF2B5EF4-FFF2-40B4-BE49-F238E27FC236}">
                <a16:creationId xmlns:a16="http://schemas.microsoft.com/office/drawing/2014/main" id="{244770DF-706A-4755-9BA1-D2883181E612}"/>
              </a:ext>
            </a:extLst>
          </p:cNvPr>
          <p:cNvSpPr>
            <a:spLocks xmlns:a="http://schemas.openxmlformats.org/drawingml/2006/main" noGrp="1"/>
          </p:cNvSpPr>
          <p:nvPr/>
        </p:nvSpPr>
        <p:spPr>
          <a:xfrm xmlns:a="http://schemas.openxmlformats.org/drawingml/2006/main">
            <a:off x="762000" y="3638550"/>
            <a:ext cx="9410700" cy="9525"/>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9" name="Индикатор окна 0">
            <a:extLst xmlns:a="http://schemas.openxmlformats.org/drawingml/2006/main">
              <a:ext uri="{FF2B5EF4-FFF2-40B4-BE49-F238E27FC236}">
                <a16:creationId xmlns:a16="http://schemas.microsoft.com/office/drawing/2014/main" id="{51821BE8-79A3-4557-B1C4-07BBEE68D24E}"/>
              </a:ext>
            </a:extLst>
          </p:cNvPr>
          <p:cNvSpPr>
            <a:spLocks xmlns:a="http://schemas.openxmlformats.org/drawingml/2006/main" noGrp="1"/>
          </p:cNvSpPr>
          <p:nvPr/>
        </p:nvSpPr>
        <p:spPr>
          <a:xfrm xmlns:a="http://schemas.openxmlformats.org/drawingml/2006/main">
            <a:off x="990600" y="3352800"/>
            <a:ext cx="76200" cy="76200"/>
          </a:xfrm>
          <a:prstGeom xmlns:a="http://schemas.openxmlformats.org/drawingml/2006/main" prst="ellipse">
            <a:avLst/>
          </a:prstGeom>
          <a:solidFill xmlns:a="http://schemas.openxmlformats.org/drawingml/2006/main">
            <a:srgbClr val="54D7FF"/>
          </a:solidFill>
          <a:ln xmlns:a="http://schemas.openxmlformats.org/drawingml/2006/main" w="0">
            <a:noFill/>
            <a:prstDash val="solid"/>
          </a:ln>
        </p:spPr>
      </p:sp>
      <p:sp>
        <p:nvSpPr>
          <p:cNvPr id="10" name="Индикатор окна 1">
            <a:extLst xmlns:a="http://schemas.openxmlformats.org/drawingml/2006/main">
              <a:ext uri="{FF2B5EF4-FFF2-40B4-BE49-F238E27FC236}">
                <a16:creationId xmlns:a16="http://schemas.microsoft.com/office/drawing/2014/main" id="{BF3F1E45-835F-4C0B-B5D0-D475FFC1D0E6}"/>
              </a:ext>
            </a:extLst>
          </p:cNvPr>
          <p:cNvSpPr>
            <a:spLocks xmlns:a="http://schemas.openxmlformats.org/drawingml/2006/main" noGrp="1"/>
          </p:cNvSpPr>
          <p:nvPr/>
        </p:nvSpPr>
        <p:spPr>
          <a:xfrm xmlns:a="http://schemas.openxmlformats.org/drawingml/2006/main">
            <a:off x="1162050" y="3352800"/>
            <a:ext cx="76200" cy="76200"/>
          </a:xfrm>
          <a:prstGeom xmlns:a="http://schemas.openxmlformats.org/drawingml/2006/main" prst="ellipse">
            <a:avLst/>
          </a:prstGeom>
          <a:solidFill xmlns:a="http://schemas.openxmlformats.org/drawingml/2006/main">
            <a:srgbClr val="AF98FF"/>
          </a:solidFill>
          <a:ln xmlns:a="http://schemas.openxmlformats.org/drawingml/2006/main" w="0">
            <a:noFill/>
            <a:prstDash val="solid"/>
          </a:ln>
        </p:spPr>
      </p:sp>
      <p:sp>
        <p:nvSpPr>
          <p:cNvPr id="11" name="Индикатор окна 2">
            <a:extLst xmlns:a="http://schemas.openxmlformats.org/drawingml/2006/main">
              <a:ext uri="{FF2B5EF4-FFF2-40B4-BE49-F238E27FC236}">
                <a16:creationId xmlns:a16="http://schemas.microsoft.com/office/drawing/2014/main" id="{1FA933AE-54E4-451B-9D5D-DBD4307646BF}"/>
              </a:ext>
            </a:extLst>
          </p:cNvPr>
          <p:cNvSpPr>
            <a:spLocks xmlns:a="http://schemas.openxmlformats.org/drawingml/2006/main" noGrp="1"/>
          </p:cNvSpPr>
          <p:nvPr/>
        </p:nvSpPr>
        <p:spPr>
          <a:xfrm xmlns:a="http://schemas.openxmlformats.org/drawingml/2006/main">
            <a:off x="1333500" y="3352800"/>
            <a:ext cx="76200" cy="76200"/>
          </a:xfrm>
          <a:prstGeom xmlns:a="http://schemas.openxmlformats.org/drawingml/2006/main" prst="ellipse">
            <a:avLst/>
          </a:prstGeom>
          <a:solidFill xmlns:a="http://schemas.openxmlformats.org/drawingml/2006/main">
            <a:srgbClr val="5CE3A0"/>
          </a:solidFill>
          <a:ln xmlns:a="http://schemas.openxmlformats.org/drawingml/2006/main" w="0">
            <a:noFill/>
            <a:prstDash val="solid"/>
          </a:ln>
        </p:spPr>
      </p:sp>
      <p:sp>
        <p:nvSpPr>
          <p:cNvPr id="12" name="Заголовок окна">
            <a:extLst xmlns:a="http://schemas.openxmlformats.org/drawingml/2006/main">
              <a:ext uri="{FF2B5EF4-FFF2-40B4-BE49-F238E27FC236}">
                <a16:creationId xmlns:a16="http://schemas.microsoft.com/office/drawing/2014/main" id="{60001B54-9084-4B42-A366-5DD4E5ED9A67}"/>
              </a:ext>
            </a:extLst>
          </p:cNvPr>
          <p:cNvSpPr>
            <a:spLocks xmlns:a="http://schemas.openxmlformats.org/drawingml/2006/main" noGrp="1"/>
          </p:cNvSpPr>
          <p:nvPr/>
        </p:nvSpPr>
        <p:spPr>
          <a:xfrm xmlns:a="http://schemas.openxmlformats.org/drawingml/2006/main">
            <a:off x="1724025" y="3267075"/>
            <a:ext cx="8153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575" b="0">
                <a:solidFill>
                  <a:srgbClr val="A4B8C9"/>
                </a:solidFill>
                <a:latin typeface="Arial"/>
                <a:ea typeface="Arial"/>
                <a:cs typeface="Arial"/>
              </a:defRPr>
            </a:pPr>
            <a:r>
              <a:rPr sz="1575" b="0">
                <a:solidFill>
                  <a:srgbClr val="A4B8C9"/>
                </a:solidFill>
                <a:latin typeface="Arial"/>
                <a:ea typeface="Arial"/>
                <a:cs typeface="Arial"/>
              </a:rPr>
              <a:t>GigaCode · Jira publication</a:t>
            </a:r>
          </a:p>
        </p:txBody>
      </p:sp>
      <p:sp>
        <p:nvSpPr>
          <p:cNvPr id="13" name="Содержимое демо">
            <a:extLst xmlns:a="http://schemas.openxmlformats.org/drawingml/2006/main">
              <a:ext uri="{FF2B5EF4-FFF2-40B4-BE49-F238E27FC236}">
                <a16:creationId xmlns:a16="http://schemas.microsoft.com/office/drawing/2014/main" id="{A5895E31-450A-41E7-8FD1-F12848FC501C}"/>
              </a:ext>
            </a:extLst>
          </p:cNvPr>
          <p:cNvSpPr>
            <a:spLocks xmlns:a="http://schemas.openxmlformats.org/drawingml/2006/main" noGrp="1"/>
          </p:cNvSpPr>
          <p:nvPr/>
        </p:nvSpPr>
        <p:spPr>
          <a:xfrm xmlns:a="http://schemas.openxmlformats.org/drawingml/2006/main">
            <a:off x="1095375" y="4105275"/>
            <a:ext cx="87439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2700" b="1">
                <a:solidFill>
                  <a:srgbClr val="FFBD73"/>
                </a:solidFill>
                <a:latin typeface="Arial"/>
                <a:ea typeface="Arial"/>
                <a:cs typeface="Arial"/>
              </a:defRPr>
            </a:pPr>
            <a:r>
              <a:rPr sz="2700" b="1">
                <a:solidFill>
                  <a:srgbClr val="FFBD73"/>
                </a:solidFill>
                <a:latin typeface="Arial"/>
                <a:ea typeface="Arial"/>
                <a:cs typeface="Arial"/>
              </a:rPr>
              <a:t>Предпросмотр → выбор проекта → Task</a:t>
            </a:r>
          </a:p>
        </p:txBody>
      </p:sp>
      <p:sp>
        <p:nvSpPr>
          <p:cNvPr id="14" name="Описание демо">
            <a:extLst xmlns:a="http://schemas.openxmlformats.org/drawingml/2006/main">
              <a:ext uri="{FF2B5EF4-FFF2-40B4-BE49-F238E27FC236}">
                <a16:creationId xmlns:a16="http://schemas.microsoft.com/office/drawing/2014/main" id="{010216AD-4B12-4EFD-993D-0113FB2B9FB8}"/>
              </a:ext>
            </a:extLst>
          </p:cNvPr>
          <p:cNvSpPr>
            <a:spLocks xmlns:a="http://schemas.openxmlformats.org/drawingml/2006/main" noGrp="1"/>
          </p:cNvSpPr>
          <p:nvPr/>
        </p:nvSpPr>
        <p:spPr>
          <a:xfrm xmlns:a="http://schemas.openxmlformats.org/drawingml/2006/main">
            <a:off x="1428750" y="5048250"/>
            <a:ext cx="80772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spcBef>
                <a:spcPts val="0"/>
              </a:spcBef>
              <a:spcAft>
                <a:spcPts val="0"/>
              </a:spcAft>
              <a:buNone/>
              <a:defRPr sz="1875" b="0">
                <a:solidFill>
                  <a:srgbClr val="A4B8C9"/>
                </a:solidFill>
                <a:latin typeface="Arial"/>
                <a:ea typeface="Arial"/>
                <a:cs typeface="Arial"/>
              </a:defRPr>
            </a:pPr>
            <a:r>
              <a:rPr sz="1875" b="0">
                <a:solidFill>
                  <a:srgbClr val="A4B8C9"/>
                </a:solidFill>
                <a:latin typeface="Arial"/>
                <a:ea typeface="Arial"/>
                <a:cs typeface="Arial"/>
              </a:rPr>
              <a:t>Черновики по сервисам · явное подтверждение · созданные ключи задач</a:t>
            </a:r>
          </a:p>
        </p:txBody>
      </p:sp>
      <p:sp>
        <p:nvSpPr>
          <p:cNvPr id="15" name="Разделитель подсказки 0">
            <a:extLst xmlns:a="http://schemas.openxmlformats.org/drawingml/2006/main">
              <a:ext uri="{FF2B5EF4-FFF2-40B4-BE49-F238E27FC236}">
                <a16:creationId xmlns:a16="http://schemas.microsoft.com/office/drawing/2014/main" id="{88BEB5A8-1102-46B5-B6F3-F8E2943B8EAF}"/>
              </a:ext>
            </a:extLst>
          </p:cNvPr>
          <p:cNvSpPr>
            <a:spLocks xmlns:a="http://schemas.openxmlformats.org/drawingml/2006/main" noGrp="1"/>
          </p:cNvSpPr>
          <p:nvPr/>
        </p:nvSpPr>
        <p:spPr>
          <a:xfrm xmlns:a="http://schemas.openxmlformats.org/drawingml/2006/main">
            <a:off x="10668000" y="313372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6" name="Подсказка 0">
            <a:extLst xmlns:a="http://schemas.openxmlformats.org/drawingml/2006/main">
              <a:ext uri="{FF2B5EF4-FFF2-40B4-BE49-F238E27FC236}">
                <a16:creationId xmlns:a16="http://schemas.microsoft.com/office/drawing/2014/main" id="{BE1D2B28-07D5-4078-A4DA-CEAD78C0D669}"/>
              </a:ext>
            </a:extLst>
          </p:cNvPr>
          <p:cNvSpPr>
            <a:spLocks xmlns:a="http://schemas.openxmlformats.org/drawingml/2006/main" noGrp="1"/>
          </p:cNvSpPr>
          <p:nvPr/>
        </p:nvSpPr>
        <p:spPr>
          <a:xfrm xmlns:a="http://schemas.openxmlformats.org/drawingml/2006/main">
            <a:off x="10668000" y="326707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Сначала preview</a:t>
            </a:r>
          </a:p>
        </p:txBody>
      </p:sp>
      <p:sp>
        <p:nvSpPr>
          <p:cNvPr id="17" name="Детали подсказки 0">
            <a:extLst xmlns:a="http://schemas.openxmlformats.org/drawingml/2006/main">
              <a:ext uri="{FF2B5EF4-FFF2-40B4-BE49-F238E27FC236}">
                <a16:creationId xmlns:a16="http://schemas.microsoft.com/office/drawing/2014/main" id="{79EA91E4-BFC4-4BB6-A26C-C1E106E13571}"/>
              </a:ext>
            </a:extLst>
          </p:cNvPr>
          <p:cNvSpPr>
            <a:spLocks xmlns:a="http://schemas.openxmlformats.org/drawingml/2006/main" noGrp="1"/>
          </p:cNvSpPr>
          <p:nvPr/>
        </p:nvSpPr>
        <p:spPr>
          <a:xfrm xmlns:a="http://schemas.openxmlformats.org/drawingml/2006/main">
            <a:off x="10668000" y="365760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до выбора проекта Jira не изменяется</a:t>
            </a:r>
          </a:p>
        </p:txBody>
      </p:sp>
      <p:sp>
        <p:nvSpPr>
          <p:cNvPr id="18" name="Разделитель подсказки 1">
            <a:extLst xmlns:a="http://schemas.openxmlformats.org/drawingml/2006/main">
              <a:ext uri="{FF2B5EF4-FFF2-40B4-BE49-F238E27FC236}">
                <a16:creationId xmlns:a16="http://schemas.microsoft.com/office/drawing/2014/main" id="{010A7427-A684-447A-A125-6000A47C9249}"/>
              </a:ext>
            </a:extLst>
          </p:cNvPr>
          <p:cNvSpPr>
            <a:spLocks xmlns:a="http://schemas.openxmlformats.org/drawingml/2006/main" noGrp="1"/>
          </p:cNvSpPr>
          <p:nvPr/>
        </p:nvSpPr>
        <p:spPr>
          <a:xfrm xmlns:a="http://schemas.openxmlformats.org/drawingml/2006/main">
            <a:off x="10668000" y="418147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19" name="Подсказка 1">
            <a:extLst xmlns:a="http://schemas.openxmlformats.org/drawingml/2006/main">
              <a:ext uri="{FF2B5EF4-FFF2-40B4-BE49-F238E27FC236}">
                <a16:creationId xmlns:a16="http://schemas.microsoft.com/office/drawing/2014/main" id="{7BFF9A46-0372-4C18-934D-2BF8C80B12A1}"/>
              </a:ext>
            </a:extLst>
          </p:cNvPr>
          <p:cNvSpPr>
            <a:spLocks xmlns:a="http://schemas.openxmlformats.org/drawingml/2006/main" noGrp="1"/>
          </p:cNvSpPr>
          <p:nvPr/>
        </p:nvSpPr>
        <p:spPr>
          <a:xfrm xmlns:a="http://schemas.openxmlformats.org/drawingml/2006/main">
            <a:off x="10668000" y="431482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Явное подтверждение</a:t>
            </a:r>
          </a:p>
        </p:txBody>
      </p:sp>
      <p:sp>
        <p:nvSpPr>
          <p:cNvPr id="20" name="Детали подсказки 1">
            <a:extLst xmlns:a="http://schemas.openxmlformats.org/drawingml/2006/main">
              <a:ext uri="{FF2B5EF4-FFF2-40B4-BE49-F238E27FC236}">
                <a16:creationId xmlns:a16="http://schemas.microsoft.com/office/drawing/2014/main" id="{E14DCCD0-F7B7-4CD3-B1DE-11C4CFB8B9EF}"/>
              </a:ext>
            </a:extLst>
          </p:cNvPr>
          <p:cNvSpPr>
            <a:spLocks xmlns:a="http://schemas.openxmlformats.org/drawingml/2006/main" noGrp="1"/>
          </p:cNvSpPr>
          <p:nvPr/>
        </p:nvSpPr>
        <p:spPr>
          <a:xfrm xmlns:a="http://schemas.openxmlformats.org/drawingml/2006/main">
            <a:off x="10668000" y="470535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пользователь выбирает один доступный проект</a:t>
            </a:r>
          </a:p>
        </p:txBody>
      </p:sp>
      <p:sp>
        <p:nvSpPr>
          <p:cNvPr id="21" name="Разделитель подсказки 2">
            <a:extLst xmlns:a="http://schemas.openxmlformats.org/drawingml/2006/main">
              <a:ext uri="{FF2B5EF4-FFF2-40B4-BE49-F238E27FC236}">
                <a16:creationId xmlns:a16="http://schemas.microsoft.com/office/drawing/2014/main" id="{A6F7805F-6F9B-4453-929F-1932F079ECB6}"/>
              </a:ext>
            </a:extLst>
          </p:cNvPr>
          <p:cNvSpPr>
            <a:spLocks xmlns:a="http://schemas.openxmlformats.org/drawingml/2006/main" noGrp="1"/>
          </p:cNvSpPr>
          <p:nvPr/>
        </p:nvSpPr>
        <p:spPr>
          <a:xfrm xmlns:a="http://schemas.openxmlformats.org/drawingml/2006/main">
            <a:off x="10668000" y="5229225"/>
            <a:ext cx="3810000" cy="19050"/>
          </a:xfrm>
          <a:prstGeom xmlns:a="http://schemas.openxmlformats.org/drawingml/2006/main" prst="rect">
            <a:avLst/>
          </a:prstGeom>
          <a:solidFill xmlns:a="http://schemas.openxmlformats.org/drawingml/2006/main">
            <a:srgbClr val="28425A"/>
          </a:solidFill>
          <a:ln xmlns:a="http://schemas.openxmlformats.org/drawingml/2006/main" w="0">
            <a:noFill/>
            <a:prstDash val="solid"/>
          </a:ln>
        </p:spPr>
      </p:sp>
      <p:sp>
        <p:nvSpPr>
          <p:cNvPr id="22" name="Подсказка 2">
            <a:extLst xmlns:a="http://schemas.openxmlformats.org/drawingml/2006/main">
              <a:ext uri="{FF2B5EF4-FFF2-40B4-BE49-F238E27FC236}">
                <a16:creationId xmlns:a16="http://schemas.microsoft.com/office/drawing/2014/main" id="{F4153880-30F0-4990-9703-2D86602D169E}"/>
              </a:ext>
            </a:extLst>
          </p:cNvPr>
          <p:cNvSpPr>
            <a:spLocks xmlns:a="http://schemas.openxmlformats.org/drawingml/2006/main" noGrp="1"/>
          </p:cNvSpPr>
          <p:nvPr/>
        </p:nvSpPr>
        <p:spPr>
          <a:xfrm xmlns:a="http://schemas.openxmlformats.org/drawingml/2006/main">
            <a:off x="10668000" y="536257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025" b="1">
                <a:solidFill>
                  <a:srgbClr val="F4F8FB"/>
                </a:solidFill>
                <a:latin typeface="Arial"/>
                <a:ea typeface="Arial"/>
                <a:cs typeface="Arial"/>
              </a:defRPr>
            </a:pPr>
            <a:r>
              <a:rPr sz="2025" b="1">
                <a:solidFill>
                  <a:srgbClr val="F4F8FB"/>
                </a:solidFill>
                <a:latin typeface="Arial"/>
                <a:ea typeface="Arial"/>
                <a:cs typeface="Arial"/>
              </a:rPr>
              <a:t>Проверка результата</a:t>
            </a:r>
          </a:p>
        </p:txBody>
      </p:sp>
      <p:sp>
        <p:nvSpPr>
          <p:cNvPr id="23" name="Детали подсказки 2">
            <a:extLst xmlns:a="http://schemas.openxmlformats.org/drawingml/2006/main">
              <a:ext uri="{FF2B5EF4-FFF2-40B4-BE49-F238E27FC236}">
                <a16:creationId xmlns:a16="http://schemas.microsoft.com/office/drawing/2014/main" id="{0BA28E54-8FBF-47D2-93D1-269DF1922349}"/>
              </a:ext>
            </a:extLst>
          </p:cNvPr>
          <p:cNvSpPr>
            <a:spLocks xmlns:a="http://schemas.openxmlformats.org/drawingml/2006/main" noGrp="1"/>
          </p:cNvSpPr>
          <p:nvPr/>
        </p:nvSpPr>
        <p:spPr>
          <a:xfrm xmlns:a="http://schemas.openxmlformats.org/drawingml/2006/main">
            <a:off x="10668000" y="5753100"/>
            <a:ext cx="3810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650" b="0">
                <a:solidFill>
                  <a:srgbClr val="A4B8C9"/>
                </a:solidFill>
                <a:latin typeface="Arial"/>
                <a:ea typeface="Arial"/>
                <a:cs typeface="Arial"/>
              </a:defRPr>
            </a:pPr>
            <a:r>
              <a:rPr sz="1650" b="0">
                <a:solidFill>
                  <a:srgbClr val="A4B8C9"/>
                </a:solidFill>
                <a:latin typeface="Arial"/>
                <a:ea typeface="Arial"/>
                <a:cs typeface="Arial"/>
              </a:rPr>
              <a:t>созданная задача читается обратно</a:t>
            </a:r>
          </a:p>
        </p:txBody>
      </p:sp>
      <p:sp>
        <p:nvSpPr>
          <p:cNvPr id="24" name="Акцент правила Jira 0">
            <a:extLst xmlns:a="http://schemas.openxmlformats.org/drawingml/2006/main">
              <a:ext uri="{FF2B5EF4-FFF2-40B4-BE49-F238E27FC236}">
                <a16:creationId xmlns:a16="http://schemas.microsoft.com/office/drawing/2014/main" id="{13DCBD10-1728-476A-A8EB-604AF156DA21}"/>
              </a:ext>
            </a:extLst>
          </p:cNvPr>
          <p:cNvSpPr>
            <a:spLocks xmlns:a="http://schemas.openxmlformats.org/drawingml/2006/main" noGrp="1"/>
          </p:cNvSpPr>
          <p:nvPr/>
        </p:nvSpPr>
        <p:spPr>
          <a:xfrm xmlns:a="http://schemas.openxmlformats.org/drawingml/2006/main">
            <a:off x="762000" y="6334125"/>
            <a:ext cx="43815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5" name="Правило Jira 0">
            <a:extLst xmlns:a="http://schemas.openxmlformats.org/drawingml/2006/main">
              <a:ext uri="{FF2B5EF4-FFF2-40B4-BE49-F238E27FC236}">
                <a16:creationId xmlns:a16="http://schemas.microsoft.com/office/drawing/2014/main" id="{B61CFBFB-E8E9-4395-9DA2-0A0BAC3FEB45}"/>
              </a:ext>
            </a:extLst>
          </p:cNvPr>
          <p:cNvSpPr>
            <a:spLocks xmlns:a="http://schemas.openxmlformats.org/drawingml/2006/main" noGrp="1"/>
          </p:cNvSpPr>
          <p:nvPr/>
        </p:nvSpPr>
        <p:spPr>
          <a:xfrm xmlns:a="http://schemas.openxmlformats.org/drawingml/2006/main">
            <a:off x="762000" y="65627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325" b="1">
                <a:solidFill>
                  <a:srgbClr val="FFBD73"/>
                </a:solidFill>
                <a:latin typeface="Arial"/>
                <a:ea typeface="Arial"/>
                <a:cs typeface="Arial"/>
              </a:defRPr>
            </a:pPr>
            <a:r>
              <a:rPr sz="2325" b="1">
                <a:solidFill>
                  <a:srgbClr val="FFBD73"/>
                </a:solidFill>
                <a:latin typeface="Arial"/>
                <a:ea typeface="Arial"/>
                <a:cs typeface="Arial"/>
              </a:rPr>
              <a:t>1 проект</a:t>
            </a:r>
          </a:p>
        </p:txBody>
      </p:sp>
      <p:sp>
        <p:nvSpPr>
          <p:cNvPr id="26" name="Описание правила Jira 0">
            <a:extLst xmlns:a="http://schemas.openxmlformats.org/drawingml/2006/main">
              <a:ext uri="{FF2B5EF4-FFF2-40B4-BE49-F238E27FC236}">
                <a16:creationId xmlns:a16="http://schemas.microsoft.com/office/drawing/2014/main" id="{025B2D31-9320-44DA-A092-F04C9ED1A82E}"/>
              </a:ext>
            </a:extLst>
          </p:cNvPr>
          <p:cNvSpPr>
            <a:spLocks xmlns:a="http://schemas.openxmlformats.org/drawingml/2006/main" noGrp="1"/>
          </p:cNvSpPr>
          <p:nvPr/>
        </p:nvSpPr>
        <p:spPr>
          <a:xfrm xmlns:a="http://schemas.openxmlformats.org/drawingml/2006/main">
            <a:off x="762000" y="7096125"/>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один выбранный пользователем Jira-проект</a:t>
            </a:r>
          </a:p>
        </p:txBody>
      </p:sp>
      <p:sp>
        <p:nvSpPr>
          <p:cNvPr id="27" name="Акцент правила Jira 1">
            <a:extLst xmlns:a="http://schemas.openxmlformats.org/drawingml/2006/main">
              <a:ext uri="{FF2B5EF4-FFF2-40B4-BE49-F238E27FC236}">
                <a16:creationId xmlns:a16="http://schemas.microsoft.com/office/drawing/2014/main" id="{44CEC7A1-6401-44E5-9F52-24522D941541}"/>
              </a:ext>
            </a:extLst>
          </p:cNvPr>
          <p:cNvSpPr>
            <a:spLocks xmlns:a="http://schemas.openxmlformats.org/drawingml/2006/main" noGrp="1"/>
          </p:cNvSpPr>
          <p:nvPr/>
        </p:nvSpPr>
        <p:spPr>
          <a:xfrm xmlns:a="http://schemas.openxmlformats.org/drawingml/2006/main">
            <a:off x="5429250" y="6334125"/>
            <a:ext cx="43815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28" name="Правило Jira 1">
            <a:extLst xmlns:a="http://schemas.openxmlformats.org/drawingml/2006/main">
              <a:ext uri="{FF2B5EF4-FFF2-40B4-BE49-F238E27FC236}">
                <a16:creationId xmlns:a16="http://schemas.microsoft.com/office/drawing/2014/main" id="{28604B00-B8C4-4E36-A094-0B086C40841B}"/>
              </a:ext>
            </a:extLst>
          </p:cNvPr>
          <p:cNvSpPr>
            <a:spLocks xmlns:a="http://schemas.openxmlformats.org/drawingml/2006/main" noGrp="1"/>
          </p:cNvSpPr>
          <p:nvPr/>
        </p:nvSpPr>
        <p:spPr>
          <a:xfrm xmlns:a="http://schemas.openxmlformats.org/drawingml/2006/main">
            <a:off x="5429250" y="65627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325" b="1">
                <a:solidFill>
                  <a:srgbClr val="FFBD73"/>
                </a:solidFill>
                <a:latin typeface="Arial"/>
                <a:ea typeface="Arial"/>
                <a:cs typeface="Arial"/>
              </a:defRPr>
            </a:pPr>
            <a:r>
              <a:rPr sz="2325" b="1">
                <a:solidFill>
                  <a:srgbClr val="FFBD73"/>
                </a:solidFill>
                <a:latin typeface="Arial"/>
                <a:ea typeface="Arial"/>
                <a:cs typeface="Arial"/>
              </a:rPr>
              <a:t>1 сервис = 1 Task</a:t>
            </a:r>
          </a:p>
        </p:txBody>
      </p:sp>
      <p:sp>
        <p:nvSpPr>
          <p:cNvPr id="29" name="Описание правила Jira 1">
            <a:extLst xmlns:a="http://schemas.openxmlformats.org/drawingml/2006/main">
              <a:ext uri="{FF2B5EF4-FFF2-40B4-BE49-F238E27FC236}">
                <a16:creationId xmlns:a16="http://schemas.microsoft.com/office/drawing/2014/main" id="{7F229D66-09DD-4158-BD90-F72B3CF68237}"/>
              </a:ext>
            </a:extLst>
          </p:cNvPr>
          <p:cNvSpPr>
            <a:spLocks xmlns:a="http://schemas.openxmlformats.org/drawingml/2006/main" noGrp="1"/>
          </p:cNvSpPr>
          <p:nvPr/>
        </p:nvSpPr>
        <p:spPr>
          <a:xfrm xmlns:a="http://schemas.openxmlformats.org/drawingml/2006/main">
            <a:off x="5429250" y="7096125"/>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только для подтверждённых сервисов</a:t>
            </a:r>
          </a:p>
        </p:txBody>
      </p:sp>
      <p:sp>
        <p:nvSpPr>
          <p:cNvPr id="30" name="Акцент правила Jira 2">
            <a:extLst xmlns:a="http://schemas.openxmlformats.org/drawingml/2006/main">
              <a:ext uri="{FF2B5EF4-FFF2-40B4-BE49-F238E27FC236}">
                <a16:creationId xmlns:a16="http://schemas.microsoft.com/office/drawing/2014/main" id="{4EE3BA9D-A2F5-4D3D-8E5F-EAAF74498E90}"/>
              </a:ext>
            </a:extLst>
          </p:cNvPr>
          <p:cNvSpPr>
            <a:spLocks xmlns:a="http://schemas.openxmlformats.org/drawingml/2006/main" noGrp="1"/>
          </p:cNvSpPr>
          <p:nvPr/>
        </p:nvSpPr>
        <p:spPr>
          <a:xfrm xmlns:a="http://schemas.openxmlformats.org/drawingml/2006/main">
            <a:off x="10096500" y="6334125"/>
            <a:ext cx="43815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31" name="Правило Jira 2">
            <a:extLst xmlns:a="http://schemas.openxmlformats.org/drawingml/2006/main">
              <a:ext uri="{FF2B5EF4-FFF2-40B4-BE49-F238E27FC236}">
                <a16:creationId xmlns:a16="http://schemas.microsoft.com/office/drawing/2014/main" id="{35F06FB1-B38C-40E7-AE81-A15038EA98DC}"/>
              </a:ext>
            </a:extLst>
          </p:cNvPr>
          <p:cNvSpPr>
            <a:spLocks xmlns:a="http://schemas.openxmlformats.org/drawingml/2006/main" noGrp="1"/>
          </p:cNvSpPr>
          <p:nvPr/>
        </p:nvSpPr>
        <p:spPr>
          <a:xfrm xmlns:a="http://schemas.openxmlformats.org/drawingml/2006/main">
            <a:off x="10096500" y="65627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325" b="1">
                <a:solidFill>
                  <a:srgbClr val="FFBD73"/>
                </a:solidFill>
                <a:latin typeface="Arial"/>
                <a:ea typeface="Arial"/>
                <a:cs typeface="Arial"/>
              </a:defRPr>
            </a:pPr>
            <a:r>
              <a:rPr sz="2325" b="1">
                <a:solidFill>
                  <a:srgbClr val="FFBD73"/>
                </a:solidFill>
                <a:latin typeface="Arial"/>
                <a:ea typeface="Arial"/>
                <a:cs typeface="Arial"/>
              </a:rPr>
              <a:t>0 скрытых записей</a:t>
            </a:r>
          </a:p>
        </p:txBody>
      </p:sp>
      <p:sp>
        <p:nvSpPr>
          <p:cNvPr id="32" name="Описание правила Jira 2">
            <a:extLst xmlns:a="http://schemas.openxmlformats.org/drawingml/2006/main">
              <a:ext uri="{FF2B5EF4-FFF2-40B4-BE49-F238E27FC236}">
                <a16:creationId xmlns:a16="http://schemas.microsoft.com/office/drawing/2014/main" id="{13AD6BC0-7C87-4E50-9DE7-958FAA3CEAEF}"/>
              </a:ext>
            </a:extLst>
          </p:cNvPr>
          <p:cNvSpPr>
            <a:spLocks xmlns:a="http://schemas.openxmlformats.org/drawingml/2006/main" noGrp="1"/>
          </p:cNvSpPr>
          <p:nvPr/>
        </p:nvSpPr>
        <p:spPr>
          <a:xfrm xmlns:a="http://schemas.openxmlformats.org/drawingml/2006/main">
            <a:off x="10096500" y="7096125"/>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725" b="0">
                <a:solidFill>
                  <a:srgbClr val="A4B8C9"/>
                </a:solidFill>
                <a:latin typeface="Arial"/>
                <a:ea typeface="Arial"/>
                <a:cs typeface="Arial"/>
              </a:defRPr>
            </a:pPr>
            <a:r>
              <a:rPr sz="1725" b="0">
                <a:solidFill>
                  <a:srgbClr val="A4B8C9"/>
                </a:solidFill>
                <a:latin typeface="Arial"/>
                <a:ea typeface="Arial"/>
                <a:cs typeface="Arial"/>
              </a:rPr>
              <a:t>без подтверждения публикации нет</a:t>
            </a:r>
          </a:p>
        </p:txBody>
      </p:sp>
    </p:spTree>
    <p:extLst>
      <p:ext uri="{BB962C8B-B14F-4D97-AF65-F5344CB8AC3E}">
        <p14:creationId xmlns:p14="http://schemas.microsoft.com/office/powerpoint/2010/main" val="630373834"/>
      </p:ext>
    </p:extLst>
  </p:cSld>
</p:sld>
</file>

<file path=ppt/slides/slide25.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7" name="Рамка слайда">
            <a:extLst xmlns:a="http://schemas.openxmlformats.org/drawingml/2006/main">
              <a:ext uri="{FF2B5EF4-FFF2-40B4-BE49-F238E27FC236}">
                <a16:creationId xmlns:a16="http://schemas.microsoft.com/office/drawing/2014/main" id="{B61F2450-D88D-4E98-8D36-9F90F18281A9}"/>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114EB2D1-9F9E-4774-9E17-A99BEB5BF3E1}"/>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901D9CDE-F775-4822-BA0C-43A948B84381}"/>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C954EC24-4401-4C62-8B6C-19BCCC1D6D33}"/>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25 / 27</a:t>
            </a:r>
          </a:p>
        </p:txBody>
      </p:sp>
      <p:sp>
        <p:nvSpPr>
          <p:cNvPr id="5" name="Надзаголовок">
            <a:extLst xmlns:a="http://schemas.openxmlformats.org/drawingml/2006/main">
              <a:ext uri="{FF2B5EF4-FFF2-40B4-BE49-F238E27FC236}">
                <a16:creationId xmlns:a16="http://schemas.microsoft.com/office/drawing/2014/main" id="{4A24D724-4146-48C5-BD9B-EB61EEE7708E}"/>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КОНТРОЛЬ КАЧЕСТВА</a:t>
            </a:r>
          </a:p>
        </p:txBody>
      </p:sp>
      <p:sp>
        <p:nvSpPr>
          <p:cNvPr id="6" name="Заголовок">
            <a:extLst xmlns:a="http://schemas.openxmlformats.org/drawingml/2006/main">
              <a:ext uri="{FF2B5EF4-FFF2-40B4-BE49-F238E27FC236}">
                <a16:creationId xmlns:a16="http://schemas.microsoft.com/office/drawing/2014/main" id="{988792DB-5239-46D4-AE7A-CFA14F895C39}"/>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Проверяемость результатов</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FBD73"/>
                </a:solidFill>
                <a:latin typeface="Arial"/>
                <a:ea typeface="Arial"/>
                <a:cs typeface="Arial"/>
              </a:rPr>
              <a:t>и ограничения подхода</a:t>
            </a:r>
          </a:p>
        </p:txBody>
      </p:sp>
      <p:sp>
        <p:nvSpPr>
          <p:cNvPr id="7" name="Акцент колонки 0">
            <a:extLst xmlns:a="http://schemas.openxmlformats.org/drawingml/2006/main">
              <a:ext uri="{FF2B5EF4-FFF2-40B4-BE49-F238E27FC236}">
                <a16:creationId xmlns:a16="http://schemas.microsoft.com/office/drawing/2014/main" id="{5C87E3E6-62CD-4BF5-A578-3084EC48A66A}"/>
              </a:ext>
            </a:extLst>
          </p:cNvPr>
          <p:cNvSpPr>
            <a:spLocks xmlns:a="http://schemas.openxmlformats.org/drawingml/2006/main" noGrp="1"/>
          </p:cNvSpPr>
          <p:nvPr/>
        </p:nvSpPr>
        <p:spPr>
          <a:xfrm xmlns:a="http://schemas.openxmlformats.org/drawingml/2006/main">
            <a:off x="762000" y="3333750"/>
            <a:ext cx="41910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8" name="Заголовок колонки 0">
            <a:extLst xmlns:a="http://schemas.openxmlformats.org/drawingml/2006/main">
              <a:ext uri="{FF2B5EF4-FFF2-40B4-BE49-F238E27FC236}">
                <a16:creationId xmlns:a16="http://schemas.microsoft.com/office/drawing/2014/main" id="{485A7361-D688-46EA-93C4-AA2546203E7D}"/>
              </a:ext>
            </a:extLst>
          </p:cNvPr>
          <p:cNvSpPr>
            <a:spLocks xmlns:a="http://schemas.openxmlformats.org/drawingml/2006/main" noGrp="1"/>
          </p:cNvSpPr>
          <p:nvPr/>
        </p:nvSpPr>
        <p:spPr>
          <a:xfrm xmlns:a="http://schemas.openxmlformats.org/drawingml/2006/main">
            <a:off x="762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Факт можно открыть</a:t>
            </a:r>
          </a:p>
        </p:txBody>
      </p:sp>
      <p:sp>
        <p:nvSpPr>
          <p:cNvPr id="9" name="Текст колонки 0">
            <a:extLst xmlns:a="http://schemas.openxmlformats.org/drawingml/2006/main">
              <a:ext uri="{FF2B5EF4-FFF2-40B4-BE49-F238E27FC236}">
                <a16:creationId xmlns:a16="http://schemas.microsoft.com/office/drawing/2014/main" id="{86838A3F-6BE7-4E17-9843-E8B465B0A900}"/>
              </a:ext>
            </a:extLst>
          </p:cNvPr>
          <p:cNvSpPr>
            <a:spLocks xmlns:a="http://schemas.openxmlformats.org/drawingml/2006/main" noGrp="1"/>
          </p:cNvSpPr>
          <p:nvPr/>
        </p:nvSpPr>
        <p:spPr>
          <a:xfrm xmlns:a="http://schemas.openxmlformats.org/drawingml/2006/main">
            <a:off x="762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Документ, код или связь графа остаются рядом с выводом. Предлагаемое изменение не выдаётся за уже работающую функцию.</a:t>
            </a:r>
          </a:p>
        </p:txBody>
      </p:sp>
      <p:sp>
        <p:nvSpPr>
          <p:cNvPr id="10" name="Акцент колонки 1">
            <a:extLst xmlns:a="http://schemas.openxmlformats.org/drawingml/2006/main">
              <a:ext uri="{FF2B5EF4-FFF2-40B4-BE49-F238E27FC236}">
                <a16:creationId xmlns:a16="http://schemas.microsoft.com/office/drawing/2014/main" id="{57379222-4EEC-4579-9855-107F1F87E9FB}"/>
              </a:ext>
            </a:extLst>
          </p:cNvPr>
          <p:cNvSpPr>
            <a:spLocks xmlns:a="http://schemas.openxmlformats.org/drawingml/2006/main" noGrp="1"/>
          </p:cNvSpPr>
          <p:nvPr/>
        </p:nvSpPr>
        <p:spPr>
          <a:xfrm xmlns:a="http://schemas.openxmlformats.org/drawingml/2006/main">
            <a:off x="5524500" y="3333750"/>
            <a:ext cx="41910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11" name="Заголовок колонки 1">
            <a:extLst xmlns:a="http://schemas.openxmlformats.org/drawingml/2006/main">
              <a:ext uri="{FF2B5EF4-FFF2-40B4-BE49-F238E27FC236}">
                <a16:creationId xmlns:a16="http://schemas.microsoft.com/office/drawing/2014/main" id="{3CE56F66-7919-41D4-9D95-D5215A1EC227}"/>
              </a:ext>
            </a:extLst>
          </p:cNvPr>
          <p:cNvSpPr>
            <a:spLocks xmlns:a="http://schemas.openxmlformats.org/drawingml/2006/main" noGrp="1"/>
          </p:cNvSpPr>
          <p:nvPr/>
        </p:nvSpPr>
        <p:spPr>
          <a:xfrm xmlns:a="http://schemas.openxmlformats.org/drawingml/2006/main">
            <a:off x="55245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План читает второй skill</a:t>
            </a:r>
          </a:p>
        </p:txBody>
      </p:sp>
      <p:sp>
        <p:nvSpPr>
          <p:cNvPr id="12" name="Текст колонки 1">
            <a:extLst xmlns:a="http://schemas.openxmlformats.org/drawingml/2006/main">
              <a:ext uri="{FF2B5EF4-FFF2-40B4-BE49-F238E27FC236}">
                <a16:creationId xmlns:a16="http://schemas.microsoft.com/office/drawing/2014/main" id="{691E22B6-DB24-4828-B747-F72D2A43C7BC}"/>
              </a:ext>
            </a:extLst>
          </p:cNvPr>
          <p:cNvSpPr>
            <a:spLocks xmlns:a="http://schemas.openxmlformats.org/drawingml/2006/main" noGrp="1"/>
          </p:cNvSpPr>
          <p:nvPr/>
        </p:nvSpPr>
        <p:spPr>
          <a:xfrm xmlns:a="http://schemas.openxmlformats.org/drawingml/2006/main">
            <a:off x="55245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Он ищет несуществующие сервисы, перепутанные контракты и противоречия между источниками.</a:t>
            </a:r>
          </a:p>
        </p:txBody>
      </p:sp>
      <p:sp>
        <p:nvSpPr>
          <p:cNvPr id="13" name="Акцент колонки 2">
            <a:extLst xmlns:a="http://schemas.openxmlformats.org/drawingml/2006/main">
              <a:ext uri="{FF2B5EF4-FFF2-40B4-BE49-F238E27FC236}">
                <a16:creationId xmlns:a16="http://schemas.microsoft.com/office/drawing/2014/main" id="{17BD71A5-5C38-467D-891A-75A2F344D0CD}"/>
              </a:ext>
            </a:extLst>
          </p:cNvPr>
          <p:cNvSpPr>
            <a:spLocks xmlns:a="http://schemas.openxmlformats.org/drawingml/2006/main" noGrp="1"/>
          </p:cNvSpPr>
          <p:nvPr/>
        </p:nvSpPr>
        <p:spPr>
          <a:xfrm xmlns:a="http://schemas.openxmlformats.org/drawingml/2006/main">
            <a:off x="10287000" y="3333750"/>
            <a:ext cx="4191000" cy="28575"/>
          </a:xfrm>
          <a:prstGeom xmlns:a="http://schemas.openxmlformats.org/drawingml/2006/main" prst="rect">
            <a:avLst/>
          </a:prstGeom>
          <a:solidFill xmlns:a="http://schemas.openxmlformats.org/drawingml/2006/main">
            <a:srgbClr val="FFBD73"/>
          </a:solidFill>
          <a:ln xmlns:a="http://schemas.openxmlformats.org/drawingml/2006/main" w="0">
            <a:noFill/>
            <a:prstDash val="solid"/>
          </a:ln>
        </p:spPr>
      </p:sp>
      <p:sp>
        <p:nvSpPr>
          <p:cNvPr id="14" name="Заголовок колонки 2">
            <a:extLst xmlns:a="http://schemas.openxmlformats.org/drawingml/2006/main">
              <a:ext uri="{FF2B5EF4-FFF2-40B4-BE49-F238E27FC236}">
                <a16:creationId xmlns:a16="http://schemas.microsoft.com/office/drawing/2014/main" id="{E525EFA9-87DD-45F4-82CF-200A89CA82E5}"/>
              </a:ext>
            </a:extLst>
          </p:cNvPr>
          <p:cNvSpPr>
            <a:spLocks xmlns:a="http://schemas.openxmlformats.org/drawingml/2006/main" noGrp="1"/>
          </p:cNvSpPr>
          <p:nvPr/>
        </p:nvSpPr>
        <p:spPr>
          <a:xfrm xmlns:a="http://schemas.openxmlformats.org/drawingml/2006/main">
            <a:off x="10287000" y="3638550"/>
            <a:ext cx="4191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75" b="1">
                <a:solidFill>
                  <a:srgbClr val="F4F8FB"/>
                </a:solidFill>
                <a:latin typeface="Arial"/>
                <a:ea typeface="Arial"/>
                <a:cs typeface="Arial"/>
              </a:defRPr>
            </a:pPr>
            <a:r>
              <a:rPr sz="2475" b="1">
                <a:solidFill>
                  <a:srgbClr val="F4F8FB"/>
                </a:solidFill>
                <a:latin typeface="Arial"/>
                <a:ea typeface="Arial"/>
                <a:cs typeface="Arial"/>
              </a:rPr>
              <a:t>Пробел не прячется</a:t>
            </a:r>
          </a:p>
        </p:txBody>
      </p:sp>
      <p:sp>
        <p:nvSpPr>
          <p:cNvPr id="15" name="Текст колонки 2">
            <a:extLst xmlns:a="http://schemas.openxmlformats.org/drawingml/2006/main">
              <a:ext uri="{FF2B5EF4-FFF2-40B4-BE49-F238E27FC236}">
                <a16:creationId xmlns:a16="http://schemas.microsoft.com/office/drawing/2014/main" id="{0CC7DB54-85F0-4AAB-AEE7-885964A6D3FC}"/>
              </a:ext>
            </a:extLst>
          </p:cNvPr>
          <p:cNvSpPr>
            <a:spLocks xmlns:a="http://schemas.openxmlformats.org/drawingml/2006/main" noGrp="1"/>
          </p:cNvSpPr>
          <p:nvPr/>
        </p:nvSpPr>
        <p:spPr>
          <a:xfrm xmlns:a="http://schemas.openxmlformats.org/drawingml/2006/main">
            <a:off x="10287000" y="4610100"/>
            <a:ext cx="4191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Устаревший индекс, слабая связь графа или отсутствие источника становятся вопросом к команде и задачей проверки.</a:t>
            </a:r>
          </a:p>
        </p:txBody>
      </p:sp>
      <p:sp>
        <p:nvSpPr>
          <p:cNvPr id="16" name="Ключевой вывод">
            <a:extLst xmlns:a="http://schemas.openxmlformats.org/drawingml/2006/main">
              <a:ext uri="{FF2B5EF4-FFF2-40B4-BE49-F238E27FC236}">
                <a16:creationId xmlns:a16="http://schemas.microsoft.com/office/drawing/2014/main" id="{CD4CF6AB-7B32-4B4A-B131-CCAC454B0CBE}"/>
              </a:ext>
            </a:extLst>
          </p:cNvPr>
          <p:cNvSpPr>
            <a:spLocks xmlns:a="http://schemas.openxmlformats.org/drawingml/2006/main" noGrp="1"/>
          </p:cNvSpPr>
          <p:nvPr/>
        </p:nvSpPr>
        <p:spPr>
          <a:xfrm xmlns:a="http://schemas.openxmlformats.org/drawingml/2006/main">
            <a:off x="762000" y="6848475"/>
            <a:ext cx="13668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550" b="0">
                <a:solidFill>
                  <a:srgbClr val="F4F8FB"/>
                </a:solidFill>
                <a:latin typeface="Arial"/>
                <a:ea typeface="Arial"/>
                <a:cs typeface="Arial"/>
              </a:defRPr>
            </a:pPr>
            <a:r>
              <a:rPr sz="2550" b="0">
                <a:solidFill>
                  <a:srgbClr val="F4F8FB"/>
                </a:solidFill>
                <a:latin typeface="Arial"/>
                <a:ea typeface="Arial"/>
                <a:cs typeface="Arial"/>
              </a:rPr>
              <a:t>Если нет источника — это </a:t>
            </a:r>
            <a:r>
              <a:rPr sz="2550" b="0">
                <a:solidFill>
                  <a:srgbClr val="54D7FF"/>
                </a:solidFill>
                <a:latin typeface="Arial"/>
                <a:ea typeface="Arial"/>
                <a:cs typeface="Arial"/>
              </a:rPr>
              <a:t>не факт в плане,</a:t>
            </a:r>
            <a:r>
              <a:rPr sz="2550" b="0">
                <a:solidFill>
                  <a:srgbClr val="F4F8FB"/>
                </a:solidFill>
                <a:latin typeface="Arial"/>
                <a:ea typeface="Arial"/>
                <a:cs typeface="Arial"/>
              </a:rPr>
              <a:t> а открытый вопрос.</a:t>
            </a:r>
          </a:p>
        </p:txBody>
      </p:sp>
    </p:spTree>
    <p:extLst>
      <p:ext uri="{BB962C8B-B14F-4D97-AF65-F5344CB8AC3E}">
        <p14:creationId xmlns:p14="http://schemas.microsoft.com/office/powerpoint/2010/main" val="628080671"/>
      </p:ext>
    </p:extLst>
  </p:cSld>
</p:sld>
</file>

<file path=ppt/slides/slide26.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25" name="Рамка слайда">
            <a:extLst xmlns:a="http://schemas.openxmlformats.org/drawingml/2006/main">
              <a:ext uri="{FF2B5EF4-FFF2-40B4-BE49-F238E27FC236}">
                <a16:creationId xmlns:a16="http://schemas.microsoft.com/office/drawing/2014/main" id="{B828A4CE-991D-4285-92EE-4D8D6D325DBE}"/>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0A82BD08-7C64-4D3B-8F97-8FBE3C966898}"/>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0C44CACE-DF69-407F-928C-1A013A0DA2AA}"/>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05044323-BE67-4298-8979-050FA4BD9179}"/>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26 / 27</a:t>
            </a:r>
          </a:p>
        </p:txBody>
      </p:sp>
      <p:sp>
        <p:nvSpPr>
          <p:cNvPr id="5" name="Надзаголовок">
            <a:extLst xmlns:a="http://schemas.openxmlformats.org/drawingml/2006/main">
              <a:ext uri="{FF2B5EF4-FFF2-40B4-BE49-F238E27FC236}">
                <a16:creationId xmlns:a16="http://schemas.microsoft.com/office/drawing/2014/main" id="{A29A64ED-A4DB-46EA-9DB1-0B982A0FB216}"/>
              </a:ext>
            </a:extLst>
          </p:cNvPr>
          <p:cNvSpPr>
            <a:spLocks xmlns:a="http://schemas.openxmlformats.org/drawingml/2006/main" noGrp="1"/>
          </p:cNvSpPr>
          <p:nvPr/>
        </p:nvSpPr>
        <p:spPr>
          <a:xfrm xmlns:a="http://schemas.openxmlformats.org/drawingml/2006/main">
            <a:off x="762000" y="695325"/>
            <a:ext cx="1369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РЕЗУЛЬТАТЫ</a:t>
            </a:r>
          </a:p>
        </p:txBody>
      </p:sp>
      <p:sp>
        <p:nvSpPr>
          <p:cNvPr id="6" name="Заголовок">
            <a:extLst xmlns:a="http://schemas.openxmlformats.org/drawingml/2006/main">
              <a:ext uri="{FF2B5EF4-FFF2-40B4-BE49-F238E27FC236}">
                <a16:creationId xmlns:a16="http://schemas.microsoft.com/office/drawing/2014/main" id="{1624B50B-CADC-46F1-AF80-1FBEF6E73542}"/>
              </a:ext>
            </a:extLst>
          </p:cNvPr>
          <p:cNvSpPr>
            <a:spLocks xmlns:a="http://schemas.openxmlformats.org/drawingml/2006/main" noGrp="1"/>
          </p:cNvSpPr>
          <p:nvPr/>
        </p:nvSpPr>
        <p:spPr>
          <a:xfrm xmlns:a="http://schemas.openxmlformats.org/drawingml/2006/main">
            <a:off x="762000" y="1200150"/>
            <a:ext cx="13716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F4F8FB"/>
                </a:solidFill>
                <a:latin typeface="Arial"/>
                <a:ea typeface="Arial"/>
                <a:cs typeface="Arial"/>
              </a:rPr>
              <a:t>Результаты применения общего контекста</a:t>
            </a:r>
          </a:p>
          <a:p xmlns:a="http://schemas.openxmlformats.org/drawingml/2006/main">
            <a:pPr algn="l">
              <a:spcBef>
                <a:spcPts val="0"/>
              </a:spcBef>
              <a:spcAft>
                <a:spcPts val="0"/>
              </a:spcAft>
              <a:buNone/>
              <a:defRPr sz="4050" b="1">
                <a:solidFill>
                  <a:srgbClr val="F4F8FB"/>
                </a:solidFill>
                <a:latin typeface="Arial"/>
                <a:ea typeface="Arial"/>
                <a:cs typeface="Arial"/>
              </a:defRPr>
            </a:pPr>
            <a:r>
              <a:rPr sz="4050" b="1">
                <a:solidFill>
                  <a:srgbClr val="5CE3A0"/>
                </a:solidFill>
                <a:latin typeface="Arial"/>
                <a:ea typeface="Arial"/>
                <a:cs typeface="Arial"/>
              </a:rPr>
              <a:t>в SDD-разработке</a:t>
            </a:r>
          </a:p>
        </p:txBody>
      </p:sp>
      <p:sp>
        <p:nvSpPr>
          <p:cNvPr id="7" name="Акцент аудитории 0">
            <a:extLst xmlns:a="http://schemas.openxmlformats.org/drawingml/2006/main">
              <a:ext uri="{FF2B5EF4-FFF2-40B4-BE49-F238E27FC236}">
                <a16:creationId xmlns:a16="http://schemas.microsoft.com/office/drawing/2014/main" id="{D00CBF4B-5AAE-445A-B5F9-3C3B440FCFFD}"/>
              </a:ext>
            </a:extLst>
          </p:cNvPr>
          <p:cNvSpPr>
            <a:spLocks xmlns:a="http://schemas.openxmlformats.org/drawingml/2006/main" noGrp="1"/>
          </p:cNvSpPr>
          <p:nvPr/>
        </p:nvSpPr>
        <p:spPr>
          <a:xfrm xmlns:a="http://schemas.openxmlformats.org/drawingml/2006/main">
            <a:off x="762000" y="3152775"/>
            <a:ext cx="6457950" cy="28575"/>
          </a:xfrm>
          <a:prstGeom xmlns:a="http://schemas.openxmlformats.org/drawingml/2006/main" prst="rect">
            <a:avLst/>
          </a:prstGeom>
          <a:solidFill xmlns:a="http://schemas.openxmlformats.org/drawingml/2006/main">
            <a:srgbClr val="5CE3A0"/>
          </a:solidFill>
          <a:ln xmlns:a="http://schemas.openxmlformats.org/drawingml/2006/main" w="0">
            <a:noFill/>
            <a:prstDash val="solid"/>
          </a:ln>
        </p:spPr>
      </p:sp>
      <p:sp>
        <p:nvSpPr>
          <p:cNvPr id="8" name="Заголовок аудитории 0">
            <a:extLst xmlns:a="http://schemas.openxmlformats.org/drawingml/2006/main">
              <a:ext uri="{FF2B5EF4-FFF2-40B4-BE49-F238E27FC236}">
                <a16:creationId xmlns:a16="http://schemas.microsoft.com/office/drawing/2014/main" id="{B7B15E90-D002-4E21-A9AC-0F246B73EA11}"/>
              </a:ext>
            </a:extLst>
          </p:cNvPr>
          <p:cNvSpPr>
            <a:spLocks xmlns:a="http://schemas.openxmlformats.org/drawingml/2006/main" noGrp="1"/>
          </p:cNvSpPr>
          <p:nvPr/>
        </p:nvSpPr>
        <p:spPr>
          <a:xfrm xmlns:a="http://schemas.openxmlformats.org/drawingml/2006/main">
            <a:off x="76200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CE3A0"/>
                </a:solidFill>
                <a:latin typeface="Arial"/>
                <a:ea typeface="Arial"/>
                <a:cs typeface="Arial"/>
              </a:defRPr>
            </a:pPr>
            <a:r>
              <a:rPr sz="2850" b="1">
                <a:solidFill>
                  <a:srgbClr val="5CE3A0"/>
                </a:solidFill>
                <a:latin typeface="Arial"/>
                <a:ea typeface="Arial"/>
                <a:cs typeface="Arial"/>
              </a:rPr>
              <a:t>Для бизнеса</a:t>
            </a:r>
          </a:p>
        </p:txBody>
      </p:sp>
      <p:sp>
        <p:nvSpPr>
          <p:cNvPr id="9" name="Маркер 0-0">
            <a:extLst xmlns:a="http://schemas.openxmlformats.org/drawingml/2006/main">
              <a:ext uri="{FF2B5EF4-FFF2-40B4-BE49-F238E27FC236}">
                <a16:creationId xmlns:a16="http://schemas.microsoft.com/office/drawing/2014/main" id="{DA9B75E3-70BD-46E6-AF8C-5074B97CAACF}"/>
              </a:ext>
            </a:extLst>
          </p:cNvPr>
          <p:cNvSpPr>
            <a:spLocks xmlns:a="http://schemas.openxmlformats.org/drawingml/2006/main" noGrp="1"/>
          </p:cNvSpPr>
          <p:nvPr/>
        </p:nvSpPr>
        <p:spPr>
          <a:xfrm xmlns:a="http://schemas.openxmlformats.org/drawingml/2006/main">
            <a:off x="76200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10" name="Тезис 0-0">
            <a:extLst xmlns:a="http://schemas.openxmlformats.org/drawingml/2006/main">
              <a:ext uri="{FF2B5EF4-FFF2-40B4-BE49-F238E27FC236}">
                <a16:creationId xmlns:a16="http://schemas.microsoft.com/office/drawing/2014/main" id="{CB3DCE4D-2730-4EA3-9BB7-BB5047286629}"/>
              </a:ext>
            </a:extLst>
          </p:cNvPr>
          <p:cNvSpPr>
            <a:spLocks xmlns:a="http://schemas.openxmlformats.org/drawingml/2006/main" noGrp="1"/>
          </p:cNvSpPr>
          <p:nvPr/>
        </p:nvSpPr>
        <p:spPr>
          <a:xfrm xmlns:a="http://schemas.openxmlformats.org/drawingml/2006/main">
            <a:off x="111442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затронутые команды и сервисы видны до оценки;</a:t>
            </a:r>
          </a:p>
        </p:txBody>
      </p:sp>
      <p:sp>
        <p:nvSpPr>
          <p:cNvPr id="11" name="Маркер 0-1">
            <a:extLst xmlns:a="http://schemas.openxmlformats.org/drawingml/2006/main">
              <a:ext uri="{FF2B5EF4-FFF2-40B4-BE49-F238E27FC236}">
                <a16:creationId xmlns:a16="http://schemas.microsoft.com/office/drawing/2014/main" id="{2D59B39B-691B-455F-8A22-E297480DC747}"/>
              </a:ext>
            </a:extLst>
          </p:cNvPr>
          <p:cNvSpPr>
            <a:spLocks xmlns:a="http://schemas.openxmlformats.org/drawingml/2006/main" noGrp="1"/>
          </p:cNvSpPr>
          <p:nvPr/>
        </p:nvSpPr>
        <p:spPr>
          <a:xfrm xmlns:a="http://schemas.openxmlformats.org/drawingml/2006/main">
            <a:off x="76200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12" name="Тезис 0-1">
            <a:extLst xmlns:a="http://schemas.openxmlformats.org/drawingml/2006/main">
              <a:ext uri="{FF2B5EF4-FFF2-40B4-BE49-F238E27FC236}">
                <a16:creationId xmlns:a16="http://schemas.microsoft.com/office/drawing/2014/main" id="{98975910-C19A-4151-9B1F-EB2EFCBDB8A9}"/>
              </a:ext>
            </a:extLst>
          </p:cNvPr>
          <p:cNvSpPr>
            <a:spLocks xmlns:a="http://schemas.openxmlformats.org/drawingml/2006/main" noGrp="1"/>
          </p:cNvSpPr>
          <p:nvPr/>
        </p:nvSpPr>
        <p:spPr>
          <a:xfrm xmlns:a="http://schemas.openxmlformats.org/drawingml/2006/main">
            <a:off x="111442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риски и неизвестные появляются до обещаний;</a:t>
            </a:r>
          </a:p>
        </p:txBody>
      </p:sp>
      <p:sp>
        <p:nvSpPr>
          <p:cNvPr id="13" name="Маркер 0-2">
            <a:extLst xmlns:a="http://schemas.openxmlformats.org/drawingml/2006/main">
              <a:ext uri="{FF2B5EF4-FFF2-40B4-BE49-F238E27FC236}">
                <a16:creationId xmlns:a16="http://schemas.microsoft.com/office/drawing/2014/main" id="{189D5786-4B67-457C-A76B-DD06EE427BB0}"/>
              </a:ext>
            </a:extLst>
          </p:cNvPr>
          <p:cNvSpPr>
            <a:spLocks xmlns:a="http://schemas.openxmlformats.org/drawingml/2006/main" noGrp="1"/>
          </p:cNvSpPr>
          <p:nvPr/>
        </p:nvSpPr>
        <p:spPr>
          <a:xfrm xmlns:a="http://schemas.openxmlformats.org/drawingml/2006/main">
            <a:off x="76200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CE3A0"/>
                </a:solidFill>
                <a:latin typeface="Arial"/>
                <a:ea typeface="Arial"/>
                <a:cs typeface="Arial"/>
              </a:defRPr>
            </a:pPr>
            <a:r>
              <a:rPr sz="1950" b="0">
                <a:solidFill>
                  <a:srgbClr val="5CE3A0"/>
                </a:solidFill>
                <a:latin typeface="Arial"/>
                <a:ea typeface="Arial"/>
                <a:cs typeface="Arial"/>
              </a:rPr>
              <a:t>→</a:t>
            </a:r>
          </a:p>
        </p:txBody>
      </p:sp>
      <p:sp>
        <p:nvSpPr>
          <p:cNvPr id="14" name="Тезис 0-2">
            <a:extLst xmlns:a="http://schemas.openxmlformats.org/drawingml/2006/main">
              <a:ext uri="{FF2B5EF4-FFF2-40B4-BE49-F238E27FC236}">
                <a16:creationId xmlns:a16="http://schemas.microsoft.com/office/drawing/2014/main" id="{01EC3174-85C2-4CBD-98F2-1BC2D4B80AE5}"/>
              </a:ext>
            </a:extLst>
          </p:cNvPr>
          <p:cNvSpPr>
            <a:spLocks xmlns:a="http://schemas.openxmlformats.org/drawingml/2006/main" noGrp="1"/>
          </p:cNvSpPr>
          <p:nvPr/>
        </p:nvSpPr>
        <p:spPr>
          <a:xfrm xmlns:a="http://schemas.openxmlformats.org/drawingml/2006/main">
            <a:off x="111442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план и задачи связаны с исходным требованием.</a:t>
            </a:r>
          </a:p>
        </p:txBody>
      </p:sp>
      <p:sp>
        <p:nvSpPr>
          <p:cNvPr id="15" name="Акцент аудитории 1">
            <a:extLst xmlns:a="http://schemas.openxmlformats.org/drawingml/2006/main">
              <a:ext uri="{FF2B5EF4-FFF2-40B4-BE49-F238E27FC236}">
                <a16:creationId xmlns:a16="http://schemas.microsoft.com/office/drawing/2014/main" id="{E5B18C46-D513-45AB-9C26-B20B3D433F1B}"/>
              </a:ext>
            </a:extLst>
          </p:cNvPr>
          <p:cNvSpPr>
            <a:spLocks xmlns:a="http://schemas.openxmlformats.org/drawingml/2006/main" noGrp="1"/>
          </p:cNvSpPr>
          <p:nvPr/>
        </p:nvSpPr>
        <p:spPr>
          <a:xfrm xmlns:a="http://schemas.openxmlformats.org/drawingml/2006/main">
            <a:off x="8020050" y="3152775"/>
            <a:ext cx="6457950" cy="2857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16" name="Заголовок аудитории 1">
            <a:extLst xmlns:a="http://schemas.openxmlformats.org/drawingml/2006/main">
              <a:ext uri="{FF2B5EF4-FFF2-40B4-BE49-F238E27FC236}">
                <a16:creationId xmlns:a16="http://schemas.microsoft.com/office/drawing/2014/main" id="{7AFCC17B-A317-42E5-AB2B-926F46B65D97}"/>
              </a:ext>
            </a:extLst>
          </p:cNvPr>
          <p:cNvSpPr>
            <a:spLocks xmlns:a="http://schemas.openxmlformats.org/drawingml/2006/main" noGrp="1"/>
          </p:cNvSpPr>
          <p:nvPr/>
        </p:nvSpPr>
        <p:spPr>
          <a:xfrm xmlns:a="http://schemas.openxmlformats.org/drawingml/2006/main">
            <a:off x="8020050" y="3429000"/>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850" b="1">
                <a:solidFill>
                  <a:srgbClr val="54D7FF"/>
                </a:solidFill>
                <a:latin typeface="Arial"/>
                <a:ea typeface="Arial"/>
                <a:cs typeface="Arial"/>
              </a:defRPr>
            </a:pPr>
            <a:r>
              <a:rPr sz="2850" b="1">
                <a:solidFill>
                  <a:srgbClr val="54D7FF"/>
                </a:solidFill>
                <a:latin typeface="Arial"/>
                <a:ea typeface="Arial"/>
                <a:cs typeface="Arial"/>
              </a:rPr>
              <a:t>Для разработки</a:t>
            </a:r>
          </a:p>
        </p:txBody>
      </p:sp>
      <p:sp>
        <p:nvSpPr>
          <p:cNvPr id="17" name="Маркер 1-0">
            <a:extLst xmlns:a="http://schemas.openxmlformats.org/drawingml/2006/main">
              <a:ext uri="{FF2B5EF4-FFF2-40B4-BE49-F238E27FC236}">
                <a16:creationId xmlns:a16="http://schemas.microsoft.com/office/drawing/2014/main" id="{A6EA6A87-23E2-4556-AC75-AD6BEE590CE0}"/>
              </a:ext>
            </a:extLst>
          </p:cNvPr>
          <p:cNvSpPr>
            <a:spLocks xmlns:a="http://schemas.openxmlformats.org/drawingml/2006/main" noGrp="1"/>
          </p:cNvSpPr>
          <p:nvPr/>
        </p:nvSpPr>
        <p:spPr>
          <a:xfrm xmlns:a="http://schemas.openxmlformats.org/drawingml/2006/main">
            <a:off x="8020050" y="44958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18" name="Тезис 1-0">
            <a:extLst xmlns:a="http://schemas.openxmlformats.org/drawingml/2006/main">
              <a:ext uri="{FF2B5EF4-FFF2-40B4-BE49-F238E27FC236}">
                <a16:creationId xmlns:a16="http://schemas.microsoft.com/office/drawing/2014/main" id="{C0900B73-AA82-451F-B8D1-70B2E2AD54DE}"/>
              </a:ext>
            </a:extLst>
          </p:cNvPr>
          <p:cNvSpPr>
            <a:spLocks xmlns:a="http://schemas.openxmlformats.org/drawingml/2006/main" noGrp="1"/>
          </p:cNvSpPr>
          <p:nvPr/>
        </p:nvSpPr>
        <p:spPr>
          <a:xfrm xmlns:a="http://schemas.openxmlformats.org/drawingml/2006/main">
            <a:off x="8372475" y="450532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поиск начинается с вопроса, а не обхода репозиториев;</a:t>
            </a:r>
          </a:p>
        </p:txBody>
      </p:sp>
      <p:sp>
        <p:nvSpPr>
          <p:cNvPr id="19" name="Маркер 1-1">
            <a:extLst xmlns:a="http://schemas.openxmlformats.org/drawingml/2006/main">
              <a:ext uri="{FF2B5EF4-FFF2-40B4-BE49-F238E27FC236}">
                <a16:creationId xmlns:a16="http://schemas.microsoft.com/office/drawing/2014/main" id="{4329D9FB-E136-4CBE-9059-06E4ADDFB0A8}"/>
              </a:ext>
            </a:extLst>
          </p:cNvPr>
          <p:cNvSpPr>
            <a:spLocks xmlns:a="http://schemas.openxmlformats.org/drawingml/2006/main" noGrp="1"/>
          </p:cNvSpPr>
          <p:nvPr/>
        </p:nvSpPr>
        <p:spPr>
          <a:xfrm xmlns:a="http://schemas.openxmlformats.org/drawingml/2006/main">
            <a:off x="8020050" y="5229225"/>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20" name="Тезис 1-1">
            <a:extLst xmlns:a="http://schemas.openxmlformats.org/drawingml/2006/main">
              <a:ext uri="{FF2B5EF4-FFF2-40B4-BE49-F238E27FC236}">
                <a16:creationId xmlns:a16="http://schemas.microsoft.com/office/drawing/2014/main" id="{976350C8-713B-4652-8744-AE11C5330106}"/>
              </a:ext>
            </a:extLst>
          </p:cNvPr>
          <p:cNvSpPr>
            <a:spLocks xmlns:a="http://schemas.openxmlformats.org/drawingml/2006/main" noGrp="1"/>
          </p:cNvSpPr>
          <p:nvPr/>
        </p:nvSpPr>
        <p:spPr>
          <a:xfrm xmlns:a="http://schemas.openxmlformats.org/drawingml/2006/main">
            <a:off x="8372475" y="5238750"/>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ключевые выводы можно проверить по evidence;</a:t>
            </a:r>
          </a:p>
        </p:txBody>
      </p:sp>
      <p:sp>
        <p:nvSpPr>
          <p:cNvPr id="21" name="Маркер 1-2">
            <a:extLst xmlns:a="http://schemas.openxmlformats.org/drawingml/2006/main">
              <a:ext uri="{FF2B5EF4-FFF2-40B4-BE49-F238E27FC236}">
                <a16:creationId xmlns:a16="http://schemas.microsoft.com/office/drawing/2014/main" id="{D66DB132-65EE-4F64-87B2-3E8C5F8A055D}"/>
              </a:ext>
            </a:extLst>
          </p:cNvPr>
          <p:cNvSpPr>
            <a:spLocks xmlns:a="http://schemas.openxmlformats.org/drawingml/2006/main" noGrp="1"/>
          </p:cNvSpPr>
          <p:nvPr/>
        </p:nvSpPr>
        <p:spPr>
          <a:xfrm xmlns:a="http://schemas.openxmlformats.org/drawingml/2006/main">
            <a:off x="8020050" y="59626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54D7FF"/>
                </a:solidFill>
                <a:latin typeface="Arial"/>
                <a:ea typeface="Arial"/>
                <a:cs typeface="Arial"/>
              </a:defRPr>
            </a:pPr>
            <a:r>
              <a:rPr sz="1950" b="0">
                <a:solidFill>
                  <a:srgbClr val="54D7FF"/>
                </a:solidFill>
                <a:latin typeface="Arial"/>
                <a:ea typeface="Arial"/>
                <a:cs typeface="Arial"/>
              </a:rPr>
              <a:t>→</a:t>
            </a:r>
          </a:p>
        </p:txBody>
      </p:sp>
      <p:sp>
        <p:nvSpPr>
          <p:cNvPr id="22" name="Тезис 1-2">
            <a:extLst xmlns:a="http://schemas.openxmlformats.org/drawingml/2006/main">
              <a:ext uri="{FF2B5EF4-FFF2-40B4-BE49-F238E27FC236}">
                <a16:creationId xmlns:a16="http://schemas.microsoft.com/office/drawing/2014/main" id="{2733C82D-8CBB-428D-91EC-3BEAE7BC8A77}"/>
              </a:ext>
            </a:extLst>
          </p:cNvPr>
          <p:cNvSpPr>
            <a:spLocks xmlns:a="http://schemas.openxmlformats.org/drawingml/2006/main" noGrp="1"/>
          </p:cNvSpPr>
          <p:nvPr/>
        </p:nvSpPr>
        <p:spPr>
          <a:xfrm xmlns:a="http://schemas.openxmlformats.org/drawingml/2006/main">
            <a:off x="8372475" y="5972175"/>
            <a:ext cx="6096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950" b="0">
                <a:solidFill>
                  <a:srgbClr val="A4B8C9"/>
                </a:solidFill>
                <a:latin typeface="Arial"/>
                <a:ea typeface="Arial"/>
                <a:cs typeface="Arial"/>
              </a:defRPr>
            </a:pPr>
            <a:r>
              <a:rPr sz="1950" b="0">
                <a:solidFill>
                  <a:srgbClr val="A4B8C9"/>
                </a:solidFill>
                <a:latin typeface="Arial"/>
                <a:ea typeface="Arial"/>
                <a:cs typeface="Arial"/>
              </a:rPr>
              <a:t>план учитывает контракты, данные, тесты и rollout.</a:t>
            </a:r>
          </a:p>
        </p:txBody>
      </p:sp>
      <p:sp>
        <p:nvSpPr>
          <p:cNvPr id="23" name="Акцент вывода">
            <a:extLst xmlns:a="http://schemas.openxmlformats.org/drawingml/2006/main">
              <a:ext uri="{FF2B5EF4-FFF2-40B4-BE49-F238E27FC236}">
                <a16:creationId xmlns:a16="http://schemas.microsoft.com/office/drawing/2014/main" id="{E8DC54A8-5991-48EC-97C7-F84980995E41}"/>
              </a:ext>
            </a:extLst>
          </p:cNvPr>
          <p:cNvSpPr>
            <a:spLocks xmlns:a="http://schemas.openxmlformats.org/drawingml/2006/main" noGrp="1"/>
          </p:cNvSpPr>
          <p:nvPr/>
        </p:nvSpPr>
        <p:spPr>
          <a:xfrm xmlns:a="http://schemas.openxmlformats.org/drawingml/2006/main">
            <a:off x="762000" y="7000875"/>
            <a:ext cx="38100" cy="809625"/>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24" name="Ключевой вывод">
            <a:extLst xmlns:a="http://schemas.openxmlformats.org/drawingml/2006/main">
              <a:ext uri="{FF2B5EF4-FFF2-40B4-BE49-F238E27FC236}">
                <a16:creationId xmlns:a16="http://schemas.microsoft.com/office/drawing/2014/main" id="{D1CB4BC9-3C17-4732-8F4A-0E9356705717}"/>
              </a:ext>
            </a:extLst>
          </p:cNvPr>
          <p:cNvSpPr>
            <a:spLocks xmlns:a="http://schemas.openxmlformats.org/drawingml/2006/main" noGrp="1"/>
          </p:cNvSpPr>
          <p:nvPr/>
        </p:nvSpPr>
        <p:spPr>
          <a:xfrm xmlns:a="http://schemas.openxmlformats.org/drawingml/2006/main">
            <a:off x="1028700" y="7048500"/>
            <a:ext cx="134207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800" b="0">
                <a:solidFill>
                  <a:srgbClr val="A4B8C9"/>
                </a:solidFill>
                <a:latin typeface="Arial"/>
                <a:ea typeface="Arial"/>
                <a:cs typeface="Arial"/>
              </a:defRPr>
            </a:pPr>
            <a:r>
              <a:rPr sz="1800" b="1">
                <a:solidFill>
                  <a:srgbClr val="F4F8FB"/>
                </a:solidFill>
                <a:latin typeface="Arial"/>
                <a:ea typeface="Arial"/>
                <a:cs typeface="Arial"/>
              </a:rPr>
              <a:t>Главный результат:</a:t>
            </a:r>
            <a:r>
              <a:rPr sz="1800" b="0">
                <a:solidFill>
                  <a:srgbClr val="A4B8C9"/>
                </a:solidFill>
                <a:latin typeface="Arial"/>
                <a:ea typeface="Arial"/>
                <a:cs typeface="Arial"/>
              </a:rPr>
              <a:t> единый RAG не заменяет владельцев знаний — он связывает их источники в повторяемый и проверяемый процесс разработки.</a:t>
            </a:r>
          </a:p>
        </p:txBody>
      </p:sp>
    </p:spTree>
    <p:extLst>
      <p:ext uri="{BB962C8B-B14F-4D97-AF65-F5344CB8AC3E}">
        <p14:creationId xmlns:p14="http://schemas.microsoft.com/office/powerpoint/2010/main" val="927185519"/>
      </p:ext>
    </p:extLst>
  </p:cSld>
</p:sld>
</file>

<file path=ppt/slides/slide27.xml><?xml version="1.0" encoding="utf-8"?>
<p:sld xmlns:p="http://schemas.openxmlformats.org/presentationml/2006/main">
  <p:cSld>
    <p:bg>
      <p:bgPr>
        <a:gradFill xmlns:a="http://schemas.openxmlformats.org/drawingml/2006/main">
          <a:gsLst>
            <a:gs pos="0">
              <a:srgbClr val="0D1B2C"/>
            </a:gs>
            <a:gs pos="100000">
              <a:srgbClr val="040C17"/>
            </a:gs>
          </a:gsLst>
          <a:lin ang="8100000"/>
        </a:gradFill>
      </p:bgPr>
    </p:bg>
    <p:spTree>
      <p:nvGrpSpPr>
        <p:cNvPr id="1" name=""/>
        <p:cNvGrpSpPr/>
        <p:nvPr/>
      </p:nvGrpSpPr>
      <p:grpSpPr>
        <a:xfrm xmlns:a="http://schemas.openxmlformats.org/drawingml/2006/main"/>
      </p:grpSpPr>
      <p:sp>
        <p:nvSpPr>
          <p:cNvPr id="11" name="Рамка слайда">
            <a:extLst xmlns:a="http://schemas.openxmlformats.org/drawingml/2006/main">
              <a:ext uri="{FF2B5EF4-FFF2-40B4-BE49-F238E27FC236}">
                <a16:creationId xmlns:a16="http://schemas.microsoft.com/office/drawing/2014/main" id="{499386F7-B245-4C62-B03C-8700184F5E16}"/>
              </a:ext>
            </a:extLst>
          </p:cNvPr>
          <p:cNvSpPr>
            <a:spLocks xmlns:a="http://schemas.openxmlformats.org/drawingml/2006/main" noGrp="1"/>
          </p:cNvSpPr>
          <p:nvPr/>
        </p:nvSpPr>
        <p:spPr>
          <a:xfrm xmlns:a="http://schemas.openxmlformats.org/drawingml/2006/main">
            <a:off x="190500" y="190500"/>
            <a:ext cx="14859000" cy="8191500"/>
          </a:xfrm>
          <a:prstGeom xmlns:a="http://schemas.openxmlformats.org/drawingml/2006/main" prst="roundRect">
            <a:avLst>
              <a:gd name="adj" fmla="val 2558"/>
            </a:avLst>
          </a:prstGeom>
          <a:noFill xmlns:a="http://schemas.openxmlformats.org/drawingml/2006/main"/>
          <a:ln xmlns:a="http://schemas.openxmlformats.org/drawingml/2006/main" w="9525">
            <a:solidFill>
              <a:srgbClr val="1C3145"/>
            </a:solidFill>
            <a:prstDash val="solid"/>
          </a:ln>
        </p:spPr>
      </p:sp>
      <p:sp>
        <p:nvSpPr>
          <p:cNvPr id="2" name="Нижняя разделительная линия">
            <a:extLst xmlns:a="http://schemas.openxmlformats.org/drawingml/2006/main">
              <a:ext uri="{FF2B5EF4-FFF2-40B4-BE49-F238E27FC236}">
                <a16:creationId xmlns:a16="http://schemas.microsoft.com/office/drawing/2014/main" id="{19A3826F-BDEE-4A45-99AF-6D3A21C17B64}"/>
              </a:ext>
            </a:extLst>
          </p:cNvPr>
          <p:cNvSpPr>
            <a:spLocks xmlns:a="http://schemas.openxmlformats.org/drawingml/2006/main" noGrp="1"/>
          </p:cNvSpPr>
          <p:nvPr/>
        </p:nvSpPr>
        <p:spPr>
          <a:xfrm xmlns:a="http://schemas.openxmlformats.org/drawingml/2006/main">
            <a:off x="762000" y="7896225"/>
            <a:ext cx="13716000" cy="9525"/>
          </a:xfrm>
          <a:prstGeom xmlns:a="http://schemas.openxmlformats.org/drawingml/2006/main" prst="rect">
            <a:avLst/>
          </a:prstGeom>
          <a:solidFill xmlns:a="http://schemas.openxmlformats.org/drawingml/2006/main">
            <a:srgbClr val="1C3145"/>
          </a:solidFill>
          <a:ln xmlns:a="http://schemas.openxmlformats.org/drawingml/2006/main" w="0">
            <a:noFill/>
            <a:prstDash val="solid"/>
          </a:ln>
        </p:spPr>
      </p:sp>
      <p:sp>
        <p:nvSpPr>
          <p:cNvPr id="3" name="Тема презентации">
            <a:extLst xmlns:a="http://schemas.openxmlformats.org/drawingml/2006/main">
              <a:ext uri="{FF2B5EF4-FFF2-40B4-BE49-F238E27FC236}">
                <a16:creationId xmlns:a16="http://schemas.microsoft.com/office/drawing/2014/main" id="{E3629EBC-C6E5-4F9D-9CB5-02D44111ADB3}"/>
              </a:ext>
            </a:extLst>
          </p:cNvPr>
          <p:cNvSpPr>
            <a:spLocks xmlns:a="http://schemas.openxmlformats.org/drawingml/2006/main" noGrp="1"/>
          </p:cNvSpPr>
          <p:nvPr/>
        </p:nvSpPr>
        <p:spPr>
          <a:xfrm xmlns:a="http://schemas.openxmlformats.org/drawingml/2006/main">
            <a:off x="762000" y="80962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125" b="1">
                <a:solidFill>
                  <a:srgbClr val="A4B8C9"/>
                </a:solidFill>
                <a:latin typeface="Arial"/>
                <a:ea typeface="Arial"/>
                <a:cs typeface="Arial"/>
              </a:defRPr>
            </a:pPr>
            <a:r>
              <a:rPr sz="1125" b="1">
                <a:solidFill>
                  <a:srgbClr val="A4B8C9"/>
                </a:solidFill>
                <a:latin typeface="Arial"/>
                <a:ea typeface="Arial"/>
                <a:cs typeface="Arial"/>
              </a:rPr>
              <a:t>RAG  /  SDD  /  300+ МИКРОСЕРВИСОВ</a:t>
            </a:r>
          </a:p>
        </p:txBody>
      </p:sp>
      <p:sp>
        <p:nvSpPr>
          <p:cNvPr id="4" name="Номер слайда">
            <a:extLst xmlns:a="http://schemas.openxmlformats.org/drawingml/2006/main">
              <a:ext uri="{FF2B5EF4-FFF2-40B4-BE49-F238E27FC236}">
                <a16:creationId xmlns:a16="http://schemas.microsoft.com/office/drawing/2014/main" id="{57D2289B-BA5D-43C6-BF26-AD85DC304F34}"/>
              </a:ext>
            </a:extLst>
          </p:cNvPr>
          <p:cNvSpPr>
            <a:spLocks xmlns:a="http://schemas.openxmlformats.org/drawingml/2006/main" noGrp="1"/>
          </p:cNvSpPr>
          <p:nvPr/>
        </p:nvSpPr>
        <p:spPr>
          <a:xfrm xmlns:a="http://schemas.openxmlformats.org/drawingml/2006/main">
            <a:off x="13335000" y="807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spcBef>
                <a:spcPts val="0"/>
              </a:spcBef>
              <a:spcAft>
                <a:spcPts val="0"/>
              </a:spcAft>
              <a:buNone/>
              <a:defRPr sz="1275" b="0">
                <a:solidFill>
                  <a:srgbClr val="A4B8C9"/>
                </a:solidFill>
                <a:latin typeface="Arial"/>
                <a:ea typeface="Arial"/>
                <a:cs typeface="Arial"/>
              </a:defRPr>
            </a:pPr>
            <a:r>
              <a:rPr sz="1275" b="0">
                <a:solidFill>
                  <a:srgbClr val="A4B8C9"/>
                </a:solidFill>
                <a:latin typeface="Arial"/>
                <a:ea typeface="Arial"/>
                <a:cs typeface="Arial"/>
              </a:rPr>
              <a:t>27 / 27</a:t>
            </a:r>
          </a:p>
        </p:txBody>
      </p:sp>
      <p:sp>
        <p:nvSpPr>
          <p:cNvPr id="5" name="Надзаголовок">
            <a:extLst xmlns:a="http://schemas.openxmlformats.org/drawingml/2006/main">
              <a:ext uri="{FF2B5EF4-FFF2-40B4-BE49-F238E27FC236}">
                <a16:creationId xmlns:a16="http://schemas.microsoft.com/office/drawing/2014/main" id="{972F736C-72F8-43DF-8C2E-5C0393CBC036}"/>
              </a:ext>
            </a:extLst>
          </p:cNvPr>
          <p:cNvSpPr>
            <a:spLocks xmlns:a="http://schemas.openxmlformats.org/drawingml/2006/main" noGrp="1"/>
          </p:cNvSpPr>
          <p:nvPr/>
        </p:nvSpPr>
        <p:spPr>
          <a:xfrm xmlns:a="http://schemas.openxmlformats.org/drawingml/2006/main">
            <a:off x="762000" y="12763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1350" b="1">
                <a:solidFill>
                  <a:srgbClr val="54D7FF"/>
                </a:solidFill>
                <a:latin typeface="Arial"/>
                <a:ea typeface="Arial"/>
                <a:cs typeface="Arial"/>
              </a:defRPr>
            </a:pPr>
            <a:r>
              <a:rPr sz="1350" b="1">
                <a:solidFill>
                  <a:srgbClr val="54D7FF"/>
                </a:solidFill>
                <a:latin typeface="Arial"/>
                <a:ea typeface="Arial"/>
                <a:cs typeface="Arial"/>
              </a:rPr>
              <a:t>РЕПОЗИТОРИЙ ПРОЕКТА</a:t>
            </a:r>
          </a:p>
        </p:txBody>
      </p:sp>
      <p:sp>
        <p:nvSpPr>
          <p:cNvPr id="6" name="Титульный заголовок">
            <a:extLst xmlns:a="http://schemas.openxmlformats.org/drawingml/2006/main">
              <a:ext uri="{FF2B5EF4-FFF2-40B4-BE49-F238E27FC236}">
                <a16:creationId xmlns:a16="http://schemas.microsoft.com/office/drawing/2014/main" id="{ABBE3F5D-776B-4013-8DF4-51015568A287}"/>
              </a:ext>
            </a:extLst>
          </p:cNvPr>
          <p:cNvSpPr>
            <a:spLocks xmlns:a="http://schemas.openxmlformats.org/drawingml/2006/main" noGrp="1"/>
          </p:cNvSpPr>
          <p:nvPr/>
        </p:nvSpPr>
        <p:spPr>
          <a:xfrm xmlns:a="http://schemas.openxmlformats.org/drawingml/2006/main">
            <a:off x="762000" y="2133600"/>
            <a:ext cx="8191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4F8FB"/>
                </a:solidFill>
                <a:latin typeface="Arial"/>
                <a:ea typeface="Arial"/>
                <a:cs typeface="Arial"/>
              </a:defRPr>
            </a:pPr>
            <a:r>
              <a:rPr sz="5100" b="1">
                <a:solidFill>
                  <a:srgbClr val="F4F8FB"/>
                </a:solidFill>
                <a:latin typeface="Arial"/>
                <a:ea typeface="Arial"/>
                <a:cs typeface="Arial"/>
              </a:rPr>
              <a:t>Хотите использовать</a:t>
            </a:r>
          </a:p>
          <a:p xmlns:a="http://schemas.openxmlformats.org/drawingml/2006/main">
            <a:pPr algn="l">
              <a:defRPr sz="5100" b="1">
                <a:solidFill>
                  <a:srgbClr val="F4F8FB"/>
                </a:solidFill>
                <a:latin typeface="Arial"/>
                <a:ea typeface="Arial"/>
                <a:cs typeface="Arial"/>
              </a:defRPr>
            </a:pPr>
            <a:r>
              <a:rPr sz="5100" b="1">
                <a:solidFill>
                  <a:srgbClr val="F4F8FB"/>
                </a:solidFill>
                <a:latin typeface="Arial"/>
                <a:ea typeface="Arial"/>
                <a:cs typeface="Arial"/>
              </a:rPr>
              <a:t>проект?</a:t>
            </a:r>
          </a:p>
        </p:txBody>
      </p:sp>
      <p:sp>
        <p:nvSpPr>
          <p:cNvPr id="7" name="Титульный акцент">
            <a:extLst xmlns:a="http://schemas.openxmlformats.org/drawingml/2006/main">
              <a:ext uri="{FF2B5EF4-FFF2-40B4-BE49-F238E27FC236}">
                <a16:creationId xmlns:a16="http://schemas.microsoft.com/office/drawing/2014/main" id="{D0A41A81-AA20-4760-AEF3-4EABF2892B48}"/>
              </a:ext>
            </a:extLst>
          </p:cNvPr>
          <p:cNvSpPr>
            <a:spLocks xmlns:a="http://schemas.openxmlformats.org/drawingml/2006/main" noGrp="1"/>
          </p:cNvSpPr>
          <p:nvPr/>
        </p:nvSpPr>
        <p:spPr>
          <a:xfrm xmlns:a="http://schemas.openxmlformats.org/drawingml/2006/main">
            <a:off x="762000" y="6419850"/>
            <a:ext cx="5905500" cy="38100"/>
          </a:xfrm>
          <a:prstGeom xmlns:a="http://schemas.openxmlformats.org/drawingml/2006/main" prst="rect">
            <a:avLst/>
          </a:prstGeom>
          <a:solidFill xmlns:a="http://schemas.openxmlformats.org/drawingml/2006/main">
            <a:srgbClr val="54D7FF"/>
          </a:solidFill>
          <a:ln xmlns:a="http://schemas.openxmlformats.org/drawingml/2006/main" w="0">
            <a:noFill/>
            <a:prstDash val="solid"/>
          </a:ln>
        </p:spPr>
      </p:sp>
      <p:sp>
        <p:nvSpPr>
          <p:cNvPr id="8" name="Титульный акцент 2">
            <a:extLst xmlns:a="http://schemas.openxmlformats.org/drawingml/2006/main">
              <a:ext uri="{FF2B5EF4-FFF2-40B4-BE49-F238E27FC236}">
                <a16:creationId xmlns:a16="http://schemas.microsoft.com/office/drawing/2014/main" id="{B41E3B10-822D-46E2-A613-8C62F9C18400}"/>
              </a:ext>
            </a:extLst>
          </p:cNvPr>
          <p:cNvSpPr>
            <a:spLocks xmlns:a="http://schemas.openxmlformats.org/drawingml/2006/main" noGrp="1"/>
          </p:cNvSpPr>
          <p:nvPr/>
        </p:nvSpPr>
        <p:spPr>
          <a:xfrm xmlns:a="http://schemas.openxmlformats.org/drawingml/2006/main">
            <a:off x="6667500" y="6419850"/>
            <a:ext cx="1714500" cy="38100"/>
          </a:xfrm>
          <a:prstGeom xmlns:a="http://schemas.openxmlformats.org/drawingml/2006/main" prst="rect">
            <a:avLst/>
          </a:prstGeom>
          <a:solidFill xmlns:a="http://schemas.openxmlformats.org/drawingml/2006/main">
            <a:srgbClr val="AF98FF"/>
          </a:solidFill>
          <a:ln xmlns:a="http://schemas.openxmlformats.org/drawingml/2006/main" w="0">
            <a:noFill/>
            <a:prstDash val="solid"/>
          </a:ln>
        </p:spPr>
      </p:sp>
      <p:sp>
        <p:nvSpPr>
          <p:cNvPr id="9" name="Подзаголовок">
            <a:extLst xmlns:a="http://schemas.openxmlformats.org/drawingml/2006/main">
              <a:ext uri="{FF2B5EF4-FFF2-40B4-BE49-F238E27FC236}">
                <a16:creationId xmlns:a16="http://schemas.microsoft.com/office/drawing/2014/main" id="{68186AF0-633C-4C45-8121-836CB94D071E}"/>
              </a:ext>
            </a:extLst>
          </p:cNvPr>
          <p:cNvSpPr>
            <a:spLocks xmlns:a="http://schemas.openxmlformats.org/drawingml/2006/main" noGrp="1"/>
          </p:cNvSpPr>
          <p:nvPr/>
        </p:nvSpPr>
        <p:spPr>
          <a:xfrm xmlns:a="http://schemas.openxmlformats.org/drawingml/2006/main">
            <a:off x="762000" y="4457700"/>
            <a:ext cx="7620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400" b="0">
                <a:solidFill>
                  <a:srgbClr val="A4B8C9"/>
                </a:solidFill>
                <a:latin typeface="Arial"/>
                <a:ea typeface="Arial"/>
                <a:cs typeface="Arial"/>
              </a:defRPr>
            </a:pPr>
            <a:r>
              <a:rPr sz="2400" b="0">
                <a:solidFill>
                  <a:srgbClr val="A4B8C9"/>
                </a:solidFill>
                <a:latin typeface="Arial"/>
                <a:ea typeface="Arial"/>
                <a:cs typeface="Arial"/>
              </a:rPr>
              <a:t>Исходный код и инструкции по запуску</a:t>
            </a:r>
          </a:p>
          <a:p xmlns:a="http://schemas.openxmlformats.org/drawingml/2006/main">
            <a:pPr algn="l">
              <a:spcBef>
                <a:spcPts val="0"/>
              </a:spcBef>
              <a:spcAft>
                <a:spcPts val="0"/>
              </a:spcAft>
              <a:buNone/>
              <a:defRPr sz="2400" b="0">
                <a:solidFill>
                  <a:srgbClr val="A4B8C9"/>
                </a:solidFill>
                <a:latin typeface="Arial"/>
                <a:ea typeface="Arial"/>
                <a:cs typeface="Arial"/>
              </a:defRPr>
            </a:pPr>
            <a:r>
              <a:rPr sz="2400" b="0">
                <a:solidFill>
                  <a:srgbClr val="A4B8C9"/>
                </a:solidFill>
                <a:latin typeface="Arial"/>
                <a:ea typeface="Arial"/>
                <a:cs typeface="Arial"/>
              </a:rPr>
              <a:t>для знакомства с проектом</a:t>
            </a:r>
          </a:p>
        </p:txBody>
      </p:sp>
      <p:sp>
        <p:nvSpPr>
          <p:cNvPr id="10" name="Темы выступления">
            <a:extLst xmlns:a="http://schemas.openxmlformats.org/drawingml/2006/main">
              <a:ext uri="{FF2B5EF4-FFF2-40B4-BE49-F238E27FC236}">
                <a16:creationId xmlns:a16="http://schemas.microsoft.com/office/drawing/2014/main" id="{17B4936F-1B7A-4757-8715-7EDD083A4C3A}"/>
              </a:ext>
            </a:extLst>
          </p:cNvPr>
          <p:cNvSpPr>
            <a:spLocks xmlns:a="http://schemas.openxmlformats.org/drawingml/2006/main" noGrp="1"/>
          </p:cNvSpPr>
          <p:nvPr/>
        </p:nvSpPr>
        <p:spPr>
          <a:xfrm xmlns:a="http://schemas.openxmlformats.org/drawingml/2006/main">
            <a:off x="762000" y="6791325"/>
            <a:ext cx="762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buNone/>
              <a:defRPr sz="2175" b="0">
                <a:solidFill>
                  <a:srgbClr val="54D7FF"/>
                </a:solidFill>
                <a:latin typeface="Arial"/>
                <a:ea typeface="Arial"/>
                <a:cs typeface="Arial"/>
              </a:defRPr>
            </a:pPr>
            <a:r>
              <a:rPr sz="2175" b="0">
                <a:solidFill>
                  <a:srgbClr val="54D7FF"/>
                </a:solidFill>
                <a:latin typeface="Arial"/>
                <a:ea typeface="Arial"/>
                <a:cs typeface="Arial"/>
              </a:rPr>
              <a:t>[ссылка на репозиторий]</a:t>
            </a:r>
          </a:p>
        </p:txBody>
      </p:sp>
      <p:sp>
        <p:nvSpPr>
          <p:cNvPr id="12" name="QR placeholder — replace with repository QR image">
            <a:extLst xmlns:a="http://schemas.openxmlformats.org/drawingml/2006/main">
              <a:ext uri="{FF2B5EF4-FFF2-40B4-BE49-F238E27FC236}">
                <a16:creationId xmlns:a16="http://schemas.microsoft.com/office/drawing/2014/main" id="{AC3ABB2B-89E0-4DE3-85F4-086B464D895B}"/>
              </a:ext>
            </a:extLst>
          </p:cNvPr>
          <p:cNvSpPr>
            <a:spLocks xmlns:a="http://schemas.openxmlformats.org/drawingml/2006/main" noGrp="1"/>
          </p:cNvSpPr>
          <p:nvPr/>
        </p:nvSpPr>
        <p:spPr>
          <a:xfrm xmlns:a="http://schemas.openxmlformats.org/drawingml/2006/main">
            <a:off x="10096500" y="2524125"/>
            <a:ext cx="4000500" cy="4000500"/>
          </a:xfrm>
          <a:prstGeom xmlns:a="http://schemas.openxmlformats.org/drawingml/2006/main" prst="rect">
            <a:avLst/>
          </a:prstGeom>
          <a:solidFill xmlns:a="http://schemas.openxmlformats.org/drawingml/2006/main">
            <a:srgbClr val="F4F8FB"/>
          </a:solidFill>
          <a:ln xmlns:a="http://schemas.openxmlformats.org/drawingml/2006/main" w="19050">
            <a:solidFill>
              <a:srgbClr val="54D7FF"/>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28425A"/>
                </a:solidFill>
                <a:latin typeface="Arial"/>
                <a:ea typeface="Arial"/>
                <a:cs typeface="Arial"/>
              </a:defRPr>
            </a:pPr>
            <a:r>
              <a:rPr sz="2250" b="1">
                <a:solidFill>
                  <a:srgbClr val="28425A"/>
                </a:solidFill>
                <a:latin typeface="Arial"/>
                <a:ea typeface="Arial"/>
                <a:cs typeface="Arial"/>
              </a:rPr>
              <a:t>QR-КОД</a:t>
            </a:r>
          </a:p>
          <a:p xmlns:a="http://schemas.openxmlformats.org/drawingml/2006/main">
            <a:pPr algn="ctr">
              <a:defRPr sz="2250" b="1">
                <a:solidFill>
                  <a:srgbClr val="28425A"/>
                </a:solidFill>
                <a:latin typeface="Arial"/>
                <a:ea typeface="Arial"/>
                <a:cs typeface="Arial"/>
              </a:defRPr>
            </a:pPr>
            <a:r>
              <a:rPr sz="2250" b="1">
                <a:solidFill>
                  <a:srgbClr val="28425A"/>
                </a:solidFill>
                <a:latin typeface="Arial"/>
                <a:ea typeface="Arial"/>
                <a:cs typeface="Arial"/>
              </a:rPr>
              <a:t>РЕПОЗИТОРИЯ</a:t>
            </a:r>
          </a:p>
          <a:p xmlns:a="http://schemas.openxmlformats.org/drawingml/2006/main">
            <a:r>
              <a:t/>
            </a:r>
          </a:p>
          <a:p xmlns:a="http://schemas.openxmlformats.org/drawingml/2006/main">
            <a:pPr algn="ctr">
              <a:defRPr sz="2250" b="1">
                <a:solidFill>
                  <a:srgbClr val="28425A"/>
                </a:solidFill>
                <a:latin typeface="Arial"/>
                <a:ea typeface="Arial"/>
                <a:cs typeface="Arial"/>
              </a:defRPr>
            </a:pPr>
            <a:r>
              <a:rPr sz="2250" b="1">
                <a:solidFill>
                  <a:srgbClr val="28425A"/>
                </a:solidFill>
                <a:latin typeface="Arial"/>
                <a:ea typeface="Arial"/>
                <a:cs typeface="Arial"/>
              </a:rPr>
              <a:t>ПЛЕЙСХОЛДЕР</a:t>
            </a:r>
          </a:p>
        </p:txBody>
      </p:sp>
      <p:sp>
        <p:nvSpPr>
          <p:cNvPr id="13" name="QR placeholder caption">
            <a:extLst xmlns:a="http://schemas.openxmlformats.org/drawingml/2006/main">
              <a:ext uri="{FF2B5EF4-FFF2-40B4-BE49-F238E27FC236}">
                <a16:creationId xmlns:a16="http://schemas.microsoft.com/office/drawing/2014/main" id="{4B105A26-C898-4006-803B-BBC582B2C0C7}"/>
              </a:ext>
            </a:extLst>
          </p:cNvPr>
          <p:cNvSpPr>
            <a:spLocks xmlns:a="http://schemas.openxmlformats.org/drawingml/2006/main" noGrp="1"/>
          </p:cNvSpPr>
          <p:nvPr/>
        </p:nvSpPr>
        <p:spPr>
          <a:xfrm xmlns:a="http://schemas.openxmlformats.org/drawingml/2006/main">
            <a:off x="10096500" y="67437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A4B8C9"/>
                </a:solidFill>
                <a:latin typeface="Arial"/>
                <a:ea typeface="Arial"/>
                <a:cs typeface="Arial"/>
              </a:defRPr>
            </a:pPr>
            <a:r>
              <a:rPr sz="1650" b="0">
                <a:solidFill>
                  <a:srgbClr val="A4B8C9"/>
                </a:solidFill>
                <a:latin typeface="Arial"/>
                <a:ea typeface="Arial"/>
                <a:cs typeface="Arial"/>
              </a:rPr>
              <a:t>Место для QR-кода</a:t>
            </a:r>
          </a:p>
        </p:txBody>
      </p:sp>
    </p:spTree>
    <p:extLst>
      <p:ext uri="{BB962C8B-B14F-4D97-AF65-F5344CB8AC3E}">
        <p14:creationId xmlns:p14="http://schemas.microsoft.com/office/powerpoint/2010/main" val="545208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2026-09-24T08:38:58.6020000Z</dcterms:created>
  <dcterms:modified xsi:type="dcterms:W3CDTF">2026-09-24T08:38:58.6020000Z</dcterms:modified>
</coreProperties>
</file>