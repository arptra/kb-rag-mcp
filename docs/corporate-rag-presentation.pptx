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a82238c3974816" /><Relationship Type="http://schemas.openxmlformats.org/officeDocument/2006/relationships/extended-properties" Target="/docProps/app.xml" Id="Rb42898452b594c2f" /><Relationship Type="http://schemas.openxmlformats.org/officeDocument/2006/relationships/officeDocument" Target="/ppt/presentation.xml" Id="Re75dc92b02a445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6120c8bff6460f"/>
  </p:sldMasterIdLst>
  <p:notesMasterIdLst>
    <p:notesMasterId xmlns:r="http://schemas.openxmlformats.org/officeDocument/2006/relationships" r:id="R3d2c640eefdc4c9d"/>
  </p:notesMasterIdLst>
  <p:sldIdLst>
    <p:sldId xmlns:r="http://schemas.openxmlformats.org/officeDocument/2006/relationships" id="256" r:id="Rb1127cf8027e4c0b"/>
    <p:sldId xmlns:r="http://schemas.openxmlformats.org/officeDocument/2006/relationships" id="257" r:id="R7a26663bae704a76"/>
    <p:sldId xmlns:r="http://schemas.openxmlformats.org/officeDocument/2006/relationships" id="258" r:id="Rb944e890fdee4657"/>
    <p:sldId xmlns:r="http://schemas.openxmlformats.org/officeDocument/2006/relationships" id="259" r:id="R42587215cdc246ff"/>
    <p:sldId xmlns:r="http://schemas.openxmlformats.org/officeDocument/2006/relationships" id="260" r:id="R034945ee5ea740fc"/>
    <p:sldId xmlns:r="http://schemas.openxmlformats.org/officeDocument/2006/relationships" id="261" r:id="R1e7bfe3a945d49b4"/>
    <p:sldId xmlns:r="http://schemas.openxmlformats.org/officeDocument/2006/relationships" id="262" r:id="Rb6bad8988aec401d"/>
    <p:sldId xmlns:r="http://schemas.openxmlformats.org/officeDocument/2006/relationships" id="263" r:id="Rdee394515da04459"/>
    <p:sldId xmlns:r="http://schemas.openxmlformats.org/officeDocument/2006/relationships" id="264" r:id="R973ce2dbbe204763"/>
    <p:sldId xmlns:r="http://schemas.openxmlformats.org/officeDocument/2006/relationships" id="265" r:id="R5c620561fff04a45"/>
    <p:sldId xmlns:r="http://schemas.openxmlformats.org/officeDocument/2006/relationships" id="266" r:id="Rb923742de4b143d5"/>
    <p:sldId xmlns:r="http://schemas.openxmlformats.org/officeDocument/2006/relationships" id="267" r:id="Rc373f2026c09426b"/>
    <p:sldId xmlns:r="http://schemas.openxmlformats.org/officeDocument/2006/relationships" id="268" r:id="R97e5b3902cdc46b7"/>
    <p:sldId xmlns:r="http://schemas.openxmlformats.org/officeDocument/2006/relationships" id="269" r:id="Ra7bd1dea1f0f49fd"/>
    <p:sldId xmlns:r="http://schemas.openxmlformats.org/officeDocument/2006/relationships" id="270" r:id="R3944ab81489f42b6"/>
    <p:sldId xmlns:r="http://schemas.openxmlformats.org/officeDocument/2006/relationships" id="271" r:id="Rd0eb8dbe1ec84cd4"/>
    <p:sldId xmlns:r="http://schemas.openxmlformats.org/officeDocument/2006/relationships" id="272" r:id="R0d92e0f61b0c4e2a"/>
    <p:sldId xmlns:r="http://schemas.openxmlformats.org/officeDocument/2006/relationships" id="273" r:id="R75753a1465e04dad"/>
    <p:sldId xmlns:r="http://schemas.openxmlformats.org/officeDocument/2006/relationships" id="274" r:id="Rc5b570dd535e4437"/>
    <p:sldId xmlns:r="http://schemas.openxmlformats.org/officeDocument/2006/relationships" id="275" r:id="R750154e3ac6f46e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c17baffdc34c9f" /><Relationship Type="http://schemas.openxmlformats.org/officeDocument/2006/relationships/slideMaster" Target="/ppt/slideMasters/slideMaster1.xml" Id="R3c6120c8bff6460f" /><Relationship Type="http://schemas.openxmlformats.org/officeDocument/2006/relationships/notesMaster" Target="/ppt/notesMasters/notesMaster1.xml" Id="R3d2c640eefdc4c9d" /><Relationship Type="http://schemas.openxmlformats.org/officeDocument/2006/relationships/presProps" Target="/ppt/presProps.xml" Id="Ra75f1af850d74c61" /><Relationship Type="http://schemas.openxmlformats.org/officeDocument/2006/relationships/tableStyles" Target="/ppt/tableStyles.xml" Id="Ra22c48b9ef5a4fa9" /><Relationship Type="http://schemas.openxmlformats.org/officeDocument/2006/relationships/slide" Target="/ppt/slides/slide1.xml" Id="Rb1127cf8027e4c0b" /><Relationship Type="http://schemas.openxmlformats.org/officeDocument/2006/relationships/slide" Target="/ppt/slides/slide2.xml" Id="R7a26663bae704a76" /><Relationship Type="http://schemas.openxmlformats.org/officeDocument/2006/relationships/slide" Target="/ppt/slides/slide3.xml" Id="Rb944e890fdee4657" /><Relationship Type="http://schemas.openxmlformats.org/officeDocument/2006/relationships/slide" Target="/ppt/slides/slide4.xml" Id="R42587215cdc246ff" /><Relationship Type="http://schemas.openxmlformats.org/officeDocument/2006/relationships/slide" Target="/ppt/slides/slide5.xml" Id="R034945ee5ea740fc" /><Relationship Type="http://schemas.openxmlformats.org/officeDocument/2006/relationships/slide" Target="/ppt/slides/slide6.xml" Id="R1e7bfe3a945d49b4" /><Relationship Type="http://schemas.openxmlformats.org/officeDocument/2006/relationships/slide" Target="/ppt/slides/slide7.xml" Id="Rb6bad8988aec401d" /><Relationship Type="http://schemas.openxmlformats.org/officeDocument/2006/relationships/slide" Target="/ppt/slides/slide8.xml" Id="Rdee394515da04459" /><Relationship Type="http://schemas.openxmlformats.org/officeDocument/2006/relationships/slide" Target="/ppt/slides/slide9.xml" Id="R973ce2dbbe204763" /><Relationship Type="http://schemas.openxmlformats.org/officeDocument/2006/relationships/slide" Target="/ppt/slides/slide10.xml" Id="R5c620561fff04a45" /><Relationship Type="http://schemas.openxmlformats.org/officeDocument/2006/relationships/slide" Target="/ppt/slides/slide11.xml" Id="Rb923742de4b143d5" /><Relationship Type="http://schemas.openxmlformats.org/officeDocument/2006/relationships/slide" Target="/ppt/slides/slide12.xml" Id="Rc373f2026c09426b" /><Relationship Type="http://schemas.openxmlformats.org/officeDocument/2006/relationships/slide" Target="/ppt/slides/slide13.xml" Id="R97e5b3902cdc46b7" /><Relationship Type="http://schemas.openxmlformats.org/officeDocument/2006/relationships/slide" Target="/ppt/slides/slide14.xml" Id="Ra7bd1dea1f0f49fd" /><Relationship Type="http://schemas.openxmlformats.org/officeDocument/2006/relationships/slide" Target="/ppt/slides/slide15.xml" Id="R3944ab81489f42b6" /><Relationship Type="http://schemas.openxmlformats.org/officeDocument/2006/relationships/slide" Target="/ppt/slides/slide16.xml" Id="Rd0eb8dbe1ec84cd4" /><Relationship Type="http://schemas.openxmlformats.org/officeDocument/2006/relationships/slide" Target="/ppt/slides/slide17.xml" Id="R0d92e0f61b0c4e2a" /><Relationship Type="http://schemas.openxmlformats.org/officeDocument/2006/relationships/slide" Target="/ppt/slides/slide18.xml" Id="R75753a1465e04dad" /><Relationship Type="http://schemas.openxmlformats.org/officeDocument/2006/relationships/slide" Target="/ppt/slides/slide19.xml" Id="Rc5b570dd535e4437" /><Relationship Type="http://schemas.openxmlformats.org/officeDocument/2006/relationships/slide" Target="/ppt/slides/slide20.xml" Id="R750154e3ac6f46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7220eb269841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34b5af924f41c5" /><Relationship Type="http://schemas.openxmlformats.org/officeDocument/2006/relationships/notesMaster" Target="/ppt/notesMasters/notesMaster1.xml" Id="R1d82d966874248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5888dc46364875" /><Relationship Type="http://schemas.openxmlformats.org/officeDocument/2006/relationships/notesMaster" Target="/ppt/notesMasters/notesMaster1.xml" Id="R964ce1b0a47a4f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b9483f4cad41c4" /><Relationship Type="http://schemas.openxmlformats.org/officeDocument/2006/relationships/notesMaster" Target="/ppt/notesMasters/notesMaster1.xml" Id="Re19c2a7bd3d948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e383e390a44f48" /><Relationship Type="http://schemas.openxmlformats.org/officeDocument/2006/relationships/notesMaster" Target="/ppt/notesMasters/notesMaster1.xml" Id="R976ec11738c743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59d2f52d7c4ade" /><Relationship Type="http://schemas.openxmlformats.org/officeDocument/2006/relationships/notesMaster" Target="/ppt/notesMasters/notesMaster1.xml" Id="R74a9bc3c586e41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9bc34c9d934236" /><Relationship Type="http://schemas.openxmlformats.org/officeDocument/2006/relationships/notesMaster" Target="/ppt/notesMasters/notesMaster1.xml" Id="Rbf2f6ca45d884b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35973832504e69" /><Relationship Type="http://schemas.openxmlformats.org/officeDocument/2006/relationships/notesMaster" Target="/ppt/notesMasters/notesMaster1.xml" Id="R9ab0faffd87249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927d417b6141f1" /><Relationship Type="http://schemas.openxmlformats.org/officeDocument/2006/relationships/notesMaster" Target="/ppt/notesMasters/notesMaster1.xml" Id="R953b522370f741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193f7448ae49cb" /><Relationship Type="http://schemas.openxmlformats.org/officeDocument/2006/relationships/notesMaster" Target="/ppt/notesMasters/notesMaster1.xml" Id="R0e2965a2bef34c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66bb580198484e" /><Relationship Type="http://schemas.openxmlformats.org/officeDocument/2006/relationships/notesMaster" Target="/ppt/notesMasters/notesMaster1.xml" Id="R395e5ab8238e4b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596b87692c4c94" /><Relationship Type="http://schemas.openxmlformats.org/officeDocument/2006/relationships/notesMaster" Target="/ppt/notesMasters/notesMaster1.xml" Id="R2bdde7590a4e44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5768b6fb274c1e" /><Relationship Type="http://schemas.openxmlformats.org/officeDocument/2006/relationships/notesMaster" Target="/ppt/notesMasters/notesMaster1.xml" Id="R26c94b03804b40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d563e046f24fd8" /><Relationship Type="http://schemas.openxmlformats.org/officeDocument/2006/relationships/notesMaster" Target="/ppt/notesMasters/notesMaster1.xml" Id="R3915cbb755b845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0556b9713a4dc3" /><Relationship Type="http://schemas.openxmlformats.org/officeDocument/2006/relationships/notesMaster" Target="/ppt/notesMasters/notesMaster1.xml" Id="Raf566d8e0cce4c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9c072f603fb45a2" /><Relationship Type="http://schemas.openxmlformats.org/officeDocument/2006/relationships/notesMaster" Target="/ppt/notesMasters/notesMaster1.xml" Id="R832a938872c84e5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b8a5c849b9477e" /><Relationship Type="http://schemas.openxmlformats.org/officeDocument/2006/relationships/notesMaster" Target="/ppt/notesMasters/notesMaster1.xml" Id="R3101750f7c3a4a8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3730bbabf0442b1" /><Relationship Type="http://schemas.openxmlformats.org/officeDocument/2006/relationships/notesMaster" Target="/ppt/notesMasters/notesMaster1.xml" Id="R7f335c4ee1414b2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0bb46c291494672" /><Relationship Type="http://schemas.openxmlformats.org/officeDocument/2006/relationships/notesMaster" Target="/ppt/notesMasters/notesMaster1.xml" Id="Ra8a7ea71fd554df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cbd9fb39aa64e83" /><Relationship Type="http://schemas.openxmlformats.org/officeDocument/2006/relationships/notesMaster" Target="/ppt/notesMasters/notesMaster1.xml" Id="R87005b70de77433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13ba7d016c74b45" /><Relationship Type="http://schemas.openxmlformats.org/officeDocument/2006/relationships/notesMaster" Target="/ppt/notesMasters/notesMaster1.xml" Id="R8255546efccb42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Тема доклада — не просто поиск по документам. Речь о том, как общий контекст помогает вести разработку по спецификации в большой автоматизированной системе.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Структура простая: сначала покажем проблему и её последствия, затем решение и рабочий процесс, а в конце — ограничения, выводы и живые экраны GigaCode.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Начинаем с обычной задачи из бэклога: «перенести дату платежа по кредиту физлица». В ней нет ответа, где хранится график платежей, какой сервис принимает решение и какие условия уже действуют.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Обычная рабочая картина: открыть первый репозиторий, написать владельцу, получить ссылку на другой сервис, потом найти правило или контракт, который меняет границы задачи. План появляется только после этого.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Большая система — это не просто много репозиториев. У каждого сервиса свой владелец, свой релизный цикл и свои договорённости с соседями.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Поэтому фича может начинаться в одном сервисе, но быстро упереться в чужой контракт, событие, данные или правило доступа. Если узнать об этом после оценки, работу приходится пересобирать.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Частая первая мысль — собрать все знания в один общий репозиторий или один большой документ. Но это создаёт новую точку ожидания: любой владелец сервиса должен ещё обновить центральную копию.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Нам нужен не склад копий, а единый способ прийти от задачи к актуальным источникам: коду, документу, контракту и владельцу.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не начинаем с предположения, что документации нет. Она есть: в коде, в Confluence, в спецификациях и у людей, которые за сервис отвечают.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Проблема в маршруте. Для каждой новой задачи нужно заново угадывать, с чего начать и не пропущен ли ещё один сервис.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нет идеи заставить все команды работать в одном репозитории или документе. У них уже есть свои рабочие места и владельцы.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Мы добавляем поверх них слой навигации: RAG находит факты в источниках, граф подсказывает, по каким сервисам идти дальше.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 не переписывает знания своими словами в новую базу. Он берёт то, что уже ведут команды: спецификации, ADR, исходники и SSOT.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После разбиения на фрагменты у каждого остаётся паспорт: к какому сервису относится, откуда взят и на какой revision. Поэтому человек может открыть первоисточник, а не доверять пересказу.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Когда говорят «RAG построен на хешах», полезно разделить две вещи. Первая — контроль изменений. У документа есть content hash, а ID чанка считается из документа, заголовка, позиции и самого текста. При следующей индексации мы сразу видим, какие чанки остались прежними, и не пересчитываем им эмбеддинги.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Вторая вещь — штатный hash provider. Он не хранит текст как один огромный хеш. Он выделяет из текста слова и символьные триграммы, например части слова с границами. Для каждого признака берёт SHA-256, по нему выбирает ячейку и знак вектора настраиваемой размерности, затем нормализует результат.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Так получается полностью локальный lexical search: хороший для совпадающей терминологии, названий сервисов, контрактов и полей. Но он не обязан понимать смысл и синонимы так же хорошо, как semantic-модель.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Если нужна не только одинаковая терминология, а смысл и синонимы, включается второй provider — локальная Sentence Transformers embedding-модель. Документ и вопрос она превращает в векторы в одном пространстве, поэтому можно сопоставить близкие по смыслу формулировки.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Здесь видеокарта — это ускоритель, а не архитектурная зависимость. Автоматический выбор устройства идёт в порядке CUDA, затем Apple MPS, затем CPU. На CPU переиндексация будет дольше, но процесс и формат индекса остаются теми же.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Модель берётся только из заранее подготовленного локального каталога. В режиме local_files_only при отсутствии файлов система завершает индексирование понятной ошибкой и не пытается сходить на Hugging Face или во внешний embedding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 поиске вопрос проходит через тот же provider, что и документы. Получается query vector той же размерности. В памяти уже лежит нормализованная NumPy-матрица: одна строка на чанк.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Поскольку векторы нормализованы, cosine similarity — это простое умножение matrix @ query_vector. Мы выбираем top-k кандидатов, а в контекст GigaCode отдаём только короткие выдержки из разных источников. Полный чанк поднимается отдельным вызовом только когда он действительно нужен.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То есть это не отдельная vector DB, не ANN-сервис и не SQL. Диск нужен для проверяемого cache, а сам поиск работает по прогретой матрице в RAM. Это хорошо объясняет, почему обычный запрос не строит эмбеддинги заново и не вызывает внешний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Граф отвечает на первый практический вопрос: куда вообще смотреть. Он извлекается из исходников и объявленных контрактов: HTTP-вызовов, Kafka-топиков и конфигурации.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не запись того, что прямо сейчас происходит в проде. Граф показывает обоснованный маршрут для анализа; точные детали добираются RAG-поиском и затем проверяются.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Первый важный момент: базовая карта не требует доступа к работающим сервисам. Мы не вызываем их HTTP API, не читаем production-трафик, не запускаем Maven или Gradle и не исполняем код. Входные данные — checkout репозитория и его конфигурация.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Сначала layout-проход выделяет сервисные модули по дескрипторам сборки, manifest и spring.application.name. Затем Tree-sitter разбирает Java и Kotlin как текстовую структуру: он видит контроллеры, клиентов, Kafka-listener'ы и producer'ы, но ничего не выполняет.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Итог — обычный versioned JSON snapshot с узлами, связями и ссылками на строки исходников. Поэтому быстрый режим можно использовать как воспроизводимый первый проход без запуска модели.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Второй момент — как из исходников получается именно межсервисная связь. Сканер ищет не произвольные слова, а конкретные конструкции: Feign, WebClient, RestTemplate, Spring HTTP Interface, KafkaTemplate и KafkaListener.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Затем он пытается разрешить переменные из properties и простого YAML. Для HTTP он сопоставляет alias или hostname сервиса и нормализованную пару method плюс path. Поэтому /loans/{id} и /loans/{loanId} — один шаблон, а одинаковый путь у двух сервисов не становится случайной связью.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Kafka проще и строже: producer и consumer связываются по точному имени topic. После сопоставления у ребра остаётся evidence: репозиторий, commit, файл, строка, snippet и имя extractor. В любой момент можно открыть, почему эта линия вообще появилась.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Статический граф не является истиной о production. Reflection, dynamic URL, profiles, gateway rewrite и внешняя конфигурация могут менять маршрут. Поэтому для нас важнее не спрятать это ограничение, а оставить его видимым.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связи есть уровень уверенности. DECLARED и HIGH подходят, чтобы идти дальше по маршруту. MEDIUM и LOW — это гипотезы, которые должны попасть в план как пункт проверки. Если целей несколько или их нельзя вывести, связь остаётся UNRESOLVED.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Есть точный режим с GigaCode, но его роль ограничена: модель проверяет уже найденные кандидаты, может подтвердить, отклонить или переназначить цель. Она не может добавить произвольную линию без существующей строки исходника и конкретного target entrypoint. Базовый статический граф от этой опции не зависит.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показываем рабочую механику. Планирование начинается не с «какой код написать», а с поиска точки входа. После неё граф сужает область, RAG поднимает детали, а сервисы получают статус подтверждённого или кандидата.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важно для реальной работы: если данных не хватает, процесс не делает вид, что всё понял. Неизвестное остаётся в плане отдельным пунктом и превращается в задачу проверки.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 этого слайда мы объяснили, как достаём знания. Здесь показываем, во что они превращаются. Ответ планировщика теперь имеет одинаковую структуру: короткое резюме для бизнеса, затем сервисная карта, изменения, контракты, тесты, риски, evidence и Jira drafts.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Verifier используется до и после планирования. Он проверяет не красоту текста, а то, не добавили ли в план несуществующий сервис, контракт или файл.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Заменить заглушку реальным скриншотом GigaCode. Лучше показать верх ответа с вызванным skill и часть таблицы плана, где видны service/repository, evidence и unknowns.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 время доклада не читать весь ответ. Подсветить четыре элемента справа: маршрут, источники, конкретные изменения и честно указанные неизвестные.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Заменить заглушку реальным скриншотом GigaCode: вопрос о Jira-пространстве, выбранный проект и итоговую таблицу service → Jira key → URL.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Важно честно назвать границу текущего тестового режима: все задачи создаются в одном выбранном проекте, одна Task на подтверждённый сервис, с назначением на текущего Jira-пользователя. Автоматической маршрутизации по нескольким командным проектам, эпиков и связей этот сценарий пока не обещает.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не надо спорить про магию модели. Правило очень простое: важный факт должен вести к источнику, который можно открыть и проверить.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источника не хватает, не закрываем этот пробел красивой формулировкой. Фиксируем вопрос, владельца решения и следующий шаг проверки.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Финальный тезис: это не просто более удобный поиск. Общий контекст связывает спецификацию, текущее состояние системы, план изменений и постановку задач.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После вывода вернуться к реальным скриншотам или перейти в live demo: вызвать feature skill, показать сервисный план, прогнать аудит и подтвердить создание задач в выбранном Jira-проекте.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f99327379f43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70cb3163014daa" /><Relationship Type="http://schemas.openxmlformats.org/officeDocument/2006/relationships/slideLayout" Target="/ppt/slideLayouts/slideLayout1.xml" Id="R3b077975d85845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077975d85845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9d81eaf5e4d62" /><Relationship Type="http://schemas.openxmlformats.org/officeDocument/2006/relationships/notesSlide" Target="/ppt/notesSlides/notesSlide1.xml" Id="R76dbe3c60a9a4a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6d828be5f4d81" /><Relationship Type="http://schemas.openxmlformats.org/officeDocument/2006/relationships/notesSlide" Target="/ppt/notesSlides/notesSlide2.xml" Id="R9e5187b20d7744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a709c097b4634" /><Relationship Type="http://schemas.openxmlformats.org/officeDocument/2006/relationships/notesSlide" Target="/ppt/notesSlides/notesSlide3.xml" Id="Rb95b4d9528464c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254ebb0a347d1" /><Relationship Type="http://schemas.openxmlformats.org/officeDocument/2006/relationships/notesSlide" Target="/ppt/notesSlides/notesSlide4.xml" Id="R9a66764a7d704b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56db7b52f4ddb" /><Relationship Type="http://schemas.openxmlformats.org/officeDocument/2006/relationships/notesSlide" Target="/ppt/notesSlides/notesSlide5.xml" Id="R8f4b48d735224c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1548b10f24f79" /><Relationship Type="http://schemas.openxmlformats.org/officeDocument/2006/relationships/notesSlide" Target="/ppt/notesSlides/notesSlide6.xml" Id="Rf2abdce3fe5c49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534d3b1fa47d9" /><Relationship Type="http://schemas.openxmlformats.org/officeDocument/2006/relationships/notesSlide" Target="/ppt/notesSlides/notesSlide7.xml" Id="Rb2c6ed58d9bf4a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27d18b64e407c" /><Relationship Type="http://schemas.openxmlformats.org/officeDocument/2006/relationships/notesSlide" Target="/ppt/notesSlides/notesSlide8.xml" Id="R8c5b7491decc4c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f10c63dd14251" /><Relationship Type="http://schemas.openxmlformats.org/officeDocument/2006/relationships/notesSlide" Target="/ppt/notesSlides/notesSlide9.xml" Id="R88d7f8474c3d46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d509615ce4e1c" /><Relationship Type="http://schemas.openxmlformats.org/officeDocument/2006/relationships/notesSlide" Target="/ppt/notesSlides/notesSlide10.xml" Id="R7f6d631e97b347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2bddb6b1b4b84" /><Relationship Type="http://schemas.openxmlformats.org/officeDocument/2006/relationships/notesSlide" Target="/ppt/notesSlides/notesSlide11.xml" Id="R8b0d838f4a8049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6eb7690b84fb2" /><Relationship Type="http://schemas.openxmlformats.org/officeDocument/2006/relationships/notesSlide" Target="/ppt/notesSlides/notesSlide12.xml" Id="Rf05fa646425740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d90beebe848f7" /><Relationship Type="http://schemas.openxmlformats.org/officeDocument/2006/relationships/notesSlide" Target="/ppt/notesSlides/notesSlide13.xml" Id="Ra84c5a9f378444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10afb425d45f1" /><Relationship Type="http://schemas.openxmlformats.org/officeDocument/2006/relationships/notesSlide" Target="/ppt/notesSlides/notesSlide14.xml" Id="R3974d2c0c05042a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4e911475d4035" /><Relationship Type="http://schemas.openxmlformats.org/officeDocument/2006/relationships/notesSlide" Target="/ppt/notesSlides/notesSlide15.xml" Id="Radbcd65ded7b490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be042776d4ace" /><Relationship Type="http://schemas.openxmlformats.org/officeDocument/2006/relationships/notesSlide" Target="/ppt/notesSlides/notesSlide16.xml" Id="Rc6ffa78ad2694fe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459fbc6bc41ab" /><Relationship Type="http://schemas.openxmlformats.org/officeDocument/2006/relationships/notesSlide" Target="/ppt/notesSlides/notesSlide17.xml" Id="Re35ce2a0ec3c4ee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5a41a3d4f4a35" /><Relationship Type="http://schemas.openxmlformats.org/officeDocument/2006/relationships/notesSlide" Target="/ppt/notesSlides/notesSlide18.xml" Id="R8d23649cfee84ca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c460c45e74a3c" /><Relationship Type="http://schemas.openxmlformats.org/officeDocument/2006/relationships/notesSlide" Target="/ppt/notesSlides/notesSlide19.xml" Id="R9208523cc80c46c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0556e3e4d4af2" /><Relationship Type="http://schemas.openxmlformats.org/officeDocument/2006/relationships/notesSlide" Target="/ppt/notesSlides/notesSlide20.xml" Id="R523f1b05e53b47d1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D1B2C"/>
            </a:gs>
            <a:gs pos="100000">
              <a:srgbClr val="040C1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амка слайда">
            <a:extLst xmlns:a="http://schemas.openxmlformats.org/drawingml/2006/main">
              <a:ext uri="{FF2B5EF4-FFF2-40B4-BE49-F238E27FC236}">
                <a16:creationId xmlns:a16="http://schemas.microsoft.com/office/drawing/2014/main" id="{499386F7-B245-4C62-B03C-8700184F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4859000" cy="8191500"/>
          </a:xfrm>
          <a:prstGeom xmlns:a="http://schemas.openxmlformats.org/drawingml/2006/main" prst="roundRect">
            <a:avLst>
              <a:gd name="adj" fmla="val 255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C3145"/>
            </a:solidFill>
            <a:prstDash val="solid"/>
          </a:ln>
        </p:spPr>
      </p:sp>
      <p:sp>
        <p:nvSpPr>
          <p:cNvPr id="2" name="Нижняя разделительная линия">
            <a:extLst xmlns:a="http://schemas.openxmlformats.org/drawingml/2006/main">
              <a:ext uri="{FF2B5EF4-FFF2-40B4-BE49-F238E27FC236}">
                <a16:creationId xmlns:a16="http://schemas.microsoft.com/office/drawing/2014/main" id="{19A3826F-BDEE-4A45-99AF-6D3A21C1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Тема презентации">
            <a:extLst xmlns:a="http://schemas.openxmlformats.org/drawingml/2006/main">
              <a:ext uri="{FF2B5EF4-FFF2-40B4-BE49-F238E27FC236}">
                <a16:creationId xmlns:a16="http://schemas.microsoft.com/office/drawing/2014/main" id="{E3629EBC-C6E5-4F9D-9CB5-02D44111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4B8C9"/>
                </a:solidFill>
                <a:latin typeface="Arial"/>
                <a:ea typeface="Arial"/>
                <a:cs typeface="Arial"/>
              </a:rPr>
              <a:t>RAG  /  SDD  /  300+ МИКРОСЕРВИСОВ</a:t>
            </a:r>
          </a:p>
        </p:txBody>
      </p:sp>
      <p:sp>
        <p:nvSpPr>
          <p:cNvPr id="4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57D2289B-BA5D-43C6-BF26-AD85DC30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77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01 / 20</a:t>
            </a:r>
          </a:p>
        </p:txBody>
      </p:sp>
      <p:sp>
        <p:nvSpPr>
          <p:cNvPr id="5" name="Надзаголовок">
            <a:extLst xmlns:a="http://schemas.openxmlformats.org/drawingml/2006/main">
              <a:ext uri="{FF2B5EF4-FFF2-40B4-BE49-F238E27FC236}">
                <a16:creationId xmlns:a16="http://schemas.microsoft.com/office/drawing/2014/main" id="{972F736C-72F8-43DF-8C2E-5C0393CB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369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КОРПОРАТИВНАЯ РАЗРАБОТКА · RAG · SDD</a:t>
            </a:r>
          </a:p>
        </p:txBody>
      </p:sp>
      <p:sp>
        <p:nvSpPr>
          <p:cNvPr id="6" name="Титульный заголовок">
            <a:extLst xmlns:a="http://schemas.openxmlformats.org/drawingml/2006/main">
              <a:ext uri="{FF2B5EF4-FFF2-40B4-BE49-F238E27FC236}">
                <a16:creationId xmlns:a16="http://schemas.microsoft.com/office/drawing/2014/main" id="{ABBE3F5D-776B-4013-8DF4-51015568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38112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5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Применение RAG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5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в SDD-разработке АС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5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с 300+ микросервисами</a:t>
            </a:r>
          </a:p>
        </p:txBody>
      </p:sp>
      <p:sp>
        <p:nvSpPr>
          <p:cNvPr id="7" name="Титульный акцент">
            <a:extLst xmlns:a="http://schemas.openxmlformats.org/drawingml/2006/main">
              <a:ext uri="{FF2B5EF4-FFF2-40B4-BE49-F238E27FC236}">
                <a16:creationId xmlns:a16="http://schemas.microsoft.com/office/drawing/2014/main" id="{D0A41A81-AA20-4760-AEF3-4EABF289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Титульный акцент 2">
            <a:extLst xmlns:a="http://schemas.openxmlformats.org/drawingml/2006/main">
              <a:ext uri="{FF2B5EF4-FFF2-40B4-BE49-F238E27FC236}">
                <a16:creationId xmlns:a16="http://schemas.microsoft.com/office/drawing/2014/main" id="{B41E3B10-822D-46E2-A613-8C62F9C1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05425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9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Подзаголовок">
            <a:extLst xmlns:a="http://schemas.openxmlformats.org/drawingml/2006/main">
              <a:ext uri="{FF2B5EF4-FFF2-40B4-BE49-F238E27FC236}">
                <a16:creationId xmlns:a16="http://schemas.microsoft.com/office/drawing/2014/main" id="{68186AF0-633C-4C45-8121-836CB94D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21920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32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От короткого требования — к проверяемому плану изменений, связанному с документами, кодом и зависимостями системы.</a:t>
            </a:r>
          </a:p>
        </p:txBody>
      </p:sp>
      <p:sp>
        <p:nvSpPr>
          <p:cNvPr id="10" name="Темы выступления">
            <a:extLst xmlns:a="http://schemas.openxmlformats.org/drawingml/2006/main">
              <a:ext uri="{FF2B5EF4-FFF2-40B4-BE49-F238E27FC236}">
                <a16:creationId xmlns:a16="http://schemas.microsoft.com/office/drawing/2014/main" id="{17B4936F-1B7A-4757-8715-7EDD083A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05675"/>
            <a:ext cx="1219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проблема    /    решение    /   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545208169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D1B2C"/>
            </a:gs>
            <a:gs pos="100000">
              <a:srgbClr val="040C1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Рамка слайда">
            <a:extLst xmlns:a="http://schemas.openxmlformats.org/drawingml/2006/main">
              <a:ext uri="{FF2B5EF4-FFF2-40B4-BE49-F238E27FC236}">
                <a16:creationId xmlns:a16="http://schemas.microsoft.com/office/drawing/2014/main" id="{5A80D373-311A-4C93-8FD8-08300F25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4859000" cy="8191500"/>
          </a:xfrm>
          <a:prstGeom xmlns:a="http://schemas.openxmlformats.org/drawingml/2006/main" prst="roundRect">
            <a:avLst>
              <a:gd name="adj" fmla="val 255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C3145"/>
            </a:solidFill>
            <a:prstDash val="solid"/>
          </a:ln>
        </p:spPr>
      </p:sp>
      <p:sp>
        <p:nvSpPr>
          <p:cNvPr id="2" name="Нижняя разделительная линия">
            <a:extLst xmlns:a="http://schemas.openxmlformats.org/drawingml/2006/main">
              <a:ext uri="{FF2B5EF4-FFF2-40B4-BE49-F238E27FC236}">
                <a16:creationId xmlns:a16="http://schemas.microsoft.com/office/drawing/2014/main" id="{2448C17D-7309-45EF-A2EB-E00C05CA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Тема презентации">
            <a:extLst xmlns:a="http://schemas.openxmlformats.org/drawingml/2006/main">
              <a:ext uri="{FF2B5EF4-FFF2-40B4-BE49-F238E27FC236}">
                <a16:creationId xmlns:a16="http://schemas.microsoft.com/office/drawing/2014/main" id="{E3F578CC-5E90-47A2-9528-A7743C4B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4B8C9"/>
                </a:solidFill>
                <a:latin typeface="Arial"/>
                <a:ea typeface="Arial"/>
                <a:cs typeface="Arial"/>
              </a:rPr>
              <a:t>RAG  /  SDD  /  300+ МИКРОСЕРВИСОВ</a:t>
            </a:r>
          </a:p>
        </p:txBody>
      </p:sp>
      <p:sp>
        <p:nvSpPr>
          <p:cNvPr id="4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16490156-78D7-476F-810A-49550645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77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02 / 20</a:t>
            </a:r>
          </a:p>
        </p:txBody>
      </p:sp>
      <p:sp>
        <p:nvSpPr>
          <p:cNvPr id="5" name="Надзаголовок">
            <a:extLst xmlns:a="http://schemas.openxmlformats.org/drawingml/2006/main">
              <a:ext uri="{FF2B5EF4-FFF2-40B4-BE49-F238E27FC236}">
                <a16:creationId xmlns:a16="http://schemas.microsoft.com/office/drawing/2014/main" id="{092DBF8C-29BD-4DFB-B274-4FF9372A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"/>
            <a:ext cx="1369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ИСХОДНЫЕ ДАННЫЕ ДЛЯ ПЛАНИРОВАНИЯ</a:t>
            </a:r>
          </a:p>
        </p:txBody>
      </p:sp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2378A691-375E-4168-B4B2-7C688C60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Анализ требований и текущего состояния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BD73"/>
                </a:solidFill>
                <a:latin typeface="Arial"/>
                <a:ea typeface="Arial"/>
                <a:cs typeface="Arial"/>
              </a:rPr>
              <a:t>перед планированием изменений</a:t>
            </a:r>
          </a:p>
        </p:txBody>
      </p:sp>
      <p:sp>
        <p:nvSpPr>
          <p:cNvPr id="7" name="Переход 1">
            <a:extLst xmlns:a="http://schemas.openxmlformats.org/drawingml/2006/main">
              <a:ext uri="{FF2B5EF4-FFF2-40B4-BE49-F238E27FC236}">
                <a16:creationId xmlns:a16="http://schemas.microsoft.com/office/drawing/2014/main" id="{D07DED5A-471C-4A7B-B962-FEE97806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0395" y="4438650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Переход 2">
            <a:extLst xmlns:a="http://schemas.openxmlformats.org/drawingml/2006/main">
              <a:ext uri="{FF2B5EF4-FFF2-40B4-BE49-F238E27FC236}">
                <a16:creationId xmlns:a16="http://schemas.microsoft.com/office/drawing/2014/main" id="{14E4FC90-6360-41D0-8251-26F03D55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465" y="4438650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Переход 3">
            <a:extLst xmlns:a="http://schemas.openxmlformats.org/drawingml/2006/main">
              <a:ext uri="{FF2B5EF4-FFF2-40B4-BE49-F238E27FC236}">
                <a16:creationId xmlns:a16="http://schemas.microsoft.com/office/drawing/2014/main" id="{4BF56F48-F8B4-45ED-8207-BAED1932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2535" y="4438650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Переход 4">
            <a:extLst xmlns:a="http://schemas.openxmlformats.org/drawingml/2006/main">
              <a:ext uri="{FF2B5EF4-FFF2-40B4-BE49-F238E27FC236}">
                <a16:creationId xmlns:a16="http://schemas.microsoft.com/office/drawing/2014/main" id="{DA8E9B7A-BF18-45DA-8625-176B4875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8605" y="4438650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Шаг 1">
            <a:extLst xmlns:a="http://schemas.openxmlformats.org/drawingml/2006/main">
              <a:ext uri="{FF2B5EF4-FFF2-40B4-BE49-F238E27FC236}">
                <a16:creationId xmlns:a16="http://schemas.microsoft.com/office/drawing/2014/main" id="{70E70B4C-DC7C-4613-A012-282DAA78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331720" cy="2552700"/>
          </a:xfrm>
          <a:prstGeom xmlns:a="http://schemas.openxmlformats.org/drawingml/2006/main" prst="roundRect">
            <a:avLst>
              <a:gd name="adj" fmla="val 8170"/>
            </a:avLst>
          </a:prstGeom>
          <a:solidFill xmlns:a="http://schemas.openxmlformats.org/drawingml/2006/main">
            <a:srgbClr val="0D1B2C"/>
          </a:solidFill>
          <a:ln xmlns:a="http://schemas.openxmlformats.org/drawingml/2006/main" w="14288">
            <a:solidFill>
              <a:srgbClr val="28425A"/>
            </a:solidFill>
            <a:prstDash val="solid"/>
          </a:ln>
        </p:spPr>
      </p:sp>
      <p:sp>
        <p:nvSpPr>
          <p:cNvPr id="12" name="Акцент шага 1">
            <a:extLst xmlns:a="http://schemas.openxmlformats.org/drawingml/2006/main">
              <a:ext uri="{FF2B5EF4-FFF2-40B4-BE49-F238E27FC236}">
                <a16:creationId xmlns:a16="http://schemas.microsoft.com/office/drawing/2014/main" id="{8B3C2CDF-D5C1-46A8-94AA-36F0EFEE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187452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Название шага 1">
            <a:extLst xmlns:a="http://schemas.openxmlformats.org/drawingml/2006/main">
              <a:ext uri="{FF2B5EF4-FFF2-40B4-BE49-F238E27FC236}">
                <a16:creationId xmlns:a16="http://schemas.microsoft.com/office/drawing/2014/main" id="{042E3686-B4A4-4097-9AC3-36CF6973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214122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Задача</a:t>
            </a:r>
          </a:p>
        </p:txBody>
      </p:sp>
      <p:sp>
        <p:nvSpPr>
          <p:cNvPr id="14" name="Описание шага 1">
            <a:extLst xmlns:a="http://schemas.openxmlformats.org/drawingml/2006/main">
              <a:ext uri="{FF2B5EF4-FFF2-40B4-BE49-F238E27FC236}">
                <a16:creationId xmlns:a16="http://schemas.microsoft.com/office/drawing/2014/main" id="{3C0439BA-E715-49DA-8067-25450C83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724400"/>
            <a:ext cx="200787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что должно измениться для пользователя</a:t>
            </a:r>
          </a:p>
        </p:txBody>
      </p:sp>
      <p:sp>
        <p:nvSpPr>
          <p:cNvPr id="15" name="Шаг 2">
            <a:extLst xmlns:a="http://schemas.openxmlformats.org/drawingml/2006/main">
              <a:ext uri="{FF2B5EF4-FFF2-40B4-BE49-F238E27FC236}">
                <a16:creationId xmlns:a16="http://schemas.microsoft.com/office/drawing/2014/main" id="{D7E900D0-6BC5-462B-8444-C8CEE51E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070" y="3333750"/>
            <a:ext cx="2331720" cy="2552700"/>
          </a:xfrm>
          <a:prstGeom xmlns:a="http://schemas.openxmlformats.org/drawingml/2006/main" prst="roundRect">
            <a:avLst>
              <a:gd name="adj" fmla="val 8170"/>
            </a:avLst>
          </a:prstGeom>
          <a:solidFill xmlns:a="http://schemas.openxmlformats.org/drawingml/2006/main">
            <a:srgbClr val="0D1B2C"/>
          </a:solidFill>
          <a:ln xmlns:a="http://schemas.openxmlformats.org/drawingml/2006/main" w="14288">
            <a:solidFill>
              <a:srgbClr val="28425A"/>
            </a:solidFill>
            <a:prstDash val="solid"/>
          </a:ln>
        </p:spPr>
      </p:sp>
      <p:sp>
        <p:nvSpPr>
          <p:cNvPr id="16" name="Акцент шага 2">
            <a:extLst xmlns:a="http://schemas.openxmlformats.org/drawingml/2006/main">
              <a:ext uri="{FF2B5EF4-FFF2-40B4-BE49-F238E27FC236}">
                <a16:creationId xmlns:a16="http://schemas.microsoft.com/office/drawing/2014/main" id="{DC813766-98BB-4F9F-82A1-A3B9DBE1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670" y="3333750"/>
            <a:ext cx="187452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9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Название шага 2">
            <a:extLst xmlns:a="http://schemas.openxmlformats.org/drawingml/2006/main">
              <a:ext uri="{FF2B5EF4-FFF2-40B4-BE49-F238E27FC236}">
                <a16:creationId xmlns:a16="http://schemas.microsoft.com/office/drawing/2014/main" id="{4AC13461-D8FC-4356-9F32-8754D8F6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648075"/>
            <a:ext cx="214122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Кто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отвечает</a:t>
            </a:r>
          </a:p>
        </p:txBody>
      </p:sp>
      <p:sp>
        <p:nvSpPr>
          <p:cNvPr id="18" name="Описание шага 2">
            <a:extLst xmlns:a="http://schemas.openxmlformats.org/drawingml/2006/main">
              <a:ext uri="{FF2B5EF4-FFF2-40B4-BE49-F238E27FC236}">
                <a16:creationId xmlns:a16="http://schemas.microsoft.com/office/drawing/2014/main" id="{901FA6A9-AFFA-4501-9600-FD4D57C4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995" y="4724400"/>
            <a:ext cx="200787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где начинается процесс и кто его меняет</a:t>
            </a:r>
          </a:p>
        </p:txBody>
      </p:sp>
      <p:sp>
        <p:nvSpPr>
          <p:cNvPr id="19" name="Шаг 3">
            <a:extLst xmlns:a="http://schemas.openxmlformats.org/drawingml/2006/main">
              <a:ext uri="{FF2B5EF4-FFF2-40B4-BE49-F238E27FC236}">
                <a16:creationId xmlns:a16="http://schemas.microsoft.com/office/drawing/2014/main" id="{9CA098F8-1ECC-4AFF-A46C-A4FE814E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140" y="3333750"/>
            <a:ext cx="2331720" cy="2552700"/>
          </a:xfrm>
          <a:prstGeom xmlns:a="http://schemas.openxmlformats.org/drawingml/2006/main" prst="roundRect">
            <a:avLst>
              <a:gd name="adj" fmla="val 8170"/>
            </a:avLst>
          </a:prstGeom>
          <a:solidFill xmlns:a="http://schemas.openxmlformats.org/drawingml/2006/main">
            <a:srgbClr val="0D1B2C"/>
          </a:solidFill>
          <a:ln xmlns:a="http://schemas.openxmlformats.org/drawingml/2006/main" w="14288">
            <a:solidFill>
              <a:srgbClr val="28425A"/>
            </a:solidFill>
            <a:prstDash val="solid"/>
          </a:ln>
        </p:spPr>
      </p:sp>
      <p:sp>
        <p:nvSpPr>
          <p:cNvPr id="20" name="Акцент шага 3">
            <a:extLst xmlns:a="http://schemas.openxmlformats.org/drawingml/2006/main">
              <a:ext uri="{FF2B5EF4-FFF2-40B4-BE49-F238E27FC236}">
                <a16:creationId xmlns:a16="http://schemas.microsoft.com/office/drawing/2014/main" id="{EA20AB86-1B5B-4AFE-A90B-7255BF25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740" y="3333750"/>
            <a:ext cx="187452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3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Название шага 3">
            <a:extLst xmlns:a="http://schemas.openxmlformats.org/drawingml/2006/main">
              <a:ext uri="{FF2B5EF4-FFF2-40B4-BE49-F238E27FC236}">
                <a16:creationId xmlns:a16="http://schemas.microsoft.com/office/drawing/2014/main" id="{A28C6251-9216-4F54-BD27-7F469025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390" y="3648075"/>
            <a:ext cx="214122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Что уже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работает</a:t>
            </a:r>
          </a:p>
        </p:txBody>
      </p:sp>
      <p:sp>
        <p:nvSpPr>
          <p:cNvPr id="22" name="Описание шага 3">
            <a:extLst xmlns:a="http://schemas.openxmlformats.org/drawingml/2006/main">
              <a:ext uri="{FF2B5EF4-FFF2-40B4-BE49-F238E27FC236}">
                <a16:creationId xmlns:a16="http://schemas.microsoft.com/office/drawing/2014/main" id="{0652C023-5F6A-47D1-9994-71F16CF7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065" y="4724400"/>
            <a:ext cx="200787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правила · код · спецификации · ADR</a:t>
            </a:r>
          </a:p>
        </p:txBody>
      </p:sp>
      <p:sp>
        <p:nvSpPr>
          <p:cNvPr id="23" name="Шаг 4">
            <a:extLst xmlns:a="http://schemas.openxmlformats.org/drawingml/2006/main">
              <a:ext uri="{FF2B5EF4-FFF2-40B4-BE49-F238E27FC236}">
                <a16:creationId xmlns:a16="http://schemas.microsoft.com/office/drawing/2014/main" id="{AB242E1B-9049-4E82-9EFD-8E22769D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0210" y="3333750"/>
            <a:ext cx="2331720" cy="2552700"/>
          </a:xfrm>
          <a:prstGeom xmlns:a="http://schemas.openxmlformats.org/drawingml/2006/main" prst="roundRect">
            <a:avLst>
              <a:gd name="adj" fmla="val 8170"/>
            </a:avLst>
          </a:prstGeom>
          <a:solidFill xmlns:a="http://schemas.openxmlformats.org/drawingml/2006/main">
            <a:srgbClr val="0D1B2C"/>
          </a:solidFill>
          <a:ln xmlns:a="http://schemas.openxmlformats.org/drawingml/2006/main" w="14288">
            <a:solidFill>
              <a:srgbClr val="28425A"/>
            </a:solidFill>
            <a:prstDash val="solid"/>
          </a:ln>
        </p:spPr>
      </p:sp>
      <p:sp>
        <p:nvSpPr>
          <p:cNvPr id="24" name="Акцент шага 4">
            <a:extLst xmlns:a="http://schemas.openxmlformats.org/drawingml/2006/main">
              <a:ext uri="{FF2B5EF4-FFF2-40B4-BE49-F238E27FC236}">
                <a16:creationId xmlns:a16="http://schemas.microsoft.com/office/drawing/2014/main" id="{97C47780-825D-418A-93AE-39694BBE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810" y="3333750"/>
            <a:ext cx="187452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Название шага 4">
            <a:extLst xmlns:a="http://schemas.openxmlformats.org/drawingml/2006/main">
              <a:ext uri="{FF2B5EF4-FFF2-40B4-BE49-F238E27FC236}">
                <a16:creationId xmlns:a16="http://schemas.microsoft.com/office/drawing/2014/main" id="{005C5950-140B-425C-9684-5FB49C35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460" y="3648075"/>
            <a:ext cx="214122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Кого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заденет</a:t>
            </a:r>
          </a:p>
        </p:txBody>
      </p:sp>
      <p:sp>
        <p:nvSpPr>
          <p:cNvPr id="26" name="Описание шага 4">
            <a:extLst xmlns:a="http://schemas.openxmlformats.org/drawingml/2006/main">
              <a:ext uri="{FF2B5EF4-FFF2-40B4-BE49-F238E27FC236}">
                <a16:creationId xmlns:a16="http://schemas.microsoft.com/office/drawing/2014/main" id="{A3682E07-10F4-4011-8F95-2866E4B9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2135" y="4724400"/>
            <a:ext cx="200787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API · Kafka · данные · другие команды</a:t>
            </a:r>
          </a:p>
        </p:txBody>
      </p:sp>
      <p:sp>
        <p:nvSpPr>
          <p:cNvPr id="27" name="Шаг 5">
            <a:extLst xmlns:a="http://schemas.openxmlformats.org/drawingml/2006/main">
              <a:ext uri="{FF2B5EF4-FFF2-40B4-BE49-F238E27FC236}">
                <a16:creationId xmlns:a16="http://schemas.microsoft.com/office/drawing/2014/main" id="{3ABF50D6-FB7C-44EC-BD39-0EA68E5D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6280" y="3333750"/>
            <a:ext cx="2331720" cy="2552700"/>
          </a:xfrm>
          <a:prstGeom xmlns:a="http://schemas.openxmlformats.org/drawingml/2006/main" prst="roundRect">
            <a:avLst>
              <a:gd name="adj" fmla="val 8170"/>
            </a:avLst>
          </a:prstGeom>
          <a:solidFill xmlns:a="http://schemas.openxmlformats.org/drawingml/2006/main">
            <a:srgbClr val="0D1B2C"/>
          </a:solidFill>
          <a:ln xmlns:a="http://schemas.openxmlformats.org/drawingml/2006/main" w="14288">
            <a:solidFill>
              <a:srgbClr val="28425A"/>
            </a:solidFill>
            <a:prstDash val="solid"/>
          </a:ln>
        </p:spPr>
      </p:sp>
      <p:sp>
        <p:nvSpPr>
          <p:cNvPr id="28" name="Акцент шага 5">
            <a:extLst xmlns:a="http://schemas.openxmlformats.org/drawingml/2006/main">
              <a:ext uri="{FF2B5EF4-FFF2-40B4-BE49-F238E27FC236}">
                <a16:creationId xmlns:a16="http://schemas.microsoft.com/office/drawing/2014/main" id="{ACF42AC6-339B-4FEE-A216-BE562185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4880" y="3333750"/>
            <a:ext cx="187452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Название шага 5">
            <a:extLst xmlns:a="http://schemas.openxmlformats.org/drawingml/2006/main">
              <a:ext uri="{FF2B5EF4-FFF2-40B4-BE49-F238E27FC236}">
                <a16:creationId xmlns:a16="http://schemas.microsoft.com/office/drawing/2014/main" id="{01C7EF9A-D608-447E-99EE-11F99E6E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1530" y="3648075"/>
            <a:ext cx="214122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Что делать</a:t>
            </a:r>
          </a:p>
        </p:txBody>
      </p:sp>
      <p:sp>
        <p:nvSpPr>
          <p:cNvPr id="30" name="Описание шага 5">
            <a:extLst xmlns:a="http://schemas.openxmlformats.org/drawingml/2006/main">
              <a:ext uri="{FF2B5EF4-FFF2-40B4-BE49-F238E27FC236}">
                <a16:creationId xmlns:a16="http://schemas.microsoft.com/office/drawing/2014/main" id="{32F54C1C-95DC-4512-A5D8-20CB66F3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8205" y="4724400"/>
            <a:ext cx="200787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сервисы · тесты · порядок изменений</a:t>
            </a:r>
          </a:p>
        </p:txBody>
      </p:sp>
      <p:sp>
        <p:nvSpPr>
          <p:cNvPr id="31" name="Акцент вывода">
            <a:extLst xmlns:a="http://schemas.openxmlformats.org/drawingml/2006/main">
              <a:ext uri="{FF2B5EF4-FFF2-40B4-BE49-F238E27FC236}">
                <a16:creationId xmlns:a16="http://schemas.microsoft.com/office/drawing/2014/main" id="{15E0D15E-D36E-4493-BB8F-4822CB36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72275"/>
            <a:ext cx="381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Ключевой вывод">
            <a:extLst xmlns:a="http://schemas.openxmlformats.org/drawingml/2006/main">
              <a:ext uri="{FF2B5EF4-FFF2-40B4-BE49-F238E27FC236}">
                <a16:creationId xmlns:a16="http://schemas.microsoft.com/office/drawing/2014/main" id="{4E34762D-1207-4F85-8906-87F8BC53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34207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Код писать пока рано:</a:t>
            </a:r>
            <a:r>
              <a:rPr sz="180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 сначала надо подтвердить текущее поведение, владельцев, контракты и границы изменения.</a:t>
            </a:r>
          </a:p>
        </p:txBody>
      </p:sp>
    </p:spTree>
    <p:extLst>
      <p:ext uri="{BB962C8B-B14F-4D97-AF65-F5344CB8AC3E}">
        <p14:creationId xmlns:p14="http://schemas.microsoft.com/office/powerpoint/2010/main" val="939164047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D1B2C"/>
            </a:gs>
            <a:gs pos="100000">
              <a:srgbClr val="040C1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Рамка слайда">
            <a:extLst xmlns:a="http://schemas.openxmlformats.org/drawingml/2006/main">
              <a:ext uri="{FF2B5EF4-FFF2-40B4-BE49-F238E27FC236}">
                <a16:creationId xmlns:a16="http://schemas.microsoft.com/office/drawing/2014/main" id="{9C35BAFF-A0B4-499D-848F-3F000CA7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4859000" cy="8191500"/>
          </a:xfrm>
          <a:prstGeom xmlns:a="http://schemas.openxmlformats.org/drawingml/2006/main" prst="roundRect">
            <a:avLst>
              <a:gd name="adj" fmla="val 255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C3145"/>
            </a:solidFill>
            <a:prstDash val="solid"/>
          </a:ln>
        </p:spPr>
      </p:sp>
      <p:sp>
        <p:nvSpPr>
          <p:cNvPr id="2" name="Нижняя разделительная линия">
            <a:extLst xmlns:a="http://schemas.openxmlformats.org/drawingml/2006/main">
              <a:ext uri="{FF2B5EF4-FFF2-40B4-BE49-F238E27FC236}">
                <a16:creationId xmlns:a16="http://schemas.microsoft.com/office/drawing/2014/main" id="{893B94A1-66BF-484E-9887-D20B2855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Тема презентации">
            <a:extLst xmlns:a="http://schemas.openxmlformats.org/drawingml/2006/main">
              <a:ext uri="{FF2B5EF4-FFF2-40B4-BE49-F238E27FC236}">
                <a16:creationId xmlns:a16="http://schemas.microsoft.com/office/drawing/2014/main" id="{25362556-9B0B-4DEF-A217-19CD914B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4B8C9"/>
                </a:solidFill>
                <a:latin typeface="Arial"/>
                <a:ea typeface="Arial"/>
                <a:cs typeface="Arial"/>
              </a:rPr>
              <a:t>RAG  /  SDD  /  300+ МИКРОСЕРВИСОВ</a:t>
            </a:r>
          </a:p>
        </p:txBody>
      </p:sp>
      <p:sp>
        <p:nvSpPr>
          <p:cNvPr id="4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6EF41192-B262-4873-91E7-F397CC8E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77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03 / 20</a:t>
            </a:r>
          </a:p>
        </p:txBody>
      </p:sp>
      <p:sp>
        <p:nvSpPr>
          <p:cNvPr id="5" name="Надзаголовок">
            <a:extLst xmlns:a="http://schemas.openxmlformats.org/drawingml/2006/main">
              <a:ext uri="{FF2B5EF4-FFF2-40B4-BE49-F238E27FC236}">
                <a16:creationId xmlns:a16="http://schemas.microsoft.com/office/drawing/2014/main" id="{E5CAB2BE-7D52-4151-AB1D-ADF556A5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"/>
            <a:ext cx="1369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МАСШТАБ И ЗАВИСИМОСТИ СИСТЕМЫ</a:t>
            </a:r>
          </a:p>
        </p:txBody>
      </p:sp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35110B8E-E49F-41F0-B452-CCD765DA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Планирование изменений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7C8B"/>
                </a:solidFill>
                <a:latin typeface="Arial"/>
                <a:ea typeface="Arial"/>
                <a:cs typeface="Arial"/>
              </a:rPr>
              <a:t>в системе из 300+ микросервисов</a:t>
            </a:r>
          </a:p>
        </p:txBody>
      </p:sp>
      <p:sp>
        <p:nvSpPr>
          <p:cNvPr id="7" name="Масштаб">
            <a:extLst xmlns:a="http://schemas.openxmlformats.org/drawingml/2006/main">
              <a:ext uri="{FF2B5EF4-FFF2-40B4-BE49-F238E27FC236}">
                <a16:creationId xmlns:a16="http://schemas.microsoft.com/office/drawing/2014/main" id="{6CB2D882-ED58-4217-BCF1-5EDCD896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61962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2450" b="1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24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300+</a:t>
            </a:r>
          </a:p>
        </p:txBody>
      </p:sp>
      <p:sp>
        <p:nvSpPr>
          <p:cNvPr id="8" name="Единицы масштаба">
            <a:extLst xmlns:a="http://schemas.openxmlformats.org/drawingml/2006/main">
              <a:ext uri="{FF2B5EF4-FFF2-40B4-BE49-F238E27FC236}">
                <a16:creationId xmlns:a16="http://schemas.microsoft.com/office/drawing/2014/main" id="{11C85B36-5DCD-4DA2-BC2E-3A1259CB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24475"/>
            <a:ext cx="41338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сервисов, репозиториев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и контекстов команд</a:t>
            </a:r>
          </a:p>
        </p:txBody>
      </p:sp>
      <p:sp>
        <p:nvSpPr>
          <p:cNvPr id="9" name="Акцент границы 0">
            <a:extLst xmlns:a="http://schemas.openxmlformats.org/drawingml/2006/main">
              <a:ext uri="{FF2B5EF4-FFF2-40B4-BE49-F238E27FC236}">
                <a16:creationId xmlns:a16="http://schemas.microsoft.com/office/drawing/2014/main" id="{84655B5C-B6CE-43D5-A111-BD03C3C1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219450"/>
            <a:ext cx="381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Граница 0">
            <a:extLst xmlns:a="http://schemas.openxmlformats.org/drawingml/2006/main">
              <a:ext uri="{FF2B5EF4-FFF2-40B4-BE49-F238E27FC236}">
                <a16:creationId xmlns:a16="http://schemas.microsoft.com/office/drawing/2014/main" id="{AEC0EC88-0626-430E-ABE2-613BA1A0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48025"/>
            <a:ext cx="8258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У сервисов разные владельцы и релизы</a:t>
            </a:r>
          </a:p>
        </p:txBody>
      </p:sp>
      <p:sp>
        <p:nvSpPr>
          <p:cNvPr id="11" name="Последствие 0">
            <a:extLst xmlns:a="http://schemas.openxmlformats.org/drawingml/2006/main">
              <a:ext uri="{FF2B5EF4-FFF2-40B4-BE49-F238E27FC236}">
                <a16:creationId xmlns:a16="http://schemas.microsoft.com/office/drawing/2014/main" id="{BE65B7B1-9A5E-4687-83C9-598B377C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24275"/>
            <a:ext cx="82486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Одна команда не может за другую принять решение, изменить контракт или выпустить сервис.</a:t>
            </a:r>
          </a:p>
        </p:txBody>
      </p:sp>
      <p:sp>
        <p:nvSpPr>
          <p:cNvPr id="12" name="Разделитель 0">
            <a:extLst xmlns:a="http://schemas.openxmlformats.org/drawingml/2006/main">
              <a:ext uri="{FF2B5EF4-FFF2-40B4-BE49-F238E27FC236}">
                <a16:creationId xmlns:a16="http://schemas.microsoft.com/office/drawing/2014/main" id="{F46C7C48-A183-4335-B644-78628CB9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86275"/>
            <a:ext cx="824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Акцент границы 1">
            <a:extLst xmlns:a="http://schemas.openxmlformats.org/drawingml/2006/main">
              <a:ext uri="{FF2B5EF4-FFF2-40B4-BE49-F238E27FC236}">
                <a16:creationId xmlns:a16="http://schemas.microsoft.com/office/drawing/2014/main" id="{7DE35B8C-E488-4F8F-9B6F-A517EE6D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600575"/>
            <a:ext cx="381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Граница 1">
            <a:extLst xmlns:a="http://schemas.openxmlformats.org/drawingml/2006/main">
              <a:ext uri="{FF2B5EF4-FFF2-40B4-BE49-F238E27FC236}">
                <a16:creationId xmlns:a16="http://schemas.microsoft.com/office/drawing/2014/main" id="{32C70ECF-409B-49FE-ABCF-96BA4EF8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29150"/>
            <a:ext cx="8258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Границы проходят не только по коду</a:t>
            </a:r>
          </a:p>
        </p:txBody>
      </p:sp>
      <p:sp>
        <p:nvSpPr>
          <p:cNvPr id="15" name="Последствие 1">
            <a:extLst xmlns:a="http://schemas.openxmlformats.org/drawingml/2006/main">
              <a:ext uri="{FF2B5EF4-FFF2-40B4-BE49-F238E27FC236}">
                <a16:creationId xmlns:a16="http://schemas.microsoft.com/office/drawing/2014/main" id="{72CDF97E-122A-4A81-8EC4-C97D1496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105400"/>
            <a:ext cx="82486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HTTP, Kafka, данные, права доступа и правила бизнеса связывают репозитории между собой.</a:t>
            </a:r>
          </a:p>
        </p:txBody>
      </p:sp>
      <p:sp>
        <p:nvSpPr>
          <p:cNvPr id="16" name="Разделитель 1">
            <a:extLst xmlns:a="http://schemas.openxmlformats.org/drawingml/2006/main">
              <a:ext uri="{FF2B5EF4-FFF2-40B4-BE49-F238E27FC236}">
                <a16:creationId xmlns:a16="http://schemas.microsoft.com/office/drawing/2014/main" id="{D0BCDFBE-A4B1-4F35-9A2A-6FA34B12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867400"/>
            <a:ext cx="824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Акцент границы 2">
            <a:extLst xmlns:a="http://schemas.openxmlformats.org/drawingml/2006/main">
              <a:ext uri="{FF2B5EF4-FFF2-40B4-BE49-F238E27FC236}">
                <a16:creationId xmlns:a16="http://schemas.microsoft.com/office/drawing/2014/main" id="{DF4D0473-0875-477D-A833-2FDB59C2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5981700"/>
            <a:ext cx="381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Граница 2">
            <a:extLst xmlns:a="http://schemas.openxmlformats.org/drawingml/2006/main">
              <a:ext uri="{FF2B5EF4-FFF2-40B4-BE49-F238E27FC236}">
                <a16:creationId xmlns:a16="http://schemas.microsoft.com/office/drawing/2014/main" id="{B514A9D0-03ED-4C10-8C01-42268893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010275"/>
            <a:ext cx="8258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Незнание всплывает дорого</a:t>
            </a:r>
          </a:p>
        </p:txBody>
      </p:sp>
      <p:sp>
        <p:nvSpPr>
          <p:cNvPr id="19" name="Последствие 2">
            <a:extLst xmlns:a="http://schemas.openxmlformats.org/drawingml/2006/main">
              <a:ext uri="{FF2B5EF4-FFF2-40B4-BE49-F238E27FC236}">
                <a16:creationId xmlns:a16="http://schemas.microsoft.com/office/drawing/2014/main" id="{72F81B60-9F5F-4333-B854-E7AB3F32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486525"/>
            <a:ext cx="82486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Зависимость, найденная после оценки, превращается в пересогласование, новые задачи и сдвиг срока.</a:t>
            </a:r>
          </a:p>
        </p:txBody>
      </p:sp>
    </p:spTree>
    <p:extLst>
      <p:ext uri="{BB962C8B-B14F-4D97-AF65-F5344CB8AC3E}">
        <p14:creationId xmlns:p14="http://schemas.microsoft.com/office/powerpoint/2010/main" val="1266442937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D1B2C"/>
            </a:gs>
            <a:gs pos="100000">
              <a:srgbClr val="040C1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Рамка слайда">
            <a:extLst xmlns:a="http://schemas.openxmlformats.org/drawingml/2006/main">
              <a:ext uri="{FF2B5EF4-FFF2-40B4-BE49-F238E27FC236}">
                <a16:creationId xmlns:a16="http://schemas.microsoft.com/office/drawing/2014/main" id="{BCEB3163-F248-42CF-A332-66B821C3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4859000" cy="8191500"/>
          </a:xfrm>
          <a:prstGeom xmlns:a="http://schemas.openxmlformats.org/drawingml/2006/main" prst="roundRect">
            <a:avLst>
              <a:gd name="adj" fmla="val 255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C3145"/>
            </a:solidFill>
            <a:prstDash val="solid"/>
          </a:ln>
        </p:spPr>
      </p:sp>
      <p:sp>
        <p:nvSpPr>
          <p:cNvPr id="2" name="Нижняя разделительная линия">
            <a:extLst xmlns:a="http://schemas.openxmlformats.org/drawingml/2006/main">
              <a:ext uri="{FF2B5EF4-FFF2-40B4-BE49-F238E27FC236}">
                <a16:creationId xmlns:a16="http://schemas.microsoft.com/office/drawing/2014/main" id="{576BD146-ADF9-4798-8F8F-B84638B0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Тема презентации">
            <a:extLst xmlns:a="http://schemas.openxmlformats.org/drawingml/2006/main">
              <a:ext uri="{FF2B5EF4-FFF2-40B4-BE49-F238E27FC236}">
                <a16:creationId xmlns:a16="http://schemas.microsoft.com/office/drawing/2014/main" id="{BBDC2F48-F502-4958-9518-C64AA9D0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4B8C9"/>
                </a:solidFill>
                <a:latin typeface="Arial"/>
                <a:ea typeface="Arial"/>
                <a:cs typeface="Arial"/>
              </a:rPr>
              <a:t>RAG  /  SDD  /  300+ МИКРОСЕРВИСОВ</a:t>
            </a:r>
          </a:p>
        </p:txBody>
      </p:sp>
      <p:sp>
        <p:nvSpPr>
          <p:cNvPr id="4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6F4F3309-DE0D-4256-9F33-A726D1ED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77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04 / 20</a:t>
            </a:r>
          </a:p>
        </p:txBody>
      </p:sp>
      <p:sp>
        <p:nvSpPr>
          <p:cNvPr id="5" name="Надзаголовок">
            <a:extLst xmlns:a="http://schemas.openxmlformats.org/drawingml/2006/main">
              <a:ext uri="{FF2B5EF4-FFF2-40B4-BE49-F238E27FC236}">
                <a16:creationId xmlns:a16="http://schemas.microsoft.com/office/drawing/2014/main" id="{98E11FCF-8C7E-4EA3-9C95-B034D847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"/>
            <a:ext cx="1369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ОРГАНИЗАЦИЯ ЗНАНИЙ</a:t>
            </a:r>
          </a:p>
        </p:txBody>
      </p:sp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01E62305-2C2F-48CF-A026-4A445A3C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Ограничения централизованного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7C8B"/>
                </a:solidFill>
                <a:latin typeface="Arial"/>
                <a:ea typeface="Arial"/>
                <a:cs typeface="Arial"/>
              </a:rPr>
              <a:t>ведения знаний</a:t>
            </a:r>
          </a:p>
        </p:txBody>
      </p:sp>
      <p:sp>
        <p:nvSpPr>
          <p:cNvPr id="7" name="Связь двух частей">
            <a:extLst xmlns:a="http://schemas.openxmlformats.org/drawingml/2006/main">
              <a:ext uri="{FF2B5EF4-FFF2-40B4-BE49-F238E27FC236}">
                <a16:creationId xmlns:a16="http://schemas.microsoft.com/office/drawing/2014/main" id="{6D580D6B-6E6E-4F96-B530-2F819A75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14900"/>
            <a:ext cx="4286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4B8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Область сравнения 0">
            <a:extLst xmlns:a="http://schemas.openxmlformats.org/drawingml/2006/main">
              <a:ext uri="{FF2B5EF4-FFF2-40B4-BE49-F238E27FC236}">
                <a16:creationId xmlns:a16="http://schemas.microsoft.com/office/drawing/2014/main" id="{4936E91D-D068-4C11-87A5-C2FAAA9F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6334125" cy="40481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7C8B">
                  <a:alpha val="8000"/>
                </a:srgbClr>
              </a:gs>
              <a:gs pos="100000">
                <a:srgbClr val="0D1B2C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9" name="Акцент сравнения 0">
            <a:extLst xmlns:a="http://schemas.openxmlformats.org/drawingml/2006/main">
              <a:ext uri="{FF2B5EF4-FFF2-40B4-BE49-F238E27FC236}">
                <a16:creationId xmlns:a16="http://schemas.microsoft.com/office/drawing/2014/main" id="{FCF4C6D6-4F84-4ED7-9BD5-7529F703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6334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Заголовок сравнения 0">
            <a:extLst xmlns:a="http://schemas.openxmlformats.org/drawingml/2006/main">
              <a:ext uri="{FF2B5EF4-FFF2-40B4-BE49-F238E27FC236}">
                <a16:creationId xmlns:a16="http://schemas.microsoft.com/office/drawing/2014/main" id="{860E5195-7FDD-4345-A654-2158ACC7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57575"/>
            <a:ext cx="5915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925" b="1">
                <a:solidFill>
                  <a:srgbClr val="FF7C8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7C8B"/>
                </a:solidFill>
                <a:latin typeface="Arial"/>
                <a:ea typeface="Arial"/>
                <a:cs typeface="Arial"/>
              </a:rPr>
              <a:t>Центральная копия</a:t>
            </a:r>
          </a:p>
        </p:txBody>
      </p:sp>
      <p:sp>
        <p:nvSpPr>
          <p:cNvPr id="11" name="Пункты сравнения 0">
            <a:extLst xmlns:a="http://schemas.openxmlformats.org/drawingml/2006/main">
              <a:ext uri="{FF2B5EF4-FFF2-40B4-BE49-F238E27FC236}">
                <a16:creationId xmlns:a16="http://schemas.microsoft.com/office/drawing/2014/main" id="{989B0E9F-B541-4806-8737-D31F820C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5915025" cy="294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Кто-то должен её поддерживать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изменения ждут общего владельца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Копия быстро расходится с кодом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команда уже поменяла сервис, а сводка ещё нет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Поиск всё равно остаётся ручным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нужно понять, какой кусок общего знания относится к задаче</a:t>
            </a:r>
          </a:p>
        </p:txBody>
      </p:sp>
      <p:sp>
        <p:nvSpPr>
          <p:cNvPr id="12" name="Область сравнения 1">
            <a:extLst xmlns:a="http://schemas.openxmlformats.org/drawingml/2006/main">
              <a:ext uri="{FF2B5EF4-FFF2-40B4-BE49-F238E27FC236}">
                <a16:creationId xmlns:a16="http://schemas.microsoft.com/office/drawing/2014/main" id="{B09E30B0-A68E-4C99-B492-23BD7E69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62300"/>
            <a:ext cx="6334125" cy="40481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5CE3A0">
                  <a:alpha val="8000"/>
                </a:srgbClr>
              </a:gs>
              <a:gs pos="100000">
                <a:srgbClr val="0D1B2C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3" name="Акцент сравнения 1">
            <a:extLst xmlns:a="http://schemas.openxmlformats.org/drawingml/2006/main">
              <a:ext uri="{FF2B5EF4-FFF2-40B4-BE49-F238E27FC236}">
                <a16:creationId xmlns:a16="http://schemas.microsoft.com/office/drawing/2014/main" id="{25BA09F6-21DC-4A6C-B168-C2DE9924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62300"/>
            <a:ext cx="6334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3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Заголовок сравнения 1">
            <a:extLst xmlns:a="http://schemas.openxmlformats.org/drawingml/2006/main">
              <a:ext uri="{FF2B5EF4-FFF2-40B4-BE49-F238E27FC236}">
                <a16:creationId xmlns:a16="http://schemas.microsoft.com/office/drawing/2014/main" id="{0908A0F8-4EA5-406B-9DA7-F1AA45DB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457575"/>
            <a:ext cx="5915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925" b="1">
                <a:solidFill>
                  <a:srgbClr val="5CE3A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5CE3A0"/>
                </a:solidFill>
                <a:latin typeface="Arial"/>
                <a:ea typeface="Arial"/>
                <a:cs typeface="Arial"/>
              </a:rPr>
              <a:t>Единый доступ</a:t>
            </a:r>
          </a:p>
        </p:txBody>
      </p:sp>
      <p:sp>
        <p:nvSpPr>
          <p:cNvPr id="15" name="Пункты сравнения 1">
            <a:extLst xmlns:a="http://schemas.openxmlformats.org/drawingml/2006/main">
              <a:ext uri="{FF2B5EF4-FFF2-40B4-BE49-F238E27FC236}">
                <a16:creationId xmlns:a16="http://schemas.microsoft.com/office/drawing/2014/main" id="{EC907680-CAD2-4DD5-9592-86DFB524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48150"/>
            <a:ext cx="5915025" cy="294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Истина остаётся у команды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код и спецификация меняются там, где живёт сервис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Система строит маршрут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сначала находит затронутые сервисы, потом детали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Человек видит основания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в ответе остаются ссылки на источник и неизвестные</a:t>
            </a:r>
          </a:p>
        </p:txBody>
      </p:sp>
    </p:spTree>
    <p:extLst>
      <p:ext uri="{BB962C8B-B14F-4D97-AF65-F5344CB8AC3E}">
        <p14:creationId xmlns:p14="http://schemas.microsoft.com/office/powerpoint/2010/main" val="1967939858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D1B2C"/>
            </a:gs>
            <a:gs pos="100000">
              <a:srgbClr val="040C1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Рамка слайда">
            <a:extLst xmlns:a="http://schemas.openxmlformats.org/drawingml/2006/main">
              <a:ext uri="{FF2B5EF4-FFF2-40B4-BE49-F238E27FC236}">
                <a16:creationId xmlns:a16="http://schemas.microsoft.com/office/drawing/2014/main" id="{191D6FFC-5F3C-45BF-86FB-09EF75A6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4859000" cy="8191500"/>
          </a:xfrm>
          <a:prstGeom xmlns:a="http://schemas.openxmlformats.org/drawingml/2006/main" prst="roundRect">
            <a:avLst>
              <a:gd name="adj" fmla="val 255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C3145"/>
            </a:solidFill>
            <a:prstDash val="solid"/>
          </a:ln>
        </p:spPr>
      </p:sp>
      <p:sp>
        <p:nvSpPr>
          <p:cNvPr id="2" name="Нижняя разделительная линия">
            <a:extLst xmlns:a="http://schemas.openxmlformats.org/drawingml/2006/main">
              <a:ext uri="{FF2B5EF4-FFF2-40B4-BE49-F238E27FC236}">
                <a16:creationId xmlns:a16="http://schemas.microsoft.com/office/drawing/2014/main" id="{57EF4127-857F-4C0B-A91A-5034B726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Тема презентации">
            <a:extLst xmlns:a="http://schemas.openxmlformats.org/drawingml/2006/main">
              <a:ext uri="{FF2B5EF4-FFF2-40B4-BE49-F238E27FC236}">
                <a16:creationId xmlns:a16="http://schemas.microsoft.com/office/drawing/2014/main" id="{C12281F7-983B-4D56-9CE1-76DA2CE2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4B8C9"/>
                </a:solidFill>
                <a:latin typeface="Arial"/>
                <a:ea typeface="Arial"/>
                <a:cs typeface="Arial"/>
              </a:rPr>
              <a:t>RAG  /  SDD  /  300+ МИКРОСЕРВИСОВ</a:t>
            </a:r>
          </a:p>
        </p:txBody>
      </p:sp>
      <p:sp>
        <p:nvSpPr>
          <p:cNvPr id="4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8DEACB28-3FCE-4C3E-A362-7FAA1B2B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77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05 / 20</a:t>
            </a:r>
          </a:p>
        </p:txBody>
      </p:sp>
      <p:sp>
        <p:nvSpPr>
          <p:cNvPr id="5" name="Надзаголовок">
            <a:extLst xmlns:a="http://schemas.openxmlformats.org/drawingml/2006/main">
              <a:ext uri="{FF2B5EF4-FFF2-40B4-BE49-F238E27FC236}">
                <a16:creationId xmlns:a16="http://schemas.microsoft.com/office/drawing/2014/main" id="{07F2486D-E748-4982-939C-1F55BAF0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"/>
            <a:ext cx="1369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АНАЛИЗ ТЕКУЩЕГО ПРОЦЕССА</a:t>
            </a:r>
          </a:p>
        </p:txBody>
      </p:sp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82DBC867-CE18-47AD-8A44-38954DE5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Анализ источников знаний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и процесса поиска информации</a:t>
            </a:r>
          </a:p>
        </p:txBody>
      </p:sp>
      <p:sp>
        <p:nvSpPr>
          <p:cNvPr id="7" name="Акцент колонки 0">
            <a:extLst xmlns:a="http://schemas.openxmlformats.org/drawingml/2006/main">
              <a:ext uri="{FF2B5EF4-FFF2-40B4-BE49-F238E27FC236}">
                <a16:creationId xmlns:a16="http://schemas.microsoft.com/office/drawing/2014/main" id="{531E1901-C823-4EDB-ABFB-DDDD487B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19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Заголовок колонки 0">
            <a:extLst xmlns:a="http://schemas.openxmlformats.org/drawingml/2006/main">
              <a:ext uri="{FF2B5EF4-FFF2-40B4-BE49-F238E27FC236}">
                <a16:creationId xmlns:a16="http://schemas.microsoft.com/office/drawing/2014/main" id="{2C9D3DF0-3933-40FE-B904-0933D5BF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Где лежит правда</a:t>
            </a:r>
          </a:p>
        </p:txBody>
      </p:sp>
      <p:sp>
        <p:nvSpPr>
          <p:cNvPr id="9" name="Текст колонки 0">
            <a:extLst xmlns:a="http://schemas.openxmlformats.org/drawingml/2006/main">
              <a:ext uri="{FF2B5EF4-FFF2-40B4-BE49-F238E27FC236}">
                <a16:creationId xmlns:a16="http://schemas.microsoft.com/office/drawing/2014/main" id="{79C5F841-069F-41BA-9E53-5E782B5C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4191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Спецификации, ADR, контракты, код и конфигурация уже существуют — но в разных местах.</a:t>
            </a:r>
          </a:p>
        </p:txBody>
      </p:sp>
      <p:sp>
        <p:nvSpPr>
          <p:cNvPr id="10" name="Акцент колонки 1">
            <a:extLst xmlns:a="http://schemas.openxmlformats.org/drawingml/2006/main">
              <a:ext uri="{FF2B5EF4-FFF2-40B4-BE49-F238E27FC236}">
                <a16:creationId xmlns:a16="http://schemas.microsoft.com/office/drawing/2014/main" id="{569E5A84-0E06-47A5-AA2A-B62BB34F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33750"/>
            <a:ext cx="419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9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Заголовок колонки 1">
            <a:extLst xmlns:a="http://schemas.openxmlformats.org/drawingml/2006/main">
              <a:ext uri="{FF2B5EF4-FFF2-40B4-BE49-F238E27FC236}">
                <a16:creationId xmlns:a16="http://schemas.microsoft.com/office/drawing/2014/main" id="{100584AA-6539-48CB-86AF-13E21E57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385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Как идёт поиск</a:t>
            </a:r>
          </a:p>
        </p:txBody>
      </p:sp>
      <p:sp>
        <p:nvSpPr>
          <p:cNvPr id="12" name="Текст колонки 1">
            <a:extLst xmlns:a="http://schemas.openxmlformats.org/drawingml/2006/main">
              <a:ext uri="{FF2B5EF4-FFF2-40B4-BE49-F238E27FC236}">
                <a16:creationId xmlns:a16="http://schemas.microsoft.com/office/drawing/2014/main" id="{74BC7054-2ED6-4442-A945-A592D13B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10100"/>
            <a:ext cx="4191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Сначала знают один сервис или одного человека; дальше идут по ссылкам, чатам, коду и соседним командам.</a:t>
            </a:r>
          </a:p>
        </p:txBody>
      </p:sp>
      <p:sp>
        <p:nvSpPr>
          <p:cNvPr id="13" name="Акцент колонки 2">
            <a:extLst xmlns:a="http://schemas.openxmlformats.org/drawingml/2006/main">
              <a:ext uri="{FF2B5EF4-FFF2-40B4-BE49-F238E27FC236}">
                <a16:creationId xmlns:a16="http://schemas.microsoft.com/office/drawing/2014/main" id="{24FCB371-3E1E-42F8-A3E6-5052122E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33750"/>
            <a:ext cx="419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3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Заголовок колонки 2">
            <a:extLst xmlns:a="http://schemas.openxmlformats.org/drawingml/2006/main">
              <a:ext uri="{FF2B5EF4-FFF2-40B4-BE49-F238E27FC236}">
                <a16:creationId xmlns:a16="http://schemas.microsoft.com/office/drawing/2014/main" id="{0610D903-07D7-4F0C-93AA-4CC65AEE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385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Где всё тормозит</a:t>
            </a:r>
          </a:p>
        </p:txBody>
      </p:sp>
      <p:sp>
        <p:nvSpPr>
          <p:cNvPr id="15" name="Текст колонки 2">
            <a:extLst xmlns:a="http://schemas.openxmlformats.org/drawingml/2006/main">
              <a:ext uri="{FF2B5EF4-FFF2-40B4-BE49-F238E27FC236}">
                <a16:creationId xmlns:a16="http://schemas.microsoft.com/office/drawing/2014/main" id="{80CB6CF4-52D7-49E4-A135-EBFAEB9B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10100"/>
            <a:ext cx="4191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На каждом шаге нужно угадывать: этот ли репозиторий, свежий ли документ и все ли соседи уже найдены.</a:t>
            </a:r>
          </a:p>
        </p:txBody>
      </p:sp>
      <p:sp>
        <p:nvSpPr>
          <p:cNvPr id="16" name="Ключевой вывод">
            <a:extLst xmlns:a="http://schemas.openxmlformats.org/drawingml/2006/main">
              <a:ext uri="{FF2B5EF4-FFF2-40B4-BE49-F238E27FC236}">
                <a16:creationId xmlns:a16="http://schemas.microsoft.com/office/drawing/2014/main" id="{9C9FA943-5880-4589-888C-F19A490D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48475"/>
            <a:ext cx="1366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550" b="0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8FB"/>
                </a:solidFill>
                <a:latin typeface="Arial"/>
                <a:ea typeface="Arial"/>
                <a:cs typeface="Arial"/>
              </a:rPr>
              <a:t>Знания есть. Нет </a:t>
            </a:r>
            <a:r>
              <a:rPr sz="2550" b="0">
                <a:solidFill>
                  <a:srgbClr val="FFBD73"/>
                </a:solidFill>
                <a:latin typeface="Arial"/>
                <a:ea typeface="Arial"/>
                <a:cs typeface="Arial"/>
              </a:rPr>
              <a:t>быстрого пути от задачи к нужным знаниям.</a:t>
            </a:r>
          </a:p>
        </p:txBody>
      </p:sp>
    </p:spTree>
    <p:extLst>
      <p:ext uri="{BB962C8B-B14F-4D97-AF65-F5344CB8AC3E}">
        <p14:creationId xmlns:p14="http://schemas.microsoft.com/office/powerpoint/2010/main" val="1838889126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D1B2C"/>
            </a:gs>
            <a:gs pos="100000">
              <a:srgbClr val="040C1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Рамка слайда">
            <a:extLst xmlns:a="http://schemas.openxmlformats.org/drawingml/2006/main">
              <a:ext uri="{FF2B5EF4-FFF2-40B4-BE49-F238E27FC236}">
                <a16:creationId xmlns:a16="http://schemas.microsoft.com/office/drawing/2014/main" id="{70B59C43-1C46-40A2-9947-1267D4E3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4859000" cy="8191500"/>
          </a:xfrm>
          <a:prstGeom xmlns:a="http://schemas.openxmlformats.org/drawingml/2006/main" prst="roundRect">
            <a:avLst>
              <a:gd name="adj" fmla="val 255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C3145"/>
            </a:solidFill>
            <a:prstDash val="solid"/>
          </a:ln>
        </p:spPr>
      </p:sp>
      <p:sp>
        <p:nvSpPr>
          <p:cNvPr id="2" name="Нижняя разделительная линия">
            <a:extLst xmlns:a="http://schemas.openxmlformats.org/drawingml/2006/main">
              <a:ext uri="{FF2B5EF4-FFF2-40B4-BE49-F238E27FC236}">
                <a16:creationId xmlns:a16="http://schemas.microsoft.com/office/drawing/2014/main" id="{3624F7EE-F2AB-4B8D-B836-4C908A14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Тема презентации">
            <a:extLst xmlns:a="http://schemas.openxmlformats.org/drawingml/2006/main">
              <a:ext uri="{FF2B5EF4-FFF2-40B4-BE49-F238E27FC236}">
                <a16:creationId xmlns:a16="http://schemas.microsoft.com/office/drawing/2014/main" id="{6DEC0EB3-16C4-410E-9343-1B6A762B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4B8C9"/>
                </a:solidFill>
                <a:latin typeface="Arial"/>
                <a:ea typeface="Arial"/>
                <a:cs typeface="Arial"/>
              </a:rPr>
              <a:t>RAG  /  SDD  /  300+ МИКРОСЕРВИСОВ</a:t>
            </a:r>
          </a:p>
        </p:txBody>
      </p:sp>
      <p:sp>
        <p:nvSpPr>
          <p:cNvPr id="4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A490AE2E-DCC1-4383-9F56-CCB58B4D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77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06 / 20</a:t>
            </a:r>
          </a:p>
        </p:txBody>
      </p:sp>
      <p:sp>
        <p:nvSpPr>
          <p:cNvPr id="5" name="Надзаголовок">
            <a:extLst xmlns:a="http://schemas.openxmlformats.org/drawingml/2006/main">
              <a:ext uri="{FF2B5EF4-FFF2-40B4-BE49-F238E27FC236}">
                <a16:creationId xmlns:a16="http://schemas.microsoft.com/office/drawing/2014/main" id="{EA1CDCA9-3A43-453E-B87E-A1C6FFC2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"/>
            <a:ext cx="1369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АРХИТЕКТУРНЫЙ ПОДХОД</a:t>
            </a:r>
          </a:p>
        </p:txBody>
      </p:sp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5E07B909-05F0-43EF-9D89-9ECB0DDC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Единый доступ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5CE3A0"/>
                </a:solidFill>
                <a:latin typeface="Arial"/>
                <a:ea typeface="Arial"/>
                <a:cs typeface="Arial"/>
              </a:rPr>
              <a:t>к распределённым источникам знаний</a:t>
            </a:r>
          </a:p>
        </p:txBody>
      </p:sp>
      <p:sp>
        <p:nvSpPr>
          <p:cNvPr id="7" name="Связь двух частей">
            <a:extLst xmlns:a="http://schemas.openxmlformats.org/drawingml/2006/main">
              <a:ext uri="{FF2B5EF4-FFF2-40B4-BE49-F238E27FC236}">
                <a16:creationId xmlns:a16="http://schemas.microsoft.com/office/drawing/2014/main" id="{9CD31653-D913-4A6F-B87E-B7E12416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14900"/>
            <a:ext cx="4286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4B8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Область сравнения 0">
            <a:extLst xmlns:a="http://schemas.openxmlformats.org/drawingml/2006/main">
              <a:ext uri="{FF2B5EF4-FFF2-40B4-BE49-F238E27FC236}">
                <a16:creationId xmlns:a16="http://schemas.microsoft.com/office/drawing/2014/main" id="{15B17145-4EAB-49A2-A344-0F14D5D9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6334125" cy="40481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7C8B">
                  <a:alpha val="8000"/>
                </a:srgbClr>
              </a:gs>
              <a:gs pos="100000">
                <a:srgbClr val="0D1B2C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9" name="Акцент сравнения 0">
            <a:extLst xmlns:a="http://schemas.openxmlformats.org/drawingml/2006/main">
              <a:ext uri="{FF2B5EF4-FFF2-40B4-BE49-F238E27FC236}">
                <a16:creationId xmlns:a16="http://schemas.microsoft.com/office/drawing/2014/main" id="{F3996E68-728B-458A-A08A-47DE6B76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6334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Заголовок сравнения 0">
            <a:extLst xmlns:a="http://schemas.openxmlformats.org/drawingml/2006/main">
              <a:ext uri="{FF2B5EF4-FFF2-40B4-BE49-F238E27FC236}">
                <a16:creationId xmlns:a16="http://schemas.microsoft.com/office/drawing/2014/main" id="{ECED4B16-57E4-4F24-958A-9209A18B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57575"/>
            <a:ext cx="5915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925" b="1">
                <a:solidFill>
                  <a:srgbClr val="FF7C8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7C8B"/>
                </a:solidFill>
                <a:latin typeface="Arial"/>
                <a:ea typeface="Arial"/>
                <a:cs typeface="Arial"/>
              </a:rPr>
              <a:t>Оставляем у команд</a:t>
            </a:r>
          </a:p>
        </p:txBody>
      </p:sp>
      <p:sp>
        <p:nvSpPr>
          <p:cNvPr id="11" name="Пункты сравнения 0">
            <a:extLst xmlns:a="http://schemas.openxmlformats.org/drawingml/2006/main">
              <a:ext uri="{FF2B5EF4-FFF2-40B4-BE49-F238E27FC236}">
                <a16:creationId xmlns:a16="http://schemas.microsoft.com/office/drawing/2014/main" id="{87FEF2BB-FA71-4D49-93DF-4B71E120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5915025" cy="294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Код и спецификация рядом с сервисом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владелец меняет то, за что отвечает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Свой ритм поставки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команды не ждут общего редактора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Своя ответственность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актуальность остаётся там, где принимают решение</a:t>
            </a:r>
          </a:p>
        </p:txBody>
      </p:sp>
      <p:sp>
        <p:nvSpPr>
          <p:cNvPr id="12" name="Область сравнения 1">
            <a:extLst xmlns:a="http://schemas.openxmlformats.org/drawingml/2006/main">
              <a:ext uri="{FF2B5EF4-FFF2-40B4-BE49-F238E27FC236}">
                <a16:creationId xmlns:a16="http://schemas.microsoft.com/office/drawing/2014/main" id="{5361D220-76CB-4D47-91DC-AB51BCE6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62300"/>
            <a:ext cx="6334125" cy="40481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5CE3A0">
                  <a:alpha val="8000"/>
                </a:srgbClr>
              </a:gs>
              <a:gs pos="100000">
                <a:srgbClr val="0D1B2C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3" name="Акцент сравнения 1">
            <a:extLst xmlns:a="http://schemas.openxmlformats.org/drawingml/2006/main">
              <a:ext uri="{FF2B5EF4-FFF2-40B4-BE49-F238E27FC236}">
                <a16:creationId xmlns:a16="http://schemas.microsoft.com/office/drawing/2014/main" id="{F1EB9517-B9E5-4B60-B03F-ECD93421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62300"/>
            <a:ext cx="6334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3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Заголовок сравнения 1">
            <a:extLst xmlns:a="http://schemas.openxmlformats.org/drawingml/2006/main">
              <a:ext uri="{FF2B5EF4-FFF2-40B4-BE49-F238E27FC236}">
                <a16:creationId xmlns:a16="http://schemas.microsoft.com/office/drawing/2014/main" id="{AF1218BC-6448-4517-B42B-6CBAC621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457575"/>
            <a:ext cx="5915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925" b="1">
                <a:solidFill>
                  <a:srgbClr val="5CE3A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5CE3A0"/>
                </a:solidFill>
                <a:latin typeface="Arial"/>
                <a:ea typeface="Arial"/>
                <a:cs typeface="Arial"/>
              </a:rPr>
              <a:t>Добавляем RAG и граф</a:t>
            </a:r>
          </a:p>
        </p:txBody>
      </p:sp>
      <p:sp>
        <p:nvSpPr>
          <p:cNvPr id="15" name="Пункты сравнения 1">
            <a:extLst xmlns:a="http://schemas.openxmlformats.org/drawingml/2006/main">
              <a:ext uri="{FF2B5EF4-FFF2-40B4-BE49-F238E27FC236}">
                <a16:creationId xmlns:a16="http://schemas.microsoft.com/office/drawing/2014/main" id="{A7BF207C-A21D-43AE-B0BD-A479D667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48150"/>
            <a:ext cx="5915025" cy="294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Единая точка входа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вопрос задаётся по смыслу задачи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Маршрут по системе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граф находит вероятных соседей и границы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Контекст по делу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RAG поднимает источники только по нужным сервисам</a:t>
            </a:r>
          </a:p>
        </p:txBody>
      </p:sp>
    </p:spTree>
    <p:extLst>
      <p:ext uri="{BB962C8B-B14F-4D97-AF65-F5344CB8AC3E}">
        <p14:creationId xmlns:p14="http://schemas.microsoft.com/office/powerpoint/2010/main" val="1082923952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D1B2C"/>
            </a:gs>
            <a:gs pos="100000">
              <a:srgbClr val="040C1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Рамка слайда">
            <a:extLst xmlns:a="http://schemas.openxmlformats.org/drawingml/2006/main">
              <a:ext uri="{FF2B5EF4-FFF2-40B4-BE49-F238E27FC236}">
                <a16:creationId xmlns:a16="http://schemas.microsoft.com/office/drawing/2014/main" id="{90564D53-0098-4E9A-B6C0-B223B67D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4859000" cy="8191500"/>
          </a:xfrm>
          <a:prstGeom xmlns:a="http://schemas.openxmlformats.org/drawingml/2006/main" prst="roundRect">
            <a:avLst>
              <a:gd name="adj" fmla="val 255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C3145"/>
            </a:solidFill>
            <a:prstDash val="solid"/>
          </a:ln>
        </p:spPr>
      </p:sp>
      <p:sp>
        <p:nvSpPr>
          <p:cNvPr id="2" name="Нижняя разделительная линия">
            <a:extLst xmlns:a="http://schemas.openxmlformats.org/drawingml/2006/main">
              <a:ext uri="{FF2B5EF4-FFF2-40B4-BE49-F238E27FC236}">
                <a16:creationId xmlns:a16="http://schemas.microsoft.com/office/drawing/2014/main" id="{09622717-77C7-4386-897F-ED4E6DB5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Тема презентации">
            <a:extLst xmlns:a="http://schemas.openxmlformats.org/drawingml/2006/main">
              <a:ext uri="{FF2B5EF4-FFF2-40B4-BE49-F238E27FC236}">
                <a16:creationId xmlns:a16="http://schemas.microsoft.com/office/drawing/2014/main" id="{D45F358E-3C82-4876-B3AC-AB606E7F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4B8C9"/>
                </a:solidFill>
                <a:latin typeface="Arial"/>
                <a:ea typeface="Arial"/>
                <a:cs typeface="Arial"/>
              </a:rPr>
              <a:t>RAG  /  SDD  /  300+ МИКРОСЕРВИСОВ</a:t>
            </a:r>
          </a:p>
        </p:txBody>
      </p:sp>
      <p:sp>
        <p:nvSpPr>
          <p:cNvPr id="4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2DAFA102-CBCE-47C4-A370-D062B6F7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77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07 / 20</a:t>
            </a:r>
          </a:p>
        </p:txBody>
      </p:sp>
      <p:sp>
        <p:nvSpPr>
          <p:cNvPr id="5" name="Надзаголовок">
            <a:extLst xmlns:a="http://schemas.openxmlformats.org/drawingml/2006/main">
              <a:ext uri="{FF2B5EF4-FFF2-40B4-BE49-F238E27FC236}">
                <a16:creationId xmlns:a16="http://schemas.microsoft.com/office/drawing/2014/main" id="{9B30DDF1-AF15-43DC-8705-99B771E9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"/>
            <a:ext cx="1369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ИНДЕКСАЦИЯ ИСТОЧНИКОВ</a:t>
            </a:r>
          </a:p>
        </p:txBody>
      </p:sp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C590E4D3-8F27-4EF4-A3BA-167C6721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Подготовка источников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и построение RAG-индекса</a:t>
            </a:r>
          </a:p>
        </p:txBody>
      </p:sp>
      <p:sp>
        <p:nvSpPr>
          <p:cNvPr id="7" name="Переход 1">
            <a:extLst xmlns:a="http://schemas.openxmlformats.org/drawingml/2006/main">
              <a:ext uri="{FF2B5EF4-FFF2-40B4-BE49-F238E27FC236}">
                <a16:creationId xmlns:a16="http://schemas.microsoft.com/office/drawing/2014/main" id="{40FF956F-F49C-4AF5-A09C-69706C61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0395" y="4438650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Переход 2">
            <a:extLst xmlns:a="http://schemas.openxmlformats.org/drawingml/2006/main">
              <a:ext uri="{FF2B5EF4-FFF2-40B4-BE49-F238E27FC236}">
                <a16:creationId xmlns:a16="http://schemas.microsoft.com/office/drawing/2014/main" id="{EFA0BDCF-E263-448F-A569-52900EC4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465" y="4438650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Переход 3">
            <a:extLst xmlns:a="http://schemas.openxmlformats.org/drawingml/2006/main">
              <a:ext uri="{FF2B5EF4-FFF2-40B4-BE49-F238E27FC236}">
                <a16:creationId xmlns:a16="http://schemas.microsoft.com/office/drawing/2014/main" id="{F67797FF-2EA2-4C24-9F81-921E4B99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2535" y="4438650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Переход 4">
            <a:extLst xmlns:a="http://schemas.openxmlformats.org/drawingml/2006/main">
              <a:ext uri="{FF2B5EF4-FFF2-40B4-BE49-F238E27FC236}">
                <a16:creationId xmlns:a16="http://schemas.microsoft.com/office/drawing/2014/main" id="{D4003371-4D74-4413-B141-17ACBA07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8605" y="4438650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Шаг 1">
            <a:extLst xmlns:a="http://schemas.openxmlformats.org/drawingml/2006/main">
              <a:ext uri="{FF2B5EF4-FFF2-40B4-BE49-F238E27FC236}">
                <a16:creationId xmlns:a16="http://schemas.microsoft.com/office/drawing/2014/main" id="{706779D8-8B7B-4979-9FFA-0949A5F3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331720" cy="2552700"/>
          </a:xfrm>
          <a:prstGeom xmlns:a="http://schemas.openxmlformats.org/drawingml/2006/main" prst="roundRect">
            <a:avLst>
              <a:gd name="adj" fmla="val 8170"/>
            </a:avLst>
          </a:prstGeom>
          <a:solidFill xmlns:a="http://schemas.openxmlformats.org/drawingml/2006/main">
            <a:srgbClr val="0D1B2C"/>
          </a:solidFill>
          <a:ln xmlns:a="http://schemas.openxmlformats.org/drawingml/2006/main" w="14288">
            <a:solidFill>
              <a:srgbClr val="28425A"/>
            </a:solidFill>
            <a:prstDash val="solid"/>
          </a:ln>
        </p:spPr>
      </p:sp>
      <p:sp>
        <p:nvSpPr>
          <p:cNvPr id="12" name="Акцент шага 1">
            <a:extLst xmlns:a="http://schemas.openxmlformats.org/drawingml/2006/main">
              <a:ext uri="{FF2B5EF4-FFF2-40B4-BE49-F238E27FC236}">
                <a16:creationId xmlns:a16="http://schemas.microsoft.com/office/drawing/2014/main" id="{F4F54A6B-0D28-4286-82EE-9030E5AC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187452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Название шага 1">
            <a:extLst xmlns:a="http://schemas.openxmlformats.org/drawingml/2006/main">
              <a:ext uri="{FF2B5EF4-FFF2-40B4-BE49-F238E27FC236}">
                <a16:creationId xmlns:a16="http://schemas.microsoft.com/office/drawing/2014/main" id="{F3FC509E-EBFE-498A-9FBE-A6F16D13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214122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Документы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и Git</a:t>
            </a:r>
          </a:p>
        </p:txBody>
      </p:sp>
      <p:sp>
        <p:nvSpPr>
          <p:cNvPr id="14" name="Описание шага 1">
            <a:extLst xmlns:a="http://schemas.openxmlformats.org/drawingml/2006/main">
              <a:ext uri="{FF2B5EF4-FFF2-40B4-BE49-F238E27FC236}">
                <a16:creationId xmlns:a16="http://schemas.microsoft.com/office/drawing/2014/main" id="{25575F05-3CD7-4F1A-887C-F9D2B1DC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724400"/>
            <a:ext cx="200787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SSOT · OpenSpec · ADR · код</a:t>
            </a:r>
          </a:p>
        </p:txBody>
      </p:sp>
      <p:sp>
        <p:nvSpPr>
          <p:cNvPr id="15" name="Шаг 2">
            <a:extLst xmlns:a="http://schemas.openxmlformats.org/drawingml/2006/main">
              <a:ext uri="{FF2B5EF4-FFF2-40B4-BE49-F238E27FC236}">
                <a16:creationId xmlns:a16="http://schemas.microsoft.com/office/drawing/2014/main" id="{575DCF8B-2DA4-4E6E-A71D-CCA7CC92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070" y="3333750"/>
            <a:ext cx="2331720" cy="2552700"/>
          </a:xfrm>
          <a:prstGeom xmlns:a="http://schemas.openxmlformats.org/drawingml/2006/main" prst="roundRect">
            <a:avLst>
              <a:gd name="adj" fmla="val 8170"/>
            </a:avLst>
          </a:prstGeom>
          <a:solidFill xmlns:a="http://schemas.openxmlformats.org/drawingml/2006/main">
            <a:srgbClr val="0D1B2C"/>
          </a:solidFill>
          <a:ln xmlns:a="http://schemas.openxmlformats.org/drawingml/2006/main" w="14288">
            <a:solidFill>
              <a:srgbClr val="28425A"/>
            </a:solidFill>
            <a:prstDash val="solid"/>
          </a:ln>
        </p:spPr>
      </p:sp>
      <p:sp>
        <p:nvSpPr>
          <p:cNvPr id="16" name="Акцент шага 2">
            <a:extLst xmlns:a="http://schemas.openxmlformats.org/drawingml/2006/main">
              <a:ext uri="{FF2B5EF4-FFF2-40B4-BE49-F238E27FC236}">
                <a16:creationId xmlns:a16="http://schemas.microsoft.com/office/drawing/2014/main" id="{4DC51EA3-800F-4044-BA63-1B3EB880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670" y="3333750"/>
            <a:ext cx="187452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9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Название шага 2">
            <a:extLst xmlns:a="http://schemas.openxmlformats.org/drawingml/2006/main">
              <a:ext uri="{FF2B5EF4-FFF2-40B4-BE49-F238E27FC236}">
                <a16:creationId xmlns:a16="http://schemas.microsoft.com/office/drawing/2014/main" id="{86D1B667-9373-453D-8125-15A10ADD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648075"/>
            <a:ext cx="214122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Нормализация</a:t>
            </a:r>
          </a:p>
        </p:txBody>
      </p:sp>
      <p:sp>
        <p:nvSpPr>
          <p:cNvPr id="18" name="Описание шага 2">
            <a:extLst xmlns:a="http://schemas.openxmlformats.org/drawingml/2006/main">
              <a:ext uri="{FF2B5EF4-FFF2-40B4-BE49-F238E27FC236}">
                <a16:creationId xmlns:a16="http://schemas.microsoft.com/office/drawing/2014/main" id="{EC602455-BEAE-45B6-84AD-DA2832D4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995" y="4724400"/>
            <a:ext cx="200787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заголовки · таблицы · блоки кода</a:t>
            </a:r>
          </a:p>
        </p:txBody>
      </p:sp>
      <p:sp>
        <p:nvSpPr>
          <p:cNvPr id="19" name="Шаг 3">
            <a:extLst xmlns:a="http://schemas.openxmlformats.org/drawingml/2006/main">
              <a:ext uri="{FF2B5EF4-FFF2-40B4-BE49-F238E27FC236}">
                <a16:creationId xmlns:a16="http://schemas.microsoft.com/office/drawing/2014/main" id="{E87DE670-26CD-459D-8FF8-75CA2213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140" y="3333750"/>
            <a:ext cx="2331720" cy="2552700"/>
          </a:xfrm>
          <a:prstGeom xmlns:a="http://schemas.openxmlformats.org/drawingml/2006/main" prst="roundRect">
            <a:avLst>
              <a:gd name="adj" fmla="val 8170"/>
            </a:avLst>
          </a:prstGeom>
          <a:solidFill xmlns:a="http://schemas.openxmlformats.org/drawingml/2006/main">
            <a:srgbClr val="0D1B2C"/>
          </a:solidFill>
          <a:ln xmlns:a="http://schemas.openxmlformats.org/drawingml/2006/main" w="14288">
            <a:solidFill>
              <a:srgbClr val="28425A"/>
            </a:solidFill>
            <a:prstDash val="solid"/>
          </a:ln>
        </p:spPr>
      </p:sp>
      <p:sp>
        <p:nvSpPr>
          <p:cNvPr id="20" name="Акцент шага 3">
            <a:extLst xmlns:a="http://schemas.openxmlformats.org/drawingml/2006/main">
              <a:ext uri="{FF2B5EF4-FFF2-40B4-BE49-F238E27FC236}">
                <a16:creationId xmlns:a16="http://schemas.microsoft.com/office/drawing/2014/main" id="{7E59DDE0-AADE-4425-ADE8-C6184F7D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740" y="3333750"/>
            <a:ext cx="187452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3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Название шага 3">
            <a:extLst xmlns:a="http://schemas.openxmlformats.org/drawingml/2006/main">
              <a:ext uri="{FF2B5EF4-FFF2-40B4-BE49-F238E27FC236}">
                <a16:creationId xmlns:a16="http://schemas.microsoft.com/office/drawing/2014/main" id="{A5A67796-F21D-43E6-84EC-0A183484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390" y="3648075"/>
            <a:ext cx="214122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Фрагменты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с паспортом</a:t>
            </a:r>
          </a:p>
        </p:txBody>
      </p:sp>
      <p:sp>
        <p:nvSpPr>
          <p:cNvPr id="22" name="Описание шага 3">
            <a:extLst xmlns:a="http://schemas.openxmlformats.org/drawingml/2006/main">
              <a:ext uri="{FF2B5EF4-FFF2-40B4-BE49-F238E27FC236}">
                <a16:creationId xmlns:a16="http://schemas.microsoft.com/office/drawing/2014/main" id="{EA6E2BBD-0E6C-4E03-B87C-51BC102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065" y="4724400"/>
            <a:ext cx="200787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сервис · источник · revision</a:t>
            </a:r>
          </a:p>
        </p:txBody>
      </p:sp>
      <p:sp>
        <p:nvSpPr>
          <p:cNvPr id="23" name="Шаг 4">
            <a:extLst xmlns:a="http://schemas.openxmlformats.org/drawingml/2006/main">
              <a:ext uri="{FF2B5EF4-FFF2-40B4-BE49-F238E27FC236}">
                <a16:creationId xmlns:a16="http://schemas.microsoft.com/office/drawing/2014/main" id="{E777C1D3-3E26-42B5-876B-FA27FA44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0210" y="3333750"/>
            <a:ext cx="2331720" cy="2552700"/>
          </a:xfrm>
          <a:prstGeom xmlns:a="http://schemas.openxmlformats.org/drawingml/2006/main" prst="roundRect">
            <a:avLst>
              <a:gd name="adj" fmla="val 8170"/>
            </a:avLst>
          </a:prstGeom>
          <a:solidFill xmlns:a="http://schemas.openxmlformats.org/drawingml/2006/main">
            <a:srgbClr val="0D1B2C"/>
          </a:solidFill>
          <a:ln xmlns:a="http://schemas.openxmlformats.org/drawingml/2006/main" w="14288">
            <a:solidFill>
              <a:srgbClr val="28425A"/>
            </a:solidFill>
            <a:prstDash val="solid"/>
          </a:ln>
        </p:spPr>
      </p:sp>
      <p:sp>
        <p:nvSpPr>
          <p:cNvPr id="24" name="Акцент шага 4">
            <a:extLst xmlns:a="http://schemas.openxmlformats.org/drawingml/2006/main">
              <a:ext uri="{FF2B5EF4-FFF2-40B4-BE49-F238E27FC236}">
                <a16:creationId xmlns:a16="http://schemas.microsoft.com/office/drawing/2014/main" id="{F5C4E953-9F14-429D-927E-688F92F6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810" y="3333750"/>
            <a:ext cx="187452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Название шага 4">
            <a:extLst xmlns:a="http://schemas.openxmlformats.org/drawingml/2006/main">
              <a:ext uri="{FF2B5EF4-FFF2-40B4-BE49-F238E27FC236}">
                <a16:creationId xmlns:a16="http://schemas.microsoft.com/office/drawing/2014/main" id="{BCD6164C-3977-4187-8BA1-2E95A91A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460" y="3648075"/>
            <a:ext cx="214122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Индексы</a:t>
            </a:r>
          </a:p>
        </p:txBody>
      </p:sp>
      <p:sp>
        <p:nvSpPr>
          <p:cNvPr id="26" name="Описание шага 4">
            <a:extLst xmlns:a="http://schemas.openxmlformats.org/drawingml/2006/main">
              <a:ext uri="{FF2B5EF4-FFF2-40B4-BE49-F238E27FC236}">
                <a16:creationId xmlns:a16="http://schemas.microsoft.com/office/drawing/2014/main" id="{3B5D9E64-2042-46F8-B6BE-560C218C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2135" y="4724400"/>
            <a:ext cx="200787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по сервисам и доменам</a:t>
            </a:r>
          </a:p>
        </p:txBody>
      </p:sp>
      <p:sp>
        <p:nvSpPr>
          <p:cNvPr id="27" name="Шаг 5">
            <a:extLst xmlns:a="http://schemas.openxmlformats.org/drawingml/2006/main">
              <a:ext uri="{FF2B5EF4-FFF2-40B4-BE49-F238E27FC236}">
                <a16:creationId xmlns:a16="http://schemas.microsoft.com/office/drawing/2014/main" id="{0D076A03-B0C7-4A38-B2B3-433EF2E9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6280" y="3333750"/>
            <a:ext cx="2331720" cy="2552700"/>
          </a:xfrm>
          <a:prstGeom xmlns:a="http://schemas.openxmlformats.org/drawingml/2006/main" prst="roundRect">
            <a:avLst>
              <a:gd name="adj" fmla="val 8170"/>
            </a:avLst>
          </a:prstGeom>
          <a:solidFill xmlns:a="http://schemas.openxmlformats.org/drawingml/2006/main">
            <a:srgbClr val="0D1B2C"/>
          </a:solidFill>
          <a:ln xmlns:a="http://schemas.openxmlformats.org/drawingml/2006/main" w="14288">
            <a:solidFill>
              <a:srgbClr val="28425A"/>
            </a:solidFill>
            <a:prstDash val="solid"/>
          </a:ln>
        </p:spPr>
      </p:sp>
      <p:sp>
        <p:nvSpPr>
          <p:cNvPr id="28" name="Акцент шага 5">
            <a:extLst xmlns:a="http://schemas.openxmlformats.org/drawingml/2006/main">
              <a:ext uri="{FF2B5EF4-FFF2-40B4-BE49-F238E27FC236}">
                <a16:creationId xmlns:a16="http://schemas.microsoft.com/office/drawing/2014/main" id="{2AFFF640-D66D-4963-8004-CD1AE1B0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4880" y="3333750"/>
            <a:ext cx="187452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Название шага 5">
            <a:extLst xmlns:a="http://schemas.openxmlformats.org/drawingml/2006/main">
              <a:ext uri="{FF2B5EF4-FFF2-40B4-BE49-F238E27FC236}">
                <a16:creationId xmlns:a16="http://schemas.microsoft.com/office/drawing/2014/main" id="{3DC3FBDD-1511-409F-B8CA-1612D055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1530" y="3648075"/>
            <a:ext cx="214122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Поиск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с evidence</a:t>
            </a:r>
          </a:p>
        </p:txBody>
      </p:sp>
      <p:sp>
        <p:nvSpPr>
          <p:cNvPr id="30" name="Описание шага 5">
            <a:extLst xmlns:a="http://schemas.openxmlformats.org/drawingml/2006/main">
              <a:ext uri="{FF2B5EF4-FFF2-40B4-BE49-F238E27FC236}">
                <a16:creationId xmlns:a16="http://schemas.microsoft.com/office/drawing/2014/main" id="{9E46AD72-C574-4F12-8D9D-99E5CFB7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8205" y="4724400"/>
            <a:ext cx="200787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короткий ответ + ссылка на первоисточник</a:t>
            </a:r>
          </a:p>
        </p:txBody>
      </p:sp>
      <p:sp>
        <p:nvSpPr>
          <p:cNvPr id="31" name="Акцент вывода">
            <a:extLst xmlns:a="http://schemas.openxmlformats.org/drawingml/2006/main">
              <a:ext uri="{FF2B5EF4-FFF2-40B4-BE49-F238E27FC236}">
                <a16:creationId xmlns:a16="http://schemas.microsoft.com/office/drawing/2014/main" id="{ABE17D7F-A6E7-4735-BC88-8F4DD79A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72275"/>
            <a:ext cx="381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Ключевой вывод">
            <a:extLst xmlns:a="http://schemas.openxmlformats.org/drawingml/2006/main">
              <a:ext uri="{FF2B5EF4-FFF2-40B4-BE49-F238E27FC236}">
                <a16:creationId xmlns:a16="http://schemas.microsoft.com/office/drawing/2014/main" id="{48B9F589-B296-459C-A41F-0C2AC661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34207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В индекс не попадает «мнение модели»:</a:t>
            </a:r>
            <a:r>
              <a:rPr sz="180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 у найденного фрагмента остаются сервис, путь или URL источника и revision, по которым его можно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702395792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D1B2C"/>
            </a:gs>
            <a:gs pos="100000">
              <a:srgbClr val="040C1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Рамка слайда">
            <a:extLst xmlns:a="http://schemas.openxmlformats.org/drawingml/2006/main">
              <a:ext uri="{FF2B5EF4-FFF2-40B4-BE49-F238E27FC236}">
                <a16:creationId xmlns:a16="http://schemas.microsoft.com/office/drawing/2014/main" id="{5477170D-BBB0-4964-B636-D6FA7F68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4859000" cy="8191500"/>
          </a:xfrm>
          <a:prstGeom xmlns:a="http://schemas.openxmlformats.org/drawingml/2006/main" prst="roundRect">
            <a:avLst>
              <a:gd name="adj" fmla="val 255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C3145"/>
            </a:solidFill>
            <a:prstDash val="solid"/>
          </a:ln>
        </p:spPr>
      </p:sp>
      <p:sp>
        <p:nvSpPr>
          <p:cNvPr id="2" name="Нижняя разделительная линия">
            <a:extLst xmlns:a="http://schemas.openxmlformats.org/drawingml/2006/main">
              <a:ext uri="{FF2B5EF4-FFF2-40B4-BE49-F238E27FC236}">
                <a16:creationId xmlns:a16="http://schemas.microsoft.com/office/drawing/2014/main" id="{B73039C8-C43E-484A-A31B-563E000E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Тема презентации">
            <a:extLst xmlns:a="http://schemas.openxmlformats.org/drawingml/2006/main">
              <a:ext uri="{FF2B5EF4-FFF2-40B4-BE49-F238E27FC236}">
                <a16:creationId xmlns:a16="http://schemas.microsoft.com/office/drawing/2014/main" id="{42E3504B-DD31-400C-AA8E-07557257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4B8C9"/>
                </a:solidFill>
                <a:latin typeface="Arial"/>
                <a:ea typeface="Arial"/>
                <a:cs typeface="Arial"/>
              </a:rPr>
              <a:t>RAG  /  SDD  /  300+ МИКРОСЕРВИСОВ</a:t>
            </a:r>
          </a:p>
        </p:txBody>
      </p:sp>
      <p:sp>
        <p:nvSpPr>
          <p:cNvPr id="4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F12AD316-5644-4BF3-A8AB-359CCAFE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77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08 / 20</a:t>
            </a:r>
          </a:p>
        </p:txBody>
      </p:sp>
      <p:sp>
        <p:nvSpPr>
          <p:cNvPr id="5" name="Надзаголовок">
            <a:extLst xmlns:a="http://schemas.openxmlformats.org/drawingml/2006/main">
              <a:ext uri="{FF2B5EF4-FFF2-40B4-BE49-F238E27FC236}">
                <a16:creationId xmlns:a16="http://schemas.microsoft.com/office/drawing/2014/main" id="{C9899F87-5E3C-4BDE-A3C6-89931863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"/>
            <a:ext cx="1369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МЕХАНИЗМЫ ХЕШИРОВАНИЯ</a:t>
            </a:r>
          </a:p>
        </p:txBody>
      </p:sp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9C237CF6-737C-4581-AE6D-B5DDFE6B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Хеширование при индексации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и лексическом поиске</a:t>
            </a:r>
          </a:p>
        </p:txBody>
      </p:sp>
      <p:sp>
        <p:nvSpPr>
          <p:cNvPr id="7" name="Акцент аудитории 0">
            <a:extLst xmlns:a="http://schemas.openxmlformats.org/drawingml/2006/main">
              <a:ext uri="{FF2B5EF4-FFF2-40B4-BE49-F238E27FC236}">
                <a16:creationId xmlns:a16="http://schemas.microsoft.com/office/drawing/2014/main" id="{9B9FED90-9110-46CF-9244-1143AD01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6457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Заголовок аудитории 0">
            <a:extLst xmlns:a="http://schemas.openxmlformats.org/drawingml/2006/main">
              <a:ext uri="{FF2B5EF4-FFF2-40B4-BE49-F238E27FC236}">
                <a16:creationId xmlns:a16="http://schemas.microsoft.com/office/drawing/2014/main" id="{7D1A096D-D82D-4E85-AA85-A1B7ECDE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6457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Контроль изменений</a:t>
            </a:r>
          </a:p>
        </p:txBody>
      </p:sp>
      <p:sp>
        <p:nvSpPr>
          <p:cNvPr id="9" name="Маркер 0-0">
            <a:extLst xmlns:a="http://schemas.openxmlformats.org/drawingml/2006/main">
              <a:ext uri="{FF2B5EF4-FFF2-40B4-BE49-F238E27FC236}">
                <a16:creationId xmlns:a16="http://schemas.microsoft.com/office/drawing/2014/main" id="{01E842F6-69D4-48F8-B271-E2D53F2F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4D7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Тезис 0-0">
            <a:extLst xmlns:a="http://schemas.openxmlformats.org/drawingml/2006/main">
              <a:ext uri="{FF2B5EF4-FFF2-40B4-BE49-F238E27FC236}">
                <a16:creationId xmlns:a16="http://schemas.microsoft.com/office/drawing/2014/main" id="{C1DAA065-858F-4E4A-BA8E-D779E788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05325"/>
            <a:ext cx="609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У документа есть content hash.</a:t>
            </a:r>
          </a:p>
        </p:txBody>
      </p:sp>
      <p:sp>
        <p:nvSpPr>
          <p:cNvPr id="11" name="Маркер 0-1">
            <a:extLst xmlns:a="http://schemas.openxmlformats.org/drawingml/2006/main">
              <a:ext uri="{FF2B5EF4-FFF2-40B4-BE49-F238E27FC236}">
                <a16:creationId xmlns:a16="http://schemas.microsoft.com/office/drawing/2014/main" id="{04834A20-1384-4227-96C1-DB2D3820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4D7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Тезис 0-1">
            <a:extLst xmlns:a="http://schemas.openxmlformats.org/drawingml/2006/main">
              <a:ext uri="{FF2B5EF4-FFF2-40B4-BE49-F238E27FC236}">
                <a16:creationId xmlns:a16="http://schemas.microsoft.com/office/drawing/2014/main" id="{BF6D8544-DB89-42F9-AEF9-39556B3C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238750"/>
            <a:ext cx="609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У чанка — стабильный ID из документа, раздела и текста.</a:t>
            </a:r>
          </a:p>
        </p:txBody>
      </p:sp>
      <p:sp>
        <p:nvSpPr>
          <p:cNvPr id="13" name="Маркер 0-2">
            <a:extLst xmlns:a="http://schemas.openxmlformats.org/drawingml/2006/main">
              <a:ext uri="{FF2B5EF4-FFF2-40B4-BE49-F238E27FC236}">
                <a16:creationId xmlns:a16="http://schemas.microsoft.com/office/drawing/2014/main" id="{D4B74DD9-85F6-46A9-BAC4-C6AD79B9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4D7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Тезис 0-2">
            <a:extLst xmlns:a="http://schemas.openxmlformats.org/drawingml/2006/main">
              <a:ext uri="{FF2B5EF4-FFF2-40B4-BE49-F238E27FC236}">
                <a16:creationId xmlns:a16="http://schemas.microsoft.com/office/drawing/2014/main" id="{ADAFEA5E-0BE6-4F82-AB9A-F311540C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72175"/>
            <a:ext cx="609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При переиндексации векторы неизменившихся чанков берутся из cache.</a:t>
            </a:r>
          </a:p>
        </p:txBody>
      </p:sp>
      <p:sp>
        <p:nvSpPr>
          <p:cNvPr id="15" name="Акцент аудитории 1">
            <a:extLst xmlns:a="http://schemas.openxmlformats.org/drawingml/2006/main">
              <a:ext uri="{FF2B5EF4-FFF2-40B4-BE49-F238E27FC236}">
                <a16:creationId xmlns:a16="http://schemas.microsoft.com/office/drawing/2014/main" id="{AA67DDF1-CA65-4FAC-8908-0EA55774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6457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3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Заголовок аудитории 1">
            <a:extLst xmlns:a="http://schemas.openxmlformats.org/drawingml/2006/main">
              <a:ext uri="{FF2B5EF4-FFF2-40B4-BE49-F238E27FC236}">
                <a16:creationId xmlns:a16="http://schemas.microsoft.com/office/drawing/2014/main" id="{3F05E98B-506F-40CA-964F-C7A50CE6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6457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5CE3A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CE3A0"/>
                </a:solidFill>
                <a:latin typeface="Arial"/>
                <a:ea typeface="Arial"/>
                <a:cs typeface="Arial"/>
              </a:rPr>
              <a:t>Быстрый поиск по терминам</a:t>
            </a:r>
          </a:p>
        </p:txBody>
      </p:sp>
      <p:sp>
        <p:nvSpPr>
          <p:cNvPr id="17" name="Маркер 1-0">
            <a:extLst xmlns:a="http://schemas.openxmlformats.org/drawingml/2006/main">
              <a:ext uri="{FF2B5EF4-FFF2-40B4-BE49-F238E27FC236}">
                <a16:creationId xmlns:a16="http://schemas.microsoft.com/office/drawing/2014/main" id="{7EF55E9B-6A0E-4F30-9175-75400EC5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958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5CE3A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CE3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Тезис 1-0">
            <a:extLst xmlns:a="http://schemas.openxmlformats.org/drawingml/2006/main">
              <a:ext uri="{FF2B5EF4-FFF2-40B4-BE49-F238E27FC236}">
                <a16:creationId xmlns:a16="http://schemas.microsoft.com/office/drawing/2014/main" id="{3CF1D281-8BA3-4D9F-817D-C7FA191D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505325"/>
            <a:ext cx="609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Слова и символьные триграммы превращаются в признаки.</a:t>
            </a:r>
          </a:p>
        </p:txBody>
      </p:sp>
      <p:sp>
        <p:nvSpPr>
          <p:cNvPr id="19" name="Маркер 1-1">
            <a:extLst xmlns:a="http://schemas.openxmlformats.org/drawingml/2006/main">
              <a:ext uri="{FF2B5EF4-FFF2-40B4-BE49-F238E27FC236}">
                <a16:creationId xmlns:a16="http://schemas.microsoft.com/office/drawing/2014/main" id="{C344F6AC-813C-4C4B-8852-835EB50C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2922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5CE3A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CE3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Тезис 1-1">
            <a:extLst xmlns:a="http://schemas.openxmlformats.org/drawingml/2006/main">
              <a:ext uri="{FF2B5EF4-FFF2-40B4-BE49-F238E27FC236}">
                <a16:creationId xmlns:a16="http://schemas.microsoft.com/office/drawing/2014/main" id="{97714900-EB57-452E-901F-BC235548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238750"/>
            <a:ext cx="609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SHA-256 кладёт каждый признак в ячейку вектора со знаком.</a:t>
            </a:r>
          </a:p>
        </p:txBody>
      </p:sp>
      <p:sp>
        <p:nvSpPr>
          <p:cNvPr id="21" name="Маркер 1-2">
            <a:extLst xmlns:a="http://schemas.openxmlformats.org/drawingml/2006/main">
              <a:ext uri="{FF2B5EF4-FFF2-40B4-BE49-F238E27FC236}">
                <a16:creationId xmlns:a16="http://schemas.microsoft.com/office/drawing/2014/main" id="{23F17DA3-20D9-4BD4-8502-C61E9EDA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9626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5CE3A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CE3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Тезис 1-2">
            <a:extLst xmlns:a="http://schemas.openxmlformats.org/drawingml/2006/main">
              <a:ext uri="{FF2B5EF4-FFF2-40B4-BE49-F238E27FC236}">
                <a16:creationId xmlns:a16="http://schemas.microsoft.com/office/drawing/2014/main" id="{822FB32D-48E7-4EBF-88B5-9BD25D12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972175"/>
            <a:ext cx="609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Получается локальный нормализованный lexical vector.</a:t>
            </a:r>
          </a:p>
        </p:txBody>
      </p:sp>
      <p:sp>
        <p:nvSpPr>
          <p:cNvPr id="23" name="Акцент вывода">
            <a:extLst xmlns:a="http://schemas.openxmlformats.org/drawingml/2006/main">
              <a:ext uri="{FF2B5EF4-FFF2-40B4-BE49-F238E27FC236}">
                <a16:creationId xmlns:a16="http://schemas.microsoft.com/office/drawing/2014/main" id="{60F9F144-50EC-4F62-A17B-8B3E59F7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381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Ключевой вывод">
            <a:extLst xmlns:a="http://schemas.openxmlformats.org/drawingml/2006/main">
              <a:ext uri="{FF2B5EF4-FFF2-40B4-BE49-F238E27FC236}">
                <a16:creationId xmlns:a16="http://schemas.microsoft.com/office/drawing/2014/main" id="{847DAEE2-9C02-4719-ADFB-86AB9A1F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0"/>
            <a:ext cx="134207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Это разные задачи:</a:t>
            </a:r>
            <a:r>
              <a:rPr sz="180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 один хеш экономит повторную работу при обновлении, другой создаёт вектор для автономного поиска по совпадающей терминологии.</a:t>
            </a:r>
          </a:p>
        </p:txBody>
      </p:sp>
    </p:spTree>
    <p:extLst>
      <p:ext uri="{BB962C8B-B14F-4D97-AF65-F5344CB8AC3E}">
        <p14:creationId xmlns:p14="http://schemas.microsoft.com/office/powerpoint/2010/main" val="1758391705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D1B2C"/>
            </a:gs>
            <a:gs pos="100000">
              <a:srgbClr val="040C1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Рамка слайда">
            <a:extLst xmlns:a="http://schemas.openxmlformats.org/drawingml/2006/main">
              <a:ext uri="{FF2B5EF4-FFF2-40B4-BE49-F238E27FC236}">
                <a16:creationId xmlns:a16="http://schemas.microsoft.com/office/drawing/2014/main" id="{D5050F18-84B1-457F-9450-43893FB5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4859000" cy="8191500"/>
          </a:xfrm>
          <a:prstGeom xmlns:a="http://schemas.openxmlformats.org/drawingml/2006/main" prst="roundRect">
            <a:avLst>
              <a:gd name="adj" fmla="val 255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C3145"/>
            </a:solidFill>
            <a:prstDash val="solid"/>
          </a:ln>
        </p:spPr>
      </p:sp>
      <p:sp>
        <p:nvSpPr>
          <p:cNvPr id="2" name="Нижняя разделительная линия">
            <a:extLst xmlns:a="http://schemas.openxmlformats.org/drawingml/2006/main">
              <a:ext uri="{FF2B5EF4-FFF2-40B4-BE49-F238E27FC236}">
                <a16:creationId xmlns:a16="http://schemas.microsoft.com/office/drawing/2014/main" id="{CE9A113B-048B-42F6-815C-A2F593CD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Тема презентации">
            <a:extLst xmlns:a="http://schemas.openxmlformats.org/drawingml/2006/main">
              <a:ext uri="{FF2B5EF4-FFF2-40B4-BE49-F238E27FC236}">
                <a16:creationId xmlns:a16="http://schemas.microsoft.com/office/drawing/2014/main" id="{05A7392F-2938-4551-B297-57173884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4B8C9"/>
                </a:solidFill>
                <a:latin typeface="Arial"/>
                <a:ea typeface="Arial"/>
                <a:cs typeface="Arial"/>
              </a:rPr>
              <a:t>RAG  /  SDD  /  300+ МИКРОСЕРВИСОВ</a:t>
            </a:r>
          </a:p>
        </p:txBody>
      </p:sp>
      <p:sp>
        <p:nvSpPr>
          <p:cNvPr id="4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8C349A9D-BB38-419F-9523-4CE3B823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77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09 / 20</a:t>
            </a:r>
          </a:p>
        </p:txBody>
      </p:sp>
      <p:sp>
        <p:nvSpPr>
          <p:cNvPr id="5" name="Надзаголовок">
            <a:extLst xmlns:a="http://schemas.openxmlformats.org/drawingml/2006/main">
              <a:ext uri="{FF2B5EF4-FFF2-40B4-BE49-F238E27FC236}">
                <a16:creationId xmlns:a16="http://schemas.microsoft.com/office/drawing/2014/main" id="{431D19BF-873B-48F2-9240-18451B30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"/>
            <a:ext cx="1369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ЛОКАЛЬНАЯ ВЕКТОРИЗАЦИЯ</a:t>
            </a:r>
          </a:p>
        </p:txBody>
      </p:sp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2641AFE6-4BAB-4BE4-B63E-C43AA0E8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Режимы векторизации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5CE3A0"/>
                </a:solidFill>
                <a:latin typeface="Arial"/>
                <a:ea typeface="Arial"/>
                <a:cs typeface="Arial"/>
              </a:rPr>
              <a:t>и требования к вычислительным ресурсам</a:t>
            </a:r>
          </a:p>
        </p:txBody>
      </p:sp>
      <p:sp>
        <p:nvSpPr>
          <p:cNvPr id="7" name="Акцент колонки 0">
            <a:extLst xmlns:a="http://schemas.openxmlformats.org/drawingml/2006/main">
              <a:ext uri="{FF2B5EF4-FFF2-40B4-BE49-F238E27FC236}">
                <a16:creationId xmlns:a16="http://schemas.microsoft.com/office/drawing/2014/main" id="{FCC5753A-0B2E-441B-B162-6F926B3F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19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Заголовок колонки 0">
            <a:extLst xmlns:a="http://schemas.openxmlformats.org/drawingml/2006/main">
              <a:ext uri="{FF2B5EF4-FFF2-40B4-BE49-F238E27FC236}">
                <a16:creationId xmlns:a16="http://schemas.microsoft.com/office/drawing/2014/main" id="{306E2077-04FD-4C66-8B4B-AE67B934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Hash provider</a:t>
            </a:r>
          </a:p>
        </p:txBody>
      </p:sp>
      <p:sp>
        <p:nvSpPr>
          <p:cNvPr id="9" name="Текст колонки 0">
            <a:extLst xmlns:a="http://schemas.openxmlformats.org/drawingml/2006/main">
              <a:ext uri="{FF2B5EF4-FFF2-40B4-BE49-F238E27FC236}">
                <a16:creationId xmlns:a16="http://schemas.microsoft.com/office/drawing/2014/main" id="{2E9BD4A8-24EC-4926-A942-58B32706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4191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Режим по умолчанию: слова и триграммы → настраиваемый вектор. Нет модели, GPU и сетевого вызова.</a:t>
            </a:r>
          </a:p>
        </p:txBody>
      </p:sp>
      <p:sp>
        <p:nvSpPr>
          <p:cNvPr id="10" name="Акцент колонки 1">
            <a:extLst xmlns:a="http://schemas.openxmlformats.org/drawingml/2006/main">
              <a:ext uri="{FF2B5EF4-FFF2-40B4-BE49-F238E27FC236}">
                <a16:creationId xmlns:a16="http://schemas.microsoft.com/office/drawing/2014/main" id="{D704E1A7-4860-4B6F-A48B-7ADC351C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33750"/>
            <a:ext cx="419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9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Заголовок колонки 1">
            <a:extLst xmlns:a="http://schemas.openxmlformats.org/drawingml/2006/main">
              <a:ext uri="{FF2B5EF4-FFF2-40B4-BE49-F238E27FC236}">
                <a16:creationId xmlns:a16="http://schemas.microsoft.com/office/drawing/2014/main" id="{21ABC826-0634-4363-B745-96645155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385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Local semantic model</a:t>
            </a:r>
          </a:p>
        </p:txBody>
      </p:sp>
      <p:sp>
        <p:nvSpPr>
          <p:cNvPr id="12" name="Текст колонки 1">
            <a:extLst xmlns:a="http://schemas.openxmlformats.org/drawingml/2006/main">
              <a:ext uri="{FF2B5EF4-FFF2-40B4-BE49-F238E27FC236}">
                <a16:creationId xmlns:a16="http://schemas.microsoft.com/office/drawing/2014/main" id="{354B574D-3736-4E22-8C2A-883EE0B9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10100"/>
            <a:ext cx="4191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Локальная Sentence Transformers-модель даёт поиск по смыслу и синонимам; веса модели заранее лежат на машине.</a:t>
            </a:r>
          </a:p>
        </p:txBody>
      </p:sp>
      <p:sp>
        <p:nvSpPr>
          <p:cNvPr id="13" name="Акцент колонки 2">
            <a:extLst xmlns:a="http://schemas.openxmlformats.org/drawingml/2006/main">
              <a:ext uri="{FF2B5EF4-FFF2-40B4-BE49-F238E27FC236}">
                <a16:creationId xmlns:a16="http://schemas.microsoft.com/office/drawing/2014/main" id="{90D1F877-C367-45A3-8424-C5CA59D8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33750"/>
            <a:ext cx="419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3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Заголовок колонки 2">
            <a:extLst xmlns:a="http://schemas.openxmlformats.org/drawingml/2006/main">
              <a:ext uri="{FF2B5EF4-FFF2-40B4-BE49-F238E27FC236}">
                <a16:creationId xmlns:a16="http://schemas.microsoft.com/office/drawing/2014/main" id="{787E45A8-5FFC-49DA-B364-DF56FD87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385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Выбор устройства</a:t>
            </a:r>
          </a:p>
        </p:txBody>
      </p:sp>
      <p:sp>
        <p:nvSpPr>
          <p:cNvPr id="15" name="Текст колонки 2">
            <a:extLst xmlns:a="http://schemas.openxmlformats.org/drawingml/2006/main">
              <a:ext uri="{FF2B5EF4-FFF2-40B4-BE49-F238E27FC236}">
                <a16:creationId xmlns:a16="http://schemas.microsoft.com/office/drawing/2014/main" id="{DB47B5BF-9B93-429B-A116-9FAB1A23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10100"/>
            <a:ext cx="4191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Авто-режим выбирает CUDA, затем MPS, затем CPU. На CPU работает медленнее, но работает.</a:t>
            </a:r>
          </a:p>
        </p:txBody>
      </p:sp>
      <p:sp>
        <p:nvSpPr>
          <p:cNvPr id="16" name="Акцент вывода">
            <a:extLst xmlns:a="http://schemas.openxmlformats.org/drawingml/2006/main">
              <a:ext uri="{FF2B5EF4-FFF2-40B4-BE49-F238E27FC236}">
                <a16:creationId xmlns:a16="http://schemas.microsoft.com/office/drawing/2014/main" id="{EC13A138-188B-4646-9C92-371CABB4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48475"/>
            <a:ext cx="381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Ключевой вывод">
            <a:extLst xmlns:a="http://schemas.openxmlformats.org/drawingml/2006/main">
              <a:ext uri="{FF2B5EF4-FFF2-40B4-BE49-F238E27FC236}">
                <a16:creationId xmlns:a16="http://schemas.microsoft.com/office/drawing/2014/main" id="{D0C0605F-0DAD-4F65-A340-67AB59F4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96100"/>
            <a:ext cx="134207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Данные не уходят во внешний embedding API:</a:t>
            </a:r>
            <a:r>
              <a:rPr sz="180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 при </a:t>
            </a:r>
            <a:r>
              <a:rPr sz="180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local_files_only</a:t>
            </a:r>
            <a:r>
              <a:rPr sz="180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 недостающая модель даёт ошибку, а не скачивается из сети.</a:t>
            </a:r>
          </a:p>
        </p:txBody>
      </p:sp>
    </p:spTree>
    <p:extLst>
      <p:ext uri="{BB962C8B-B14F-4D97-AF65-F5344CB8AC3E}">
        <p14:creationId xmlns:p14="http://schemas.microsoft.com/office/powerpoint/2010/main" val="1766361801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D1B2C"/>
            </a:gs>
            <a:gs pos="100000">
              <a:srgbClr val="040C1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Рамка слайда">
            <a:extLst xmlns:a="http://schemas.openxmlformats.org/drawingml/2006/main">
              <a:ext uri="{FF2B5EF4-FFF2-40B4-BE49-F238E27FC236}">
                <a16:creationId xmlns:a16="http://schemas.microsoft.com/office/drawing/2014/main" id="{1FB4703A-FDE8-4837-A8D5-9A896549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4859000" cy="8191500"/>
          </a:xfrm>
          <a:prstGeom xmlns:a="http://schemas.openxmlformats.org/drawingml/2006/main" prst="roundRect">
            <a:avLst>
              <a:gd name="adj" fmla="val 255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C3145"/>
            </a:solidFill>
            <a:prstDash val="solid"/>
          </a:ln>
        </p:spPr>
      </p:sp>
      <p:sp>
        <p:nvSpPr>
          <p:cNvPr id="2" name="Нижняя разделительная линия">
            <a:extLst xmlns:a="http://schemas.openxmlformats.org/drawingml/2006/main">
              <a:ext uri="{FF2B5EF4-FFF2-40B4-BE49-F238E27FC236}">
                <a16:creationId xmlns:a16="http://schemas.microsoft.com/office/drawing/2014/main" id="{DDBB0A95-BB8D-4031-B138-797CBF9F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Тема презентации">
            <a:extLst xmlns:a="http://schemas.openxmlformats.org/drawingml/2006/main">
              <a:ext uri="{FF2B5EF4-FFF2-40B4-BE49-F238E27FC236}">
                <a16:creationId xmlns:a16="http://schemas.microsoft.com/office/drawing/2014/main" id="{BAC39A95-1A5C-4DEC-9D90-86A19739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4B8C9"/>
                </a:solidFill>
                <a:latin typeface="Arial"/>
                <a:ea typeface="Arial"/>
                <a:cs typeface="Arial"/>
              </a:rPr>
              <a:t>RAG  /  SDD  /  300+ МИКРОСЕРВИСОВ</a:t>
            </a:r>
          </a:p>
        </p:txBody>
      </p:sp>
      <p:sp>
        <p:nvSpPr>
          <p:cNvPr id="4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8895B0D1-90DF-4FD0-A706-56D9F0CD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77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10 / 20</a:t>
            </a:r>
          </a:p>
        </p:txBody>
      </p:sp>
      <p:sp>
        <p:nvSpPr>
          <p:cNvPr id="5" name="Надзаголовок">
            <a:extLst xmlns:a="http://schemas.openxmlformats.org/drawingml/2006/main">
              <a:ext uri="{FF2B5EF4-FFF2-40B4-BE49-F238E27FC236}">
                <a16:creationId xmlns:a16="http://schemas.microsoft.com/office/drawing/2014/main" id="{C40962F8-A2EA-4FEE-8CE9-E90520C1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"/>
            <a:ext cx="1369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АЛГОРИТМ ПОИСКА</a:t>
            </a:r>
          </a:p>
        </p:txBody>
      </p:sp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242C58A1-BCB1-4DB1-9A5E-B4016BFE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Векторизация запроса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и поиск релевантных фрагментов</a:t>
            </a:r>
          </a:p>
        </p:txBody>
      </p:sp>
      <p:sp>
        <p:nvSpPr>
          <p:cNvPr id="7" name="Переход поиска 0">
            <a:extLst xmlns:a="http://schemas.openxmlformats.org/drawingml/2006/main">
              <a:ext uri="{FF2B5EF4-FFF2-40B4-BE49-F238E27FC236}">
                <a16:creationId xmlns:a16="http://schemas.microsoft.com/office/drawing/2014/main" id="{C9CCCCA0-F722-4512-869B-A45226BC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43425"/>
            <a:ext cx="438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Переход поиска 1">
            <a:extLst xmlns:a="http://schemas.openxmlformats.org/drawingml/2006/main">
              <a:ext uri="{FF2B5EF4-FFF2-40B4-BE49-F238E27FC236}">
                <a16:creationId xmlns:a16="http://schemas.microsoft.com/office/drawing/2014/main" id="{5377ED5D-E9AB-4249-AE13-AC985616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543425"/>
            <a:ext cx="438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Стадия поиска 0">
            <a:extLst xmlns:a="http://schemas.openxmlformats.org/drawingml/2006/main">
              <a:ext uri="{FF2B5EF4-FFF2-40B4-BE49-F238E27FC236}">
                <a16:creationId xmlns:a16="http://schemas.microsoft.com/office/drawing/2014/main" id="{75E854DA-631A-4EFE-9C90-43DB3D2F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95750" cy="2771775"/>
          </a:xfrm>
          <a:prstGeom xmlns:a="http://schemas.openxmlformats.org/drawingml/2006/main" prst="roundRect">
            <a:avLst>
              <a:gd name="adj" fmla="val 6873"/>
            </a:avLst>
          </a:prstGeom>
          <a:solidFill xmlns:a="http://schemas.openxmlformats.org/drawingml/2006/main">
            <a:srgbClr val="0D1B2C"/>
          </a:solidFill>
          <a:ln xmlns:a="http://schemas.openxmlformats.org/drawingml/2006/main" w="14288">
            <a:solidFill>
              <a:srgbClr val="28425A"/>
            </a:solidFill>
            <a:prstDash val="solid"/>
          </a:ln>
        </p:spPr>
      </p:sp>
      <p:sp>
        <p:nvSpPr>
          <p:cNvPr id="10" name="Этап поиска 0">
            <a:extLst xmlns:a="http://schemas.openxmlformats.org/drawingml/2006/main">
              <a:ext uri="{FF2B5EF4-FFF2-40B4-BE49-F238E27FC236}">
                <a16:creationId xmlns:a16="http://schemas.microsoft.com/office/drawing/2014/main" id="{C546B511-AD45-485F-8B75-147AF925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48075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Вопрос</a:t>
            </a:r>
          </a:p>
        </p:txBody>
      </p:sp>
      <p:sp>
        <p:nvSpPr>
          <p:cNvPr id="11" name="Данные поиска 0">
            <a:extLst xmlns:a="http://schemas.openxmlformats.org/drawingml/2006/main">
              <a:ext uri="{FF2B5EF4-FFF2-40B4-BE49-F238E27FC236}">
                <a16:creationId xmlns:a16="http://schemas.microsoft.com/office/drawing/2014/main" id="{9D727071-95BE-4E7F-9BDA-C430E6E8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24350"/>
            <a:ext cx="3619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8FB"/>
                </a:solidFill>
                <a:latin typeface="Arial"/>
                <a:ea typeface="Arial"/>
                <a:cs typeface="Arial"/>
              </a:rPr>
              <a:t>«Кто меняет график платежей?»</a:t>
            </a:r>
          </a:p>
        </p:txBody>
      </p:sp>
      <p:sp>
        <p:nvSpPr>
          <p:cNvPr id="12" name="Детали поиска 0">
            <a:extLst xmlns:a="http://schemas.openxmlformats.org/drawingml/2006/main">
              <a:ext uri="{FF2B5EF4-FFF2-40B4-BE49-F238E27FC236}">
                <a16:creationId xmlns:a16="http://schemas.microsoft.com/office/drawing/2014/main" id="{D2813C31-17AA-4543-B69C-E1DA9014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76850"/>
            <a:ext cx="3619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query embedding</a:t>
            </a:r>
          </a:p>
        </p:txBody>
      </p:sp>
      <p:sp>
        <p:nvSpPr>
          <p:cNvPr id="13" name="Стадия поиска 1">
            <a:extLst xmlns:a="http://schemas.openxmlformats.org/drawingml/2006/main">
              <a:ext uri="{FF2B5EF4-FFF2-40B4-BE49-F238E27FC236}">
                <a16:creationId xmlns:a16="http://schemas.microsoft.com/office/drawing/2014/main" id="{3F2F8A6E-7641-42BE-9113-46A3590E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33750"/>
            <a:ext cx="4095750" cy="2771775"/>
          </a:xfrm>
          <a:prstGeom xmlns:a="http://schemas.openxmlformats.org/drawingml/2006/main" prst="roundRect">
            <a:avLst>
              <a:gd name="adj" fmla="val 6873"/>
            </a:avLst>
          </a:prstGeom>
          <a:solidFill xmlns:a="http://schemas.openxmlformats.org/drawingml/2006/main">
            <a:srgbClr val="0D1B2C"/>
          </a:solidFill>
          <a:ln xmlns:a="http://schemas.openxmlformats.org/drawingml/2006/main" w="14288">
            <a:solidFill>
              <a:srgbClr val="28425A"/>
            </a:solidFill>
            <a:prstDash val="solid"/>
          </a:ln>
        </p:spPr>
      </p:sp>
      <p:sp>
        <p:nvSpPr>
          <p:cNvPr id="14" name="Этап поиска 1">
            <a:extLst xmlns:a="http://schemas.openxmlformats.org/drawingml/2006/main">
              <a:ext uri="{FF2B5EF4-FFF2-40B4-BE49-F238E27FC236}">
                <a16:creationId xmlns:a16="http://schemas.microsoft.com/office/drawing/2014/main" id="{0DC0D87A-DC8A-49A3-848E-E8AEA1AB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48075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AF98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F98FF"/>
                </a:solidFill>
                <a:latin typeface="Arial"/>
                <a:ea typeface="Arial"/>
                <a:cs typeface="Arial"/>
              </a:rPr>
              <a:t>Вектор вопроса</a:t>
            </a:r>
          </a:p>
        </p:txBody>
      </p:sp>
      <p:sp>
        <p:nvSpPr>
          <p:cNvPr id="15" name="Данные поиска 1">
            <a:extLst xmlns:a="http://schemas.openxmlformats.org/drawingml/2006/main">
              <a:ext uri="{FF2B5EF4-FFF2-40B4-BE49-F238E27FC236}">
                <a16:creationId xmlns:a16="http://schemas.microsoft.com/office/drawing/2014/main" id="{A97BA4C1-6B39-4A8A-90CD-4C92A475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24350"/>
            <a:ext cx="3619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8FB"/>
                </a:solidFill>
                <a:latin typeface="Arial"/>
                <a:ea typeface="Arial"/>
                <a:cs typeface="Arial"/>
              </a:rPr>
              <a:t>[0.03, −0.12, …]</a:t>
            </a:r>
          </a:p>
        </p:txBody>
      </p:sp>
      <p:sp>
        <p:nvSpPr>
          <p:cNvPr id="16" name="Детали поиска 1">
            <a:extLst xmlns:a="http://schemas.openxmlformats.org/drawingml/2006/main">
              <a:ext uri="{FF2B5EF4-FFF2-40B4-BE49-F238E27FC236}">
                <a16:creationId xmlns:a16="http://schemas.microsoft.com/office/drawing/2014/main" id="{192A37FB-0052-484A-9710-B795C042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76850"/>
            <a:ext cx="3619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тот же hash или semantic provider</a:t>
            </a:r>
          </a:p>
        </p:txBody>
      </p:sp>
      <p:sp>
        <p:nvSpPr>
          <p:cNvPr id="17" name="Стадия поиска 2">
            <a:extLst xmlns:a="http://schemas.openxmlformats.org/drawingml/2006/main">
              <a:ext uri="{FF2B5EF4-FFF2-40B4-BE49-F238E27FC236}">
                <a16:creationId xmlns:a16="http://schemas.microsoft.com/office/drawing/2014/main" id="{B23B2309-8813-4B6A-BEF7-D3F992E0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333750"/>
            <a:ext cx="4095750" cy="2771775"/>
          </a:xfrm>
          <a:prstGeom xmlns:a="http://schemas.openxmlformats.org/drawingml/2006/main" prst="roundRect">
            <a:avLst>
              <a:gd name="adj" fmla="val 6873"/>
            </a:avLst>
          </a:prstGeom>
          <a:solidFill xmlns:a="http://schemas.openxmlformats.org/drawingml/2006/main">
            <a:srgbClr val="0D1B2C"/>
          </a:solidFill>
          <a:ln xmlns:a="http://schemas.openxmlformats.org/drawingml/2006/main" w="14288">
            <a:solidFill>
              <a:srgbClr val="28425A"/>
            </a:solidFill>
            <a:prstDash val="solid"/>
          </a:ln>
        </p:spPr>
      </p:sp>
      <p:sp>
        <p:nvSpPr>
          <p:cNvPr id="18" name="Этап поиска 2">
            <a:extLst xmlns:a="http://schemas.openxmlformats.org/drawingml/2006/main">
              <a:ext uri="{FF2B5EF4-FFF2-40B4-BE49-F238E27FC236}">
                <a16:creationId xmlns:a16="http://schemas.microsoft.com/office/drawing/2014/main" id="{D9EB5E17-1A4F-4C40-ACBC-D4A2836C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648075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5CE3A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CE3A0"/>
                </a:solidFill>
                <a:latin typeface="Arial"/>
                <a:ea typeface="Arial"/>
                <a:cs typeface="Arial"/>
              </a:rPr>
              <a:t>Матрица в RAM</a:t>
            </a:r>
          </a:p>
        </p:txBody>
      </p:sp>
      <p:sp>
        <p:nvSpPr>
          <p:cNvPr id="19" name="Данные поиска 2">
            <a:extLst xmlns:a="http://schemas.openxmlformats.org/drawingml/2006/main">
              <a:ext uri="{FF2B5EF4-FFF2-40B4-BE49-F238E27FC236}">
                <a16:creationId xmlns:a16="http://schemas.microsoft.com/office/drawing/2014/main" id="{35973EE4-DC9E-436E-B440-4EFF9795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324350"/>
            <a:ext cx="3619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8FB"/>
                </a:solidFill>
                <a:latin typeface="Arial"/>
                <a:ea typeface="Arial"/>
                <a:cs typeface="Arial"/>
              </a:rPr>
              <a:t>chunks × dimension</a:t>
            </a:r>
          </a:p>
        </p:txBody>
      </p:sp>
      <p:sp>
        <p:nvSpPr>
          <p:cNvPr id="20" name="Детали поиска 2">
            <a:extLst xmlns:a="http://schemas.openxmlformats.org/drawingml/2006/main">
              <a:ext uri="{FF2B5EF4-FFF2-40B4-BE49-F238E27FC236}">
                <a16:creationId xmlns:a16="http://schemas.microsoft.com/office/drawing/2014/main" id="{7D14237D-75A4-4BF0-972D-3EF19819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276850"/>
            <a:ext cx="3619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cosine: </a:t>
            </a:r>
            <a:r>
              <a:rPr sz="172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matrix @ query_vector</a:t>
            </a:r>
            <a:r>
              <a:rPr sz="172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 → top-k + evidence</a:t>
            </a:r>
          </a:p>
        </p:txBody>
      </p:sp>
      <p:sp>
        <p:nvSpPr>
          <p:cNvPr id="21" name="Акцент вывода">
            <a:extLst xmlns:a="http://schemas.openxmlformats.org/drawingml/2006/main">
              <a:ext uri="{FF2B5EF4-FFF2-40B4-BE49-F238E27FC236}">
                <a16:creationId xmlns:a16="http://schemas.microsoft.com/office/drawing/2014/main" id="{714D942B-8373-44FA-8C09-982BFDB9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72275"/>
            <a:ext cx="381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Ключевой вывод">
            <a:extLst xmlns:a="http://schemas.openxmlformats.org/drawingml/2006/main">
              <a:ext uri="{FF2B5EF4-FFF2-40B4-BE49-F238E27FC236}">
                <a16:creationId xmlns:a16="http://schemas.microsoft.com/office/drawing/2014/main" id="{2E92A588-2D6E-43CD-AAA1-36749E9E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34207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Здесь нет отдельной vector DB:</a:t>
            </a:r>
            <a:r>
              <a:rPr sz="180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 индекс хранит NumPy-матрицу, считает полный cosine scan в памяти и возвращает короткие выдержки со ссылками на источники.</a:t>
            </a:r>
          </a:p>
        </p:txBody>
      </p:sp>
    </p:spTree>
    <p:extLst>
      <p:ext uri="{BB962C8B-B14F-4D97-AF65-F5344CB8AC3E}">
        <p14:creationId xmlns:p14="http://schemas.microsoft.com/office/powerpoint/2010/main" val="417034546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D1B2C"/>
            </a:gs>
            <a:gs pos="100000">
              <a:srgbClr val="040C1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Рамка слайда">
            <a:extLst xmlns:a="http://schemas.openxmlformats.org/drawingml/2006/main">
              <a:ext uri="{FF2B5EF4-FFF2-40B4-BE49-F238E27FC236}">
                <a16:creationId xmlns:a16="http://schemas.microsoft.com/office/drawing/2014/main" id="{BD89F306-D873-443D-B7B6-5F5B211D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4859000" cy="8191500"/>
          </a:xfrm>
          <a:prstGeom xmlns:a="http://schemas.openxmlformats.org/drawingml/2006/main" prst="roundRect">
            <a:avLst>
              <a:gd name="adj" fmla="val 255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C3145"/>
            </a:solidFill>
            <a:prstDash val="solid"/>
          </a:ln>
        </p:spPr>
      </p:sp>
      <p:sp>
        <p:nvSpPr>
          <p:cNvPr id="2" name="Нижняя разделительная линия">
            <a:extLst xmlns:a="http://schemas.openxmlformats.org/drawingml/2006/main">
              <a:ext uri="{FF2B5EF4-FFF2-40B4-BE49-F238E27FC236}">
                <a16:creationId xmlns:a16="http://schemas.microsoft.com/office/drawing/2014/main" id="{6B7DF547-E51D-41AD-AE40-2243D3EF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Тема презентации">
            <a:extLst xmlns:a="http://schemas.openxmlformats.org/drawingml/2006/main">
              <a:ext uri="{FF2B5EF4-FFF2-40B4-BE49-F238E27FC236}">
                <a16:creationId xmlns:a16="http://schemas.microsoft.com/office/drawing/2014/main" id="{23EE4370-72F6-405C-B803-696F6800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4B8C9"/>
                </a:solidFill>
                <a:latin typeface="Arial"/>
                <a:ea typeface="Arial"/>
                <a:cs typeface="Arial"/>
              </a:rPr>
              <a:t>RAG  /  SDD  /  300+ МИКРОСЕРВИСОВ</a:t>
            </a:r>
          </a:p>
        </p:txBody>
      </p:sp>
      <p:sp>
        <p:nvSpPr>
          <p:cNvPr id="4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A5574BFC-3423-4077-8CE8-42CD8FA0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77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11 / 20</a:t>
            </a:r>
          </a:p>
        </p:txBody>
      </p:sp>
      <p:sp>
        <p:nvSpPr>
          <p:cNvPr id="5" name="Надзаголовок">
            <a:extLst xmlns:a="http://schemas.openxmlformats.org/drawingml/2006/main">
              <a:ext uri="{FF2B5EF4-FFF2-40B4-BE49-F238E27FC236}">
                <a16:creationId xmlns:a16="http://schemas.microsoft.com/office/drawing/2014/main" id="{97BC9A5F-AC5C-4B74-B473-EFA1B37E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"/>
            <a:ext cx="1369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ГРАФ СИСТЕМЫ</a:t>
            </a:r>
          </a:p>
        </p:txBody>
      </p:sp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F480A352-5BFE-4952-B1DB-96F62EBD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Построение графа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AF98FF"/>
                </a:solidFill>
                <a:latin typeface="Arial"/>
                <a:ea typeface="Arial"/>
                <a:cs typeface="Arial"/>
              </a:rPr>
              <a:t>межсервисных связей</a:t>
            </a:r>
          </a:p>
        </p:txBody>
      </p:sp>
      <p:sp>
        <p:nvSpPr>
          <p:cNvPr id="7" name="Переход графа 0">
            <a:extLst xmlns:a="http://schemas.openxmlformats.org/drawingml/2006/main">
              <a:ext uri="{FF2B5EF4-FFF2-40B4-BE49-F238E27FC236}">
                <a16:creationId xmlns:a16="http://schemas.microsoft.com/office/drawing/2014/main" id="{F5C0E3F2-7AC9-4314-B5AB-C1741888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24375"/>
            <a:ext cx="457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Переход графа 1">
            <a:extLst xmlns:a="http://schemas.openxmlformats.org/drawingml/2006/main">
              <a:ext uri="{FF2B5EF4-FFF2-40B4-BE49-F238E27FC236}">
                <a16:creationId xmlns:a16="http://schemas.microsoft.com/office/drawing/2014/main" id="{B7B473A5-39B9-43FC-9007-1DBA71E8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524375"/>
            <a:ext cx="457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Переход графа 2">
            <a:extLst xmlns:a="http://schemas.openxmlformats.org/drawingml/2006/main">
              <a:ext uri="{FF2B5EF4-FFF2-40B4-BE49-F238E27FC236}">
                <a16:creationId xmlns:a16="http://schemas.microsoft.com/office/drawing/2014/main" id="{535B0CCF-6286-4645-8115-600CDFAB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24375"/>
            <a:ext cx="457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Акцент этапа 0">
            <a:extLst xmlns:a="http://schemas.openxmlformats.org/drawingml/2006/main">
              <a:ext uri="{FF2B5EF4-FFF2-40B4-BE49-F238E27FC236}">
                <a16:creationId xmlns:a16="http://schemas.microsoft.com/office/drawing/2014/main" id="{CAF21FB2-B549-430C-8904-E46616D9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8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Этап графа 0">
            <a:extLst xmlns:a="http://schemas.openxmlformats.org/drawingml/2006/main">
              <a:ext uri="{FF2B5EF4-FFF2-40B4-BE49-F238E27FC236}">
                <a16:creationId xmlns:a16="http://schemas.microsoft.com/office/drawing/2014/main" id="{A98B7F55-D794-4BC3-9B65-F8340435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61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Исходники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и контракты</a:t>
            </a:r>
          </a:p>
        </p:txBody>
      </p:sp>
      <p:sp>
        <p:nvSpPr>
          <p:cNvPr id="12" name="Данные графа 0">
            <a:extLst xmlns:a="http://schemas.openxmlformats.org/drawingml/2006/main">
              <a:ext uri="{FF2B5EF4-FFF2-40B4-BE49-F238E27FC236}">
                <a16:creationId xmlns:a16="http://schemas.microsoft.com/office/drawing/2014/main" id="{32E0D4C4-9CB3-4DD8-A846-AF3E880B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2857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клиенты HTTP · OpenAPI · Kafka · конфигурация</a:t>
            </a:r>
          </a:p>
        </p:txBody>
      </p:sp>
      <p:sp>
        <p:nvSpPr>
          <p:cNvPr id="13" name="Акцент этапа 1">
            <a:extLst xmlns:a="http://schemas.openxmlformats.org/drawingml/2006/main">
              <a:ext uri="{FF2B5EF4-FFF2-40B4-BE49-F238E27FC236}">
                <a16:creationId xmlns:a16="http://schemas.microsoft.com/office/drawing/2014/main" id="{ED9490C9-CC34-4609-B8B2-00854924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9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Этап графа 1">
            <a:extLst xmlns:a="http://schemas.openxmlformats.org/drawingml/2006/main">
              <a:ext uri="{FF2B5EF4-FFF2-40B4-BE49-F238E27FC236}">
                <a16:creationId xmlns:a16="http://schemas.microsoft.com/office/drawing/2014/main" id="{7AC45235-A3B0-4637-B1A8-9E904A39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861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Извлекаем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связи</a:t>
            </a:r>
          </a:p>
        </p:txBody>
      </p:sp>
      <p:sp>
        <p:nvSpPr>
          <p:cNvPr id="15" name="Данные графа 1">
            <a:extLst xmlns:a="http://schemas.openxmlformats.org/drawingml/2006/main">
              <a:ext uri="{FF2B5EF4-FFF2-40B4-BE49-F238E27FC236}">
                <a16:creationId xmlns:a16="http://schemas.microsoft.com/office/drawing/2014/main" id="{F039175B-7A0C-4C38-8B30-892288EF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33925"/>
            <a:ext cx="2857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кто вызывает, публикует, читает и владеет данными</a:t>
            </a:r>
          </a:p>
        </p:txBody>
      </p:sp>
      <p:sp>
        <p:nvSpPr>
          <p:cNvPr id="16" name="Акцент этапа 2">
            <a:extLst xmlns:a="http://schemas.openxmlformats.org/drawingml/2006/main">
              <a:ext uri="{FF2B5EF4-FFF2-40B4-BE49-F238E27FC236}">
                <a16:creationId xmlns:a16="http://schemas.microsoft.com/office/drawing/2014/main" id="{68A2B033-CE3C-4B88-AB3B-71C05B74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Этап графа 2">
            <a:extLst xmlns:a="http://schemas.openxmlformats.org/drawingml/2006/main">
              <a:ext uri="{FF2B5EF4-FFF2-40B4-BE49-F238E27FC236}">
                <a16:creationId xmlns:a16="http://schemas.microsoft.com/office/drawing/2014/main" id="{B838B32A-47C4-4B47-BA14-C30F8818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861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Граф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сервисов</a:t>
            </a:r>
          </a:p>
        </p:txBody>
      </p:sp>
      <p:sp>
        <p:nvSpPr>
          <p:cNvPr id="18" name="Данные графа 2">
            <a:extLst xmlns:a="http://schemas.openxmlformats.org/drawingml/2006/main">
              <a:ext uri="{FF2B5EF4-FFF2-40B4-BE49-F238E27FC236}">
                <a16:creationId xmlns:a16="http://schemas.microsoft.com/office/drawing/2014/main" id="{A5B9FE44-B3B8-4918-A8D3-B52808DE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33925"/>
            <a:ext cx="2857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узлы · рёбра · направление · confidence</a:t>
            </a:r>
          </a:p>
        </p:txBody>
      </p:sp>
      <p:sp>
        <p:nvSpPr>
          <p:cNvPr id="19" name="Акцент этапа 3">
            <a:extLst xmlns:a="http://schemas.openxmlformats.org/drawingml/2006/main">
              <a:ext uri="{FF2B5EF4-FFF2-40B4-BE49-F238E27FC236}">
                <a16:creationId xmlns:a16="http://schemas.microsoft.com/office/drawing/2014/main" id="{DF656D7C-E87B-42B5-B45D-9EC18FD8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337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3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Этап графа 3">
            <a:extLst xmlns:a="http://schemas.openxmlformats.org/drawingml/2006/main">
              <a:ext uri="{FF2B5EF4-FFF2-40B4-BE49-F238E27FC236}">
                <a16:creationId xmlns:a16="http://schemas.microsoft.com/office/drawing/2014/main" id="{A9A6163A-7BE1-4DC1-9F82-4A74BDAB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861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Evidence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и revision</a:t>
            </a:r>
          </a:p>
        </p:txBody>
      </p:sp>
      <p:sp>
        <p:nvSpPr>
          <p:cNvPr id="21" name="Данные графа 3">
            <a:extLst xmlns:a="http://schemas.openxmlformats.org/drawingml/2006/main">
              <a:ext uri="{FF2B5EF4-FFF2-40B4-BE49-F238E27FC236}">
                <a16:creationId xmlns:a16="http://schemas.microsoft.com/office/drawing/2014/main" id="{54B0CF8C-AF1C-4A8A-ABE3-D75C910D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33925"/>
            <a:ext cx="2857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видно, из какого источника взята каждая связь</a:t>
            </a:r>
          </a:p>
        </p:txBody>
      </p:sp>
      <p:sp>
        <p:nvSpPr>
          <p:cNvPr id="22" name="Акцент вывода">
            <a:extLst xmlns:a="http://schemas.openxmlformats.org/drawingml/2006/main">
              <a:ext uri="{FF2B5EF4-FFF2-40B4-BE49-F238E27FC236}">
                <a16:creationId xmlns:a16="http://schemas.microsoft.com/office/drawing/2014/main" id="{A1EE501C-733B-47C2-B924-09067B9C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72275"/>
            <a:ext cx="381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Ключевой вывод">
            <a:extLst xmlns:a="http://schemas.openxmlformats.org/drawingml/2006/main">
              <a:ext uri="{FF2B5EF4-FFF2-40B4-BE49-F238E27FC236}">
                <a16:creationId xmlns:a16="http://schemas.microsoft.com/office/drawing/2014/main" id="{E7621B4C-E10E-4C6E-B450-D6C3DA0A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34207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Это навигация, а не runtime trace:</a:t>
            </a:r>
            <a:r>
              <a:rPr sz="180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 граф помогает выбрать маршрут анализа, но важный вывод всё равно проверяется по коду, контракту и документу.</a:t>
            </a:r>
          </a:p>
        </p:txBody>
      </p:sp>
    </p:spTree>
    <p:extLst>
      <p:ext uri="{BB962C8B-B14F-4D97-AF65-F5344CB8AC3E}">
        <p14:creationId xmlns:p14="http://schemas.microsoft.com/office/powerpoint/2010/main" val="937715852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D1B2C"/>
            </a:gs>
            <a:gs pos="100000">
              <a:srgbClr val="040C1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Рамка слайда">
            <a:extLst xmlns:a="http://schemas.openxmlformats.org/drawingml/2006/main">
              <a:ext uri="{FF2B5EF4-FFF2-40B4-BE49-F238E27FC236}">
                <a16:creationId xmlns:a16="http://schemas.microsoft.com/office/drawing/2014/main" id="{A0CF447D-C47F-439E-83E2-648669EE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4859000" cy="8191500"/>
          </a:xfrm>
          <a:prstGeom xmlns:a="http://schemas.openxmlformats.org/drawingml/2006/main" prst="roundRect">
            <a:avLst>
              <a:gd name="adj" fmla="val 255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C3145"/>
            </a:solidFill>
            <a:prstDash val="solid"/>
          </a:ln>
        </p:spPr>
      </p:sp>
      <p:sp>
        <p:nvSpPr>
          <p:cNvPr id="2" name="Нижняя разделительная линия">
            <a:extLst xmlns:a="http://schemas.openxmlformats.org/drawingml/2006/main">
              <a:ext uri="{FF2B5EF4-FFF2-40B4-BE49-F238E27FC236}">
                <a16:creationId xmlns:a16="http://schemas.microsoft.com/office/drawing/2014/main" id="{CF60C6A8-A811-4ACA-B1E0-1899E08F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Тема презентации">
            <a:extLst xmlns:a="http://schemas.openxmlformats.org/drawingml/2006/main">
              <a:ext uri="{FF2B5EF4-FFF2-40B4-BE49-F238E27FC236}">
                <a16:creationId xmlns:a16="http://schemas.microsoft.com/office/drawing/2014/main" id="{48BF6F16-320E-4A8F-AE18-0F160D5D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4B8C9"/>
                </a:solidFill>
                <a:latin typeface="Arial"/>
                <a:ea typeface="Arial"/>
                <a:cs typeface="Arial"/>
              </a:rPr>
              <a:t>RAG  /  SDD  /  300+ МИКРОСЕРВИСОВ</a:t>
            </a:r>
          </a:p>
        </p:txBody>
      </p:sp>
      <p:sp>
        <p:nvSpPr>
          <p:cNvPr id="4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46EDB48F-44BD-4A29-A83F-E04D10E9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77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12 / 20</a:t>
            </a:r>
          </a:p>
        </p:txBody>
      </p:sp>
      <p:sp>
        <p:nvSpPr>
          <p:cNvPr id="5" name="Надзаголовок">
            <a:extLst xmlns:a="http://schemas.openxmlformats.org/drawingml/2006/main">
              <a:ext uri="{FF2B5EF4-FFF2-40B4-BE49-F238E27FC236}">
                <a16:creationId xmlns:a16="http://schemas.microsoft.com/office/drawing/2014/main" id="{4C1F3A22-B0BC-4D2D-8929-11DB0A55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"/>
            <a:ext cx="1369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СТАТИЧЕСКИЙ АНАЛИЗ</a:t>
            </a:r>
          </a:p>
        </p:txBody>
      </p:sp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4D7048CC-BF60-44A0-9B6F-83FAF8A6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Статический анализ репозиториев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AF98FF"/>
                </a:solidFill>
                <a:latin typeface="Arial"/>
                <a:ea typeface="Arial"/>
                <a:cs typeface="Arial"/>
              </a:rPr>
              <a:t>для построения графа</a:t>
            </a:r>
          </a:p>
        </p:txBody>
      </p:sp>
      <p:sp>
        <p:nvSpPr>
          <p:cNvPr id="7" name="Акцент колонки 0">
            <a:extLst xmlns:a="http://schemas.openxmlformats.org/drawingml/2006/main">
              <a:ext uri="{FF2B5EF4-FFF2-40B4-BE49-F238E27FC236}">
                <a16:creationId xmlns:a16="http://schemas.microsoft.com/office/drawing/2014/main" id="{668928DE-1874-4653-BC34-9BD35F97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19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Заголовок колонки 0">
            <a:extLst xmlns:a="http://schemas.openxmlformats.org/drawingml/2006/main">
              <a:ext uri="{FF2B5EF4-FFF2-40B4-BE49-F238E27FC236}">
                <a16:creationId xmlns:a16="http://schemas.microsoft.com/office/drawing/2014/main" id="{FD24940F-D575-4672-8B3A-D4C98DC4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Находим границы</a:t>
            </a:r>
          </a:p>
        </p:txBody>
      </p:sp>
      <p:sp>
        <p:nvSpPr>
          <p:cNvPr id="9" name="Текст колонки 0">
            <a:extLst xmlns:a="http://schemas.openxmlformats.org/drawingml/2006/main">
              <a:ext uri="{FF2B5EF4-FFF2-40B4-BE49-F238E27FC236}">
                <a16:creationId xmlns:a16="http://schemas.microsoft.com/office/drawing/2014/main" id="{7A4D7554-D41A-4E0A-AF8E-5F63671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4191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Maven/Gradle-модули, </a:t>
            </a: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spring.application.name</a:t>
            </a: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, manifest и конфигурация подсказывают, где начинается сервис.</a:t>
            </a:r>
          </a:p>
        </p:txBody>
      </p:sp>
      <p:sp>
        <p:nvSpPr>
          <p:cNvPr id="10" name="Акцент колонки 1">
            <a:extLst xmlns:a="http://schemas.openxmlformats.org/drawingml/2006/main">
              <a:ext uri="{FF2B5EF4-FFF2-40B4-BE49-F238E27FC236}">
                <a16:creationId xmlns:a16="http://schemas.microsoft.com/office/drawing/2014/main" id="{4D3B76C3-417A-4D6A-A3F6-482890D2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33750"/>
            <a:ext cx="419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9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Заголовок колонки 1">
            <a:extLst xmlns:a="http://schemas.openxmlformats.org/drawingml/2006/main">
              <a:ext uri="{FF2B5EF4-FFF2-40B4-BE49-F238E27FC236}">
                <a16:creationId xmlns:a16="http://schemas.microsoft.com/office/drawing/2014/main" id="{FD1924AE-3CCF-4434-A939-E4B4BE1D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385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Читаем исходники</a:t>
            </a:r>
          </a:p>
        </p:txBody>
      </p:sp>
      <p:sp>
        <p:nvSpPr>
          <p:cNvPr id="12" name="Текст колонки 1">
            <a:extLst xmlns:a="http://schemas.openxmlformats.org/drawingml/2006/main">
              <a:ext uri="{FF2B5EF4-FFF2-40B4-BE49-F238E27FC236}">
                <a16:creationId xmlns:a16="http://schemas.microsoft.com/office/drawing/2014/main" id="{2D716F1A-7C9E-420C-8D75-B0735168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10100"/>
            <a:ext cx="4191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Tree-sitter разбирает Java и Kotlin: контроллеры, клиенты, listeners, producers и точки входа.</a:t>
            </a:r>
          </a:p>
        </p:txBody>
      </p:sp>
      <p:sp>
        <p:nvSpPr>
          <p:cNvPr id="13" name="Акцент колонки 2">
            <a:extLst xmlns:a="http://schemas.openxmlformats.org/drawingml/2006/main">
              <a:ext uri="{FF2B5EF4-FFF2-40B4-BE49-F238E27FC236}">
                <a16:creationId xmlns:a16="http://schemas.microsoft.com/office/drawing/2014/main" id="{BDF08DEF-5C85-4BD9-A5D7-071EF06E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33750"/>
            <a:ext cx="419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3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Заголовок колонки 2">
            <a:extLst xmlns:a="http://schemas.openxmlformats.org/drawingml/2006/main">
              <a:ext uri="{FF2B5EF4-FFF2-40B4-BE49-F238E27FC236}">
                <a16:creationId xmlns:a16="http://schemas.microsoft.com/office/drawing/2014/main" id="{3EDDE5E1-8363-4B18-9B58-0CF469D8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385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Публикуем snapshot</a:t>
            </a:r>
          </a:p>
        </p:txBody>
      </p:sp>
      <p:sp>
        <p:nvSpPr>
          <p:cNvPr id="15" name="Текст колонки 2">
            <a:extLst xmlns:a="http://schemas.openxmlformats.org/drawingml/2006/main">
              <a:ext uri="{FF2B5EF4-FFF2-40B4-BE49-F238E27FC236}">
                <a16:creationId xmlns:a16="http://schemas.microsoft.com/office/drawing/2014/main" id="{746F67FA-5156-47EF-AE64-D152E57E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10100"/>
            <a:ext cx="4191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Узлы, связи, evidence и revision сохраняются в versioned JSON для повторяемого анализа.</a:t>
            </a:r>
          </a:p>
        </p:txBody>
      </p:sp>
      <p:sp>
        <p:nvSpPr>
          <p:cNvPr id="16" name="Акцент вывода">
            <a:extLst xmlns:a="http://schemas.openxmlformats.org/drawingml/2006/main">
              <a:ext uri="{FF2B5EF4-FFF2-40B4-BE49-F238E27FC236}">
                <a16:creationId xmlns:a16="http://schemas.microsoft.com/office/drawing/2014/main" id="{20188569-AA8C-4E21-9635-B46429D7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48475"/>
            <a:ext cx="381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Ключевой вывод">
            <a:extLst xmlns:a="http://schemas.openxmlformats.org/drawingml/2006/main">
              <a:ext uri="{FF2B5EF4-FFF2-40B4-BE49-F238E27FC236}">
                <a16:creationId xmlns:a16="http://schemas.microsoft.com/office/drawing/2014/main" id="{E6FFC413-1DCB-4FC5-A021-800C5101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96100"/>
            <a:ext cx="134207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Для быстрого графа не нужно запускать сервисы, сборку или вызывать API системы:</a:t>
            </a:r>
            <a:r>
              <a:rPr sz="180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 достаточно исходников и конфигурации из Git.</a:t>
            </a:r>
          </a:p>
        </p:txBody>
      </p:sp>
    </p:spTree>
    <p:extLst>
      <p:ext uri="{BB962C8B-B14F-4D97-AF65-F5344CB8AC3E}">
        <p14:creationId xmlns:p14="http://schemas.microsoft.com/office/powerpoint/2010/main" val="882701622"/>
      </p:ext>
    </p:extLst>
  </p:cSld>
</p:sld>
</file>

<file path=ppt/slides/slide1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D1B2C"/>
            </a:gs>
            <a:gs pos="100000">
              <a:srgbClr val="040C1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Рамка слайда">
            <a:extLst xmlns:a="http://schemas.openxmlformats.org/drawingml/2006/main">
              <a:ext uri="{FF2B5EF4-FFF2-40B4-BE49-F238E27FC236}">
                <a16:creationId xmlns:a16="http://schemas.microsoft.com/office/drawing/2014/main" id="{551FA674-12C2-45BA-B688-7310C78A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4859000" cy="8191500"/>
          </a:xfrm>
          <a:prstGeom xmlns:a="http://schemas.openxmlformats.org/drawingml/2006/main" prst="roundRect">
            <a:avLst>
              <a:gd name="adj" fmla="val 255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C3145"/>
            </a:solidFill>
            <a:prstDash val="solid"/>
          </a:ln>
        </p:spPr>
      </p:sp>
      <p:sp>
        <p:nvSpPr>
          <p:cNvPr id="2" name="Нижняя разделительная линия">
            <a:extLst xmlns:a="http://schemas.openxmlformats.org/drawingml/2006/main">
              <a:ext uri="{FF2B5EF4-FFF2-40B4-BE49-F238E27FC236}">
                <a16:creationId xmlns:a16="http://schemas.microsoft.com/office/drawing/2014/main" id="{FB69621D-7554-43D4-9522-75DCA531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Тема презентации">
            <a:extLst xmlns:a="http://schemas.openxmlformats.org/drawingml/2006/main">
              <a:ext uri="{FF2B5EF4-FFF2-40B4-BE49-F238E27FC236}">
                <a16:creationId xmlns:a16="http://schemas.microsoft.com/office/drawing/2014/main" id="{87564B28-9C84-4568-AA56-0D9EB7F4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4B8C9"/>
                </a:solidFill>
                <a:latin typeface="Arial"/>
                <a:ea typeface="Arial"/>
                <a:cs typeface="Arial"/>
              </a:rPr>
              <a:t>RAG  /  SDD  /  300+ МИКРОСЕРВИСОВ</a:t>
            </a:r>
          </a:p>
        </p:txBody>
      </p:sp>
      <p:sp>
        <p:nvSpPr>
          <p:cNvPr id="4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C96E9273-5D59-45A6-B8A6-DB53A31A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77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13 / 20</a:t>
            </a:r>
          </a:p>
        </p:txBody>
      </p:sp>
      <p:sp>
        <p:nvSpPr>
          <p:cNvPr id="5" name="Надзаголовок">
            <a:extLst xmlns:a="http://schemas.openxmlformats.org/drawingml/2006/main">
              <a:ext uri="{FF2B5EF4-FFF2-40B4-BE49-F238E27FC236}">
                <a16:creationId xmlns:a16="http://schemas.microsoft.com/office/drawing/2014/main" id="{0A8150E2-F526-402F-8C0C-DF92D228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"/>
            <a:ext cx="1369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СОПОСТАВЛЕНИЕ КОНТРАКТОВ</a:t>
            </a:r>
          </a:p>
        </p:txBody>
      </p:sp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9C02273-395C-444E-AADD-C73212AF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Выявление межсервисных связей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по коду и контрактам</a:t>
            </a:r>
          </a:p>
        </p:txBody>
      </p:sp>
      <p:sp>
        <p:nvSpPr>
          <p:cNvPr id="7" name="Переход графа 0">
            <a:extLst xmlns:a="http://schemas.openxmlformats.org/drawingml/2006/main">
              <a:ext uri="{FF2B5EF4-FFF2-40B4-BE49-F238E27FC236}">
                <a16:creationId xmlns:a16="http://schemas.microsoft.com/office/drawing/2014/main" id="{F70081FC-4399-4133-928F-14F267A9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24375"/>
            <a:ext cx="457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Переход графа 1">
            <a:extLst xmlns:a="http://schemas.openxmlformats.org/drawingml/2006/main">
              <a:ext uri="{FF2B5EF4-FFF2-40B4-BE49-F238E27FC236}">
                <a16:creationId xmlns:a16="http://schemas.microsoft.com/office/drawing/2014/main" id="{3912DC25-4DA7-44AC-ABD0-7A8C3E02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524375"/>
            <a:ext cx="457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Переход графа 2">
            <a:extLst xmlns:a="http://schemas.openxmlformats.org/drawingml/2006/main">
              <a:ext uri="{FF2B5EF4-FFF2-40B4-BE49-F238E27FC236}">
                <a16:creationId xmlns:a16="http://schemas.microsoft.com/office/drawing/2014/main" id="{BD0732BE-814A-4149-AC8E-25096394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24375"/>
            <a:ext cx="457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Акцент этапа 0">
            <a:extLst xmlns:a="http://schemas.openxmlformats.org/drawingml/2006/main">
              <a:ext uri="{FF2B5EF4-FFF2-40B4-BE49-F238E27FC236}">
                <a16:creationId xmlns:a16="http://schemas.microsoft.com/office/drawing/2014/main" id="{F2575196-3E1B-44EA-BF26-0EECAEE9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8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Этап графа 0">
            <a:extLst xmlns:a="http://schemas.openxmlformats.org/drawingml/2006/main">
              <a:ext uri="{FF2B5EF4-FFF2-40B4-BE49-F238E27FC236}">
                <a16:creationId xmlns:a16="http://schemas.microsoft.com/office/drawing/2014/main" id="{023935E9-C9F4-45D4-9171-CF2C6769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61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Находим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источник</a:t>
            </a:r>
          </a:p>
        </p:txBody>
      </p:sp>
      <p:sp>
        <p:nvSpPr>
          <p:cNvPr id="12" name="Данные графа 0">
            <a:extLst xmlns:a="http://schemas.openxmlformats.org/drawingml/2006/main">
              <a:ext uri="{FF2B5EF4-FFF2-40B4-BE49-F238E27FC236}">
                <a16:creationId xmlns:a16="http://schemas.microsoft.com/office/drawing/2014/main" id="{7AB7F316-DD2A-4E37-8EAB-E510652A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2857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Feign · WebClient · RestTemplate · KafkaTemplate · listener</a:t>
            </a:r>
          </a:p>
        </p:txBody>
      </p:sp>
      <p:sp>
        <p:nvSpPr>
          <p:cNvPr id="13" name="Акцент этапа 1">
            <a:extLst xmlns:a="http://schemas.openxmlformats.org/drawingml/2006/main">
              <a:ext uri="{FF2B5EF4-FFF2-40B4-BE49-F238E27FC236}">
                <a16:creationId xmlns:a16="http://schemas.microsoft.com/office/drawing/2014/main" id="{0860E638-430F-472A-8D6E-380406E1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9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Этап графа 1">
            <a:extLst xmlns:a="http://schemas.openxmlformats.org/drawingml/2006/main">
              <a:ext uri="{FF2B5EF4-FFF2-40B4-BE49-F238E27FC236}">
                <a16:creationId xmlns:a16="http://schemas.microsoft.com/office/drawing/2014/main" id="{9F24E217-7BB9-4E7F-96F7-34F2BBB2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861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Нормализуем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значения</a:t>
            </a:r>
          </a:p>
        </p:txBody>
      </p:sp>
      <p:sp>
        <p:nvSpPr>
          <p:cNvPr id="15" name="Данные графа 1">
            <a:extLst xmlns:a="http://schemas.openxmlformats.org/drawingml/2006/main">
              <a:ext uri="{FF2B5EF4-FFF2-40B4-BE49-F238E27FC236}">
                <a16:creationId xmlns:a16="http://schemas.microsoft.com/office/drawing/2014/main" id="{01AF4E37-0279-48C7-93D2-D40597D1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33925"/>
            <a:ext cx="2857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разрешаем properties и простой YAML, приводим path к шаблону</a:t>
            </a:r>
          </a:p>
        </p:txBody>
      </p:sp>
      <p:sp>
        <p:nvSpPr>
          <p:cNvPr id="16" name="Акцент этапа 2">
            <a:extLst xmlns:a="http://schemas.openxmlformats.org/drawingml/2006/main">
              <a:ext uri="{FF2B5EF4-FFF2-40B4-BE49-F238E27FC236}">
                <a16:creationId xmlns:a16="http://schemas.microsoft.com/office/drawing/2014/main" id="{F615F3F9-3BF3-40E8-A274-B0D44ADD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Этап графа 2">
            <a:extLst xmlns:a="http://schemas.openxmlformats.org/drawingml/2006/main">
              <a:ext uri="{FF2B5EF4-FFF2-40B4-BE49-F238E27FC236}">
                <a16:creationId xmlns:a16="http://schemas.microsoft.com/office/drawing/2014/main" id="{1054F0DE-E03B-4FE5-914D-E3789485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861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Сверяем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контракт</a:t>
            </a:r>
          </a:p>
        </p:txBody>
      </p:sp>
      <p:sp>
        <p:nvSpPr>
          <p:cNvPr id="18" name="Данные графа 2">
            <a:extLst xmlns:a="http://schemas.openxmlformats.org/drawingml/2006/main">
              <a:ext uri="{FF2B5EF4-FFF2-40B4-BE49-F238E27FC236}">
                <a16:creationId xmlns:a16="http://schemas.microsoft.com/office/drawing/2014/main" id="{FA15BB49-2691-4E91-B062-10F761EA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33925"/>
            <a:ext cx="2857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HTTP: alias/host + method/path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Kafka: точный topic</a:t>
            </a:r>
          </a:p>
        </p:txBody>
      </p:sp>
      <p:sp>
        <p:nvSpPr>
          <p:cNvPr id="19" name="Акцент этапа 3">
            <a:extLst xmlns:a="http://schemas.openxmlformats.org/drawingml/2006/main">
              <a:ext uri="{FF2B5EF4-FFF2-40B4-BE49-F238E27FC236}">
                <a16:creationId xmlns:a16="http://schemas.microsoft.com/office/drawing/2014/main" id="{1D1BB226-2B83-4735-8F76-26E50D32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337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3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Этап графа 3">
            <a:extLst xmlns:a="http://schemas.openxmlformats.org/drawingml/2006/main">
              <a:ext uri="{FF2B5EF4-FFF2-40B4-BE49-F238E27FC236}">
                <a16:creationId xmlns:a16="http://schemas.microsoft.com/office/drawing/2014/main" id="{F19080D8-62FA-4CE2-9E7F-9F73084E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861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Сохраняем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1" name="Данные графа 3">
            <a:extLst xmlns:a="http://schemas.openxmlformats.org/drawingml/2006/main">
              <a:ext uri="{FF2B5EF4-FFF2-40B4-BE49-F238E27FC236}">
                <a16:creationId xmlns:a16="http://schemas.microsoft.com/office/drawing/2014/main" id="{DD2FDFF0-4436-46EE-9909-B4229A10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33925"/>
            <a:ext cx="2857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repository · commit · file:line · snippet · extractor</a:t>
            </a:r>
          </a:p>
        </p:txBody>
      </p:sp>
      <p:sp>
        <p:nvSpPr>
          <p:cNvPr id="22" name="Акцент вывода">
            <a:extLst xmlns:a="http://schemas.openxmlformats.org/drawingml/2006/main">
              <a:ext uri="{FF2B5EF4-FFF2-40B4-BE49-F238E27FC236}">
                <a16:creationId xmlns:a16="http://schemas.microsoft.com/office/drawing/2014/main" id="{E276D912-2576-432D-9D2B-7D1BF6F8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72275"/>
            <a:ext cx="381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Ключевой вывод">
            <a:extLst xmlns:a="http://schemas.openxmlformats.org/drawingml/2006/main">
              <a:ext uri="{FF2B5EF4-FFF2-40B4-BE49-F238E27FC236}">
                <a16:creationId xmlns:a16="http://schemas.microsoft.com/office/drawing/2014/main" id="{5E77864F-A6DA-44CA-9FB1-D65661C5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134207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Например, совпадение URL ещё не достаточно:</a:t>
            </a:r>
            <a:r>
              <a:rPr sz="180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 для HTTP нужны сервис-назначение и нормализованные method + path; для Kafka — один и тот же topic.</a:t>
            </a:r>
          </a:p>
        </p:txBody>
      </p:sp>
    </p:spTree>
    <p:extLst>
      <p:ext uri="{BB962C8B-B14F-4D97-AF65-F5344CB8AC3E}">
        <p14:creationId xmlns:p14="http://schemas.microsoft.com/office/powerpoint/2010/main" val="1557549246"/>
      </p:ext>
    </p:extLst>
  </p:cSld>
</p:sld>
</file>

<file path=ppt/slides/slide1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D1B2C"/>
            </a:gs>
            <a:gs pos="100000">
              <a:srgbClr val="040C1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Рамка слайда">
            <a:extLst xmlns:a="http://schemas.openxmlformats.org/drawingml/2006/main">
              <a:ext uri="{FF2B5EF4-FFF2-40B4-BE49-F238E27FC236}">
                <a16:creationId xmlns:a16="http://schemas.microsoft.com/office/drawing/2014/main" id="{960C0F42-91D9-4DFA-9104-F60C0EA3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4859000" cy="8191500"/>
          </a:xfrm>
          <a:prstGeom xmlns:a="http://schemas.openxmlformats.org/drawingml/2006/main" prst="roundRect">
            <a:avLst>
              <a:gd name="adj" fmla="val 255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C3145"/>
            </a:solidFill>
            <a:prstDash val="solid"/>
          </a:ln>
        </p:spPr>
      </p:sp>
      <p:sp>
        <p:nvSpPr>
          <p:cNvPr id="2" name="Нижняя разделительная линия">
            <a:extLst xmlns:a="http://schemas.openxmlformats.org/drawingml/2006/main">
              <a:ext uri="{FF2B5EF4-FFF2-40B4-BE49-F238E27FC236}">
                <a16:creationId xmlns:a16="http://schemas.microsoft.com/office/drawing/2014/main" id="{CB723929-4560-4303-AE14-359C1F6C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Тема презентации">
            <a:extLst xmlns:a="http://schemas.openxmlformats.org/drawingml/2006/main">
              <a:ext uri="{FF2B5EF4-FFF2-40B4-BE49-F238E27FC236}">
                <a16:creationId xmlns:a16="http://schemas.microsoft.com/office/drawing/2014/main" id="{7DDEA13C-B6BB-430F-A2F0-A455FD5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4B8C9"/>
                </a:solidFill>
                <a:latin typeface="Arial"/>
                <a:ea typeface="Arial"/>
                <a:cs typeface="Arial"/>
              </a:rPr>
              <a:t>RAG  /  SDD  /  300+ МИКРОСЕРВИСОВ</a:t>
            </a:r>
          </a:p>
        </p:txBody>
      </p:sp>
      <p:sp>
        <p:nvSpPr>
          <p:cNvPr id="4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AD5D6888-57A3-4CEE-8B00-7F266641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77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14 / 20</a:t>
            </a:r>
          </a:p>
        </p:txBody>
      </p:sp>
      <p:sp>
        <p:nvSpPr>
          <p:cNvPr id="5" name="Надзаголовок">
            <a:extLst xmlns:a="http://schemas.openxmlformats.org/drawingml/2006/main">
              <a:ext uri="{FF2B5EF4-FFF2-40B4-BE49-F238E27FC236}">
                <a16:creationId xmlns:a16="http://schemas.microsoft.com/office/drawing/2014/main" id="{96C86669-1AAB-4AB7-9792-9E3BC4A2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"/>
            <a:ext cx="1369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ДОСТОВЕРНОСТЬ ГРАФА</a:t>
            </a:r>
          </a:p>
        </p:txBody>
      </p:sp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CD197E17-9AB6-408C-B44A-E862DAE3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Уровни достоверности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BD73"/>
                </a:solidFill>
                <a:latin typeface="Arial"/>
                <a:ea typeface="Arial"/>
                <a:cs typeface="Arial"/>
              </a:rPr>
              <a:t>и неразрешённые связи графа</a:t>
            </a:r>
          </a:p>
        </p:txBody>
      </p:sp>
      <p:sp>
        <p:nvSpPr>
          <p:cNvPr id="7" name="Акцент колонки 0">
            <a:extLst xmlns:a="http://schemas.openxmlformats.org/drawingml/2006/main">
              <a:ext uri="{FF2B5EF4-FFF2-40B4-BE49-F238E27FC236}">
                <a16:creationId xmlns:a16="http://schemas.microsoft.com/office/drawing/2014/main" id="{4E9A50B6-0E4A-4368-AD51-B856F3D3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19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3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Заголовок колонки 0">
            <a:extLst xmlns:a="http://schemas.openxmlformats.org/drawingml/2006/main">
              <a:ext uri="{FF2B5EF4-FFF2-40B4-BE49-F238E27FC236}">
                <a16:creationId xmlns:a16="http://schemas.microsoft.com/office/drawing/2014/main" id="{EE521251-BFD4-4339-A65F-EB39C10A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DECLARED / HIGH</a:t>
            </a:r>
          </a:p>
        </p:txBody>
      </p:sp>
      <p:sp>
        <p:nvSpPr>
          <p:cNvPr id="9" name="Текст колонки 0">
            <a:extLst xmlns:a="http://schemas.openxmlformats.org/drawingml/2006/main">
              <a:ext uri="{FF2B5EF4-FFF2-40B4-BE49-F238E27FC236}">
                <a16:creationId xmlns:a16="http://schemas.microsoft.com/office/drawing/2014/main" id="{33062E19-C339-4226-B86A-EACD57E4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4191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Есть декларация или сильное source evidence: связь можно использовать как маршрут анализа.</a:t>
            </a:r>
          </a:p>
        </p:txBody>
      </p:sp>
      <p:sp>
        <p:nvSpPr>
          <p:cNvPr id="10" name="Акцент колонки 1">
            <a:extLst xmlns:a="http://schemas.openxmlformats.org/drawingml/2006/main">
              <a:ext uri="{FF2B5EF4-FFF2-40B4-BE49-F238E27FC236}">
                <a16:creationId xmlns:a16="http://schemas.microsoft.com/office/drawing/2014/main" id="{7A6D3815-BC79-45D1-8D48-F74D4A18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33750"/>
            <a:ext cx="419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Заголовок колонки 1">
            <a:extLst xmlns:a="http://schemas.openxmlformats.org/drawingml/2006/main">
              <a:ext uri="{FF2B5EF4-FFF2-40B4-BE49-F238E27FC236}">
                <a16:creationId xmlns:a16="http://schemas.microsoft.com/office/drawing/2014/main" id="{FA98A139-799F-4FBF-B12A-C208E10B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385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MEDIUM / LOW</a:t>
            </a:r>
          </a:p>
        </p:txBody>
      </p:sp>
      <p:sp>
        <p:nvSpPr>
          <p:cNvPr id="12" name="Текст колонки 1">
            <a:extLst xmlns:a="http://schemas.openxmlformats.org/drawingml/2006/main">
              <a:ext uri="{FF2B5EF4-FFF2-40B4-BE49-F238E27FC236}">
                <a16:creationId xmlns:a16="http://schemas.microsoft.com/office/drawing/2014/main" id="{A49F237B-DC74-404E-9FBB-5C4A6E8A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10100"/>
            <a:ext cx="4191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Есть кандидат: похожий клиент, интерфейс или неполный контракт. Его нужно проверить.</a:t>
            </a:r>
          </a:p>
        </p:txBody>
      </p:sp>
      <p:sp>
        <p:nvSpPr>
          <p:cNvPr id="13" name="Акцент колонки 2">
            <a:extLst xmlns:a="http://schemas.openxmlformats.org/drawingml/2006/main">
              <a:ext uri="{FF2B5EF4-FFF2-40B4-BE49-F238E27FC236}">
                <a16:creationId xmlns:a16="http://schemas.microsoft.com/office/drawing/2014/main" id="{734365DC-247A-4B98-8B21-A1CD80F8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33750"/>
            <a:ext cx="419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Заголовок колонки 2">
            <a:extLst xmlns:a="http://schemas.openxmlformats.org/drawingml/2006/main">
              <a:ext uri="{FF2B5EF4-FFF2-40B4-BE49-F238E27FC236}">
                <a16:creationId xmlns:a16="http://schemas.microsoft.com/office/drawing/2014/main" id="{32976135-61D3-434E-9901-43378F70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385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UNRESOLVED</a:t>
            </a:r>
          </a:p>
        </p:txBody>
      </p:sp>
      <p:sp>
        <p:nvSpPr>
          <p:cNvPr id="15" name="Текст колонки 2">
            <a:extLst xmlns:a="http://schemas.openxmlformats.org/drawingml/2006/main">
              <a:ext uri="{FF2B5EF4-FFF2-40B4-BE49-F238E27FC236}">
                <a16:creationId xmlns:a16="http://schemas.microsoft.com/office/drawing/2014/main" id="{57340758-FBB9-45F8-81BE-80518E5C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10100"/>
            <a:ext cx="4191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Динамический URL, topic или несколько целей. Граф не выбирает ответ за человека.</a:t>
            </a:r>
          </a:p>
        </p:txBody>
      </p:sp>
      <p:sp>
        <p:nvSpPr>
          <p:cNvPr id="16" name="Акцент вывода">
            <a:extLst xmlns:a="http://schemas.openxmlformats.org/drawingml/2006/main">
              <a:ext uri="{FF2B5EF4-FFF2-40B4-BE49-F238E27FC236}">
                <a16:creationId xmlns:a16="http://schemas.microsoft.com/office/drawing/2014/main" id="{F27C72DC-12E3-4B65-A2DE-3665E564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48475"/>
            <a:ext cx="381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Ключевой вывод">
            <a:extLst xmlns:a="http://schemas.openxmlformats.org/drawingml/2006/main">
              <a:ext uri="{FF2B5EF4-FFF2-40B4-BE49-F238E27FC236}">
                <a16:creationId xmlns:a16="http://schemas.microsoft.com/office/drawing/2014/main" id="{13143E6D-4775-47C1-9C94-F8420F83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96100"/>
            <a:ext cx="134207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Опциональная проверка GigaCode не рисует граф заново:</a:t>
            </a:r>
            <a:r>
              <a:rPr sz="180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 она разбирает ограниченные пакеты кандидатов и принимает связь только с реальным source evidence и точной целью.</a:t>
            </a:r>
          </a:p>
        </p:txBody>
      </p:sp>
    </p:spTree>
    <p:extLst>
      <p:ext uri="{BB962C8B-B14F-4D97-AF65-F5344CB8AC3E}">
        <p14:creationId xmlns:p14="http://schemas.microsoft.com/office/powerpoint/2010/main" val="621822618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D1B2C"/>
            </a:gs>
            <a:gs pos="100000">
              <a:srgbClr val="040C1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Рамка слайда">
            <a:extLst xmlns:a="http://schemas.openxmlformats.org/drawingml/2006/main">
              <a:ext uri="{FF2B5EF4-FFF2-40B4-BE49-F238E27FC236}">
                <a16:creationId xmlns:a16="http://schemas.microsoft.com/office/drawing/2014/main" id="{CC8B518E-CFBC-402C-89B8-2595C8CD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4859000" cy="8191500"/>
          </a:xfrm>
          <a:prstGeom xmlns:a="http://schemas.openxmlformats.org/drawingml/2006/main" prst="roundRect">
            <a:avLst>
              <a:gd name="adj" fmla="val 255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C3145"/>
            </a:solidFill>
            <a:prstDash val="solid"/>
          </a:ln>
        </p:spPr>
      </p:sp>
      <p:sp>
        <p:nvSpPr>
          <p:cNvPr id="2" name="Нижняя разделительная линия">
            <a:extLst xmlns:a="http://schemas.openxmlformats.org/drawingml/2006/main">
              <a:ext uri="{FF2B5EF4-FFF2-40B4-BE49-F238E27FC236}">
                <a16:creationId xmlns:a16="http://schemas.microsoft.com/office/drawing/2014/main" id="{06A7A2F6-A526-4021-8B4E-BFA5AD11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Тема презентации">
            <a:extLst xmlns:a="http://schemas.openxmlformats.org/drawingml/2006/main">
              <a:ext uri="{FF2B5EF4-FFF2-40B4-BE49-F238E27FC236}">
                <a16:creationId xmlns:a16="http://schemas.microsoft.com/office/drawing/2014/main" id="{93779063-1822-4DE3-BEF6-29756241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4B8C9"/>
                </a:solidFill>
                <a:latin typeface="Arial"/>
                <a:ea typeface="Arial"/>
                <a:cs typeface="Arial"/>
              </a:rPr>
              <a:t>RAG  /  SDD  /  300+ МИКРОСЕРВИСОВ</a:t>
            </a:r>
          </a:p>
        </p:txBody>
      </p:sp>
      <p:sp>
        <p:nvSpPr>
          <p:cNvPr id="4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05BB5969-4AC3-42A2-8150-A1F8376B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77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15 / 20</a:t>
            </a:r>
          </a:p>
        </p:txBody>
      </p:sp>
      <p:sp>
        <p:nvSpPr>
          <p:cNvPr id="5" name="Надзаголовок">
            <a:extLst xmlns:a="http://schemas.openxmlformats.org/drawingml/2006/main">
              <a:ext uri="{FF2B5EF4-FFF2-40B4-BE49-F238E27FC236}">
                <a16:creationId xmlns:a16="http://schemas.microsoft.com/office/drawing/2014/main" id="{FC115A31-3D4D-42FF-B7DD-81821590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"/>
            <a:ext cx="1369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ПРОЦЕСС ПЛАНИРОВАНИЯ</a:t>
            </a:r>
          </a:p>
        </p:txBody>
      </p:sp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970CE430-4FB1-4EBA-85FE-EF80AC3B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Алгоритм планирования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межсервисных изменений</a:t>
            </a:r>
          </a:p>
        </p:txBody>
      </p:sp>
      <p:sp>
        <p:nvSpPr>
          <p:cNvPr id="7" name="Блок алгоритма 0">
            <a:extLst xmlns:a="http://schemas.openxmlformats.org/drawingml/2006/main">
              <a:ext uri="{FF2B5EF4-FFF2-40B4-BE49-F238E27FC236}">
                <a16:creationId xmlns:a16="http://schemas.microsoft.com/office/drawing/2014/main" id="{55B67BDC-F701-47C7-B998-8050AAE0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328612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Акцент алгоритма 0">
            <a:extLst xmlns:a="http://schemas.openxmlformats.org/drawingml/2006/main">
              <a:ext uri="{FF2B5EF4-FFF2-40B4-BE49-F238E27FC236}">
                <a16:creationId xmlns:a16="http://schemas.microsoft.com/office/drawing/2014/main" id="{0DF851A7-EFEA-47B7-81AA-6C1A0FF8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3286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Номер шага 0">
            <a:extLst xmlns:a="http://schemas.openxmlformats.org/drawingml/2006/main">
              <a:ext uri="{FF2B5EF4-FFF2-40B4-BE49-F238E27FC236}">
                <a16:creationId xmlns:a16="http://schemas.microsoft.com/office/drawing/2014/main" id="{F7968AC8-F221-4EFF-A7C4-885BF1EA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194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Действие 0">
            <a:extLst xmlns:a="http://schemas.openxmlformats.org/drawingml/2006/main">
              <a:ext uri="{FF2B5EF4-FFF2-40B4-BE49-F238E27FC236}">
                <a16:creationId xmlns:a16="http://schemas.microsoft.com/office/drawing/2014/main" id="{46DFA8A6-07C2-4AD9-8F0F-1417C934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14725"/>
            <a:ext cx="2924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Разобрать задачу</a:t>
            </a:r>
          </a:p>
        </p:txBody>
      </p:sp>
      <p:sp>
        <p:nvSpPr>
          <p:cNvPr id="11" name="Описание действия 0">
            <a:extLst xmlns:a="http://schemas.openxmlformats.org/drawingml/2006/main">
              <a:ext uri="{FF2B5EF4-FFF2-40B4-BE49-F238E27FC236}">
                <a16:creationId xmlns:a16="http://schemas.microsoft.com/office/drawing/2014/main" id="{A6530D8C-96BB-4D08-8D11-1445C362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38600"/>
            <a:ext cx="29241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цель, актор, ожидаемый результат и ограничения</a:t>
            </a:r>
          </a:p>
        </p:txBody>
      </p:sp>
      <p:sp>
        <p:nvSpPr>
          <p:cNvPr id="12" name="Блок алгоритма 1">
            <a:extLst xmlns:a="http://schemas.openxmlformats.org/drawingml/2006/main">
              <a:ext uri="{FF2B5EF4-FFF2-40B4-BE49-F238E27FC236}">
                <a16:creationId xmlns:a16="http://schemas.microsoft.com/office/drawing/2014/main" id="{457E559E-CB07-4756-A6EB-4F2F3823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86100"/>
            <a:ext cx="328612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Акцент алгоритма 1">
            <a:extLst xmlns:a="http://schemas.openxmlformats.org/drawingml/2006/main">
              <a:ext uri="{FF2B5EF4-FFF2-40B4-BE49-F238E27FC236}">
                <a16:creationId xmlns:a16="http://schemas.microsoft.com/office/drawing/2014/main" id="{725AB5A8-2AD4-4299-93C6-24CB316C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86100"/>
            <a:ext cx="3286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9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Номер шага 1">
            <a:extLst xmlns:a="http://schemas.openxmlformats.org/drawingml/2006/main">
              <a:ext uri="{FF2B5EF4-FFF2-40B4-BE49-F238E27FC236}">
                <a16:creationId xmlns:a16="http://schemas.microsoft.com/office/drawing/2014/main" id="{C4CFBC32-8977-43E7-A14A-70F695CE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194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Действие 1">
            <a:extLst xmlns:a="http://schemas.openxmlformats.org/drawingml/2006/main">
              <a:ext uri="{FF2B5EF4-FFF2-40B4-BE49-F238E27FC236}">
                <a16:creationId xmlns:a16="http://schemas.microsoft.com/office/drawing/2014/main" id="{F8932678-4830-4C86-BDDC-FEFC2DAF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14725"/>
            <a:ext cx="2924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Найти точку входа</a:t>
            </a:r>
          </a:p>
        </p:txBody>
      </p:sp>
      <p:sp>
        <p:nvSpPr>
          <p:cNvPr id="16" name="Описание действия 1">
            <a:extLst xmlns:a="http://schemas.openxmlformats.org/drawingml/2006/main">
              <a:ext uri="{FF2B5EF4-FFF2-40B4-BE49-F238E27FC236}">
                <a16:creationId xmlns:a16="http://schemas.microsoft.com/office/drawing/2014/main" id="{AF5C3A3C-FDE7-4AEB-BC9B-0C2E6566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38600"/>
            <a:ext cx="29241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корневой сервис или список кандидатов</a:t>
            </a:r>
          </a:p>
        </p:txBody>
      </p:sp>
      <p:sp>
        <p:nvSpPr>
          <p:cNvPr id="17" name="Блок алгоритма 2">
            <a:extLst xmlns:a="http://schemas.openxmlformats.org/drawingml/2006/main">
              <a:ext uri="{FF2B5EF4-FFF2-40B4-BE49-F238E27FC236}">
                <a16:creationId xmlns:a16="http://schemas.microsoft.com/office/drawing/2014/main" id="{FA7315B7-C7A0-45ED-8DF7-034631ED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86100"/>
            <a:ext cx="328612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Акцент алгоритма 2">
            <a:extLst xmlns:a="http://schemas.openxmlformats.org/drawingml/2006/main">
              <a:ext uri="{FF2B5EF4-FFF2-40B4-BE49-F238E27FC236}">
                <a16:creationId xmlns:a16="http://schemas.microsoft.com/office/drawing/2014/main" id="{46277EFD-0791-4A5D-AB4D-C5F43223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86100"/>
            <a:ext cx="3286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3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Номер шага 2">
            <a:extLst xmlns:a="http://schemas.openxmlformats.org/drawingml/2006/main">
              <a:ext uri="{FF2B5EF4-FFF2-40B4-BE49-F238E27FC236}">
                <a16:creationId xmlns:a16="http://schemas.microsoft.com/office/drawing/2014/main" id="{78180DDB-91CF-478B-B0AF-B2DF2BD7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2194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Действие 2">
            <a:extLst xmlns:a="http://schemas.openxmlformats.org/drawingml/2006/main">
              <a:ext uri="{FF2B5EF4-FFF2-40B4-BE49-F238E27FC236}">
                <a16:creationId xmlns:a16="http://schemas.microsoft.com/office/drawing/2014/main" id="{89B80919-F24D-4D95-99A7-2BAB2EB0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514725"/>
            <a:ext cx="2924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Пройти по графу</a:t>
            </a:r>
          </a:p>
        </p:txBody>
      </p:sp>
      <p:sp>
        <p:nvSpPr>
          <p:cNvPr id="21" name="Описание действия 2">
            <a:extLst xmlns:a="http://schemas.openxmlformats.org/drawingml/2006/main">
              <a:ext uri="{FF2B5EF4-FFF2-40B4-BE49-F238E27FC236}">
                <a16:creationId xmlns:a16="http://schemas.microsoft.com/office/drawing/2014/main" id="{0BB590CF-47F1-48CA-99E7-F8EEEA3F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038600"/>
            <a:ext cx="29241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выбрать соседей и границы репозиториев</a:t>
            </a:r>
          </a:p>
        </p:txBody>
      </p:sp>
      <p:sp>
        <p:nvSpPr>
          <p:cNvPr id="22" name="Блок алгоритма 3">
            <a:extLst xmlns:a="http://schemas.openxmlformats.org/drawingml/2006/main">
              <a:ext uri="{FF2B5EF4-FFF2-40B4-BE49-F238E27FC236}">
                <a16:creationId xmlns:a16="http://schemas.microsoft.com/office/drawing/2014/main" id="{66714E58-089F-471B-BF7C-7FA1C5FC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086100"/>
            <a:ext cx="328612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Акцент алгоритма 3">
            <a:extLst xmlns:a="http://schemas.openxmlformats.org/drawingml/2006/main">
              <a:ext uri="{FF2B5EF4-FFF2-40B4-BE49-F238E27FC236}">
                <a16:creationId xmlns:a16="http://schemas.microsoft.com/office/drawing/2014/main" id="{23DDE456-2E4F-4965-B61C-EFDB1ECF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086100"/>
            <a:ext cx="3286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Номер шага 3">
            <a:extLst xmlns:a="http://schemas.openxmlformats.org/drawingml/2006/main">
              <a:ext uri="{FF2B5EF4-FFF2-40B4-BE49-F238E27FC236}">
                <a16:creationId xmlns:a16="http://schemas.microsoft.com/office/drawing/2014/main" id="{B2DFFC22-63DA-4C4D-8B88-6DCFC461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2194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Действие 3">
            <a:extLst xmlns:a="http://schemas.openxmlformats.org/drawingml/2006/main">
              <a:ext uri="{FF2B5EF4-FFF2-40B4-BE49-F238E27FC236}">
                <a16:creationId xmlns:a16="http://schemas.microsoft.com/office/drawing/2014/main" id="{49B92406-F2D5-482A-A2E4-86BAB631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514725"/>
            <a:ext cx="2924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Поднять источники</a:t>
            </a:r>
          </a:p>
        </p:txBody>
      </p:sp>
      <p:sp>
        <p:nvSpPr>
          <p:cNvPr id="26" name="Описание действия 3">
            <a:extLst xmlns:a="http://schemas.openxmlformats.org/drawingml/2006/main">
              <a:ext uri="{FF2B5EF4-FFF2-40B4-BE49-F238E27FC236}">
                <a16:creationId xmlns:a16="http://schemas.microsoft.com/office/drawing/2014/main" id="{AC976BAF-A752-487D-B821-F784EC55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038600"/>
            <a:ext cx="29241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найти контракты, правила и код в нужных индексах</a:t>
            </a:r>
          </a:p>
        </p:txBody>
      </p:sp>
      <p:sp>
        <p:nvSpPr>
          <p:cNvPr id="27" name="Блок алгоритма 4">
            <a:extLst xmlns:a="http://schemas.openxmlformats.org/drawingml/2006/main">
              <a:ext uri="{FF2B5EF4-FFF2-40B4-BE49-F238E27FC236}">
                <a16:creationId xmlns:a16="http://schemas.microsoft.com/office/drawing/2014/main" id="{E049AFA5-0373-449B-AD31-74BD99CD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28612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Акцент алгоритма 4">
            <a:extLst xmlns:a="http://schemas.openxmlformats.org/drawingml/2006/main">
              <a:ext uri="{FF2B5EF4-FFF2-40B4-BE49-F238E27FC236}">
                <a16:creationId xmlns:a16="http://schemas.microsoft.com/office/drawing/2014/main" id="{3BE1629D-D390-4D16-84E1-BAC0D9AB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286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Номер шага 4">
            <a:extLst xmlns:a="http://schemas.openxmlformats.org/drawingml/2006/main">
              <a:ext uri="{FF2B5EF4-FFF2-40B4-BE49-F238E27FC236}">
                <a16:creationId xmlns:a16="http://schemas.microsoft.com/office/drawing/2014/main" id="{847C4519-0EFF-42F5-A58E-E4F141F6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0863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Действие 4">
            <a:extLst xmlns:a="http://schemas.openxmlformats.org/drawingml/2006/main">
              <a:ext uri="{FF2B5EF4-FFF2-40B4-BE49-F238E27FC236}">
                <a16:creationId xmlns:a16="http://schemas.microsoft.com/office/drawing/2014/main" id="{16C720A0-84C5-4788-94C1-299C7081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381625"/>
            <a:ext cx="2924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Подтвердить scope</a:t>
            </a:r>
          </a:p>
        </p:txBody>
      </p:sp>
      <p:sp>
        <p:nvSpPr>
          <p:cNvPr id="31" name="Описание действия 4">
            <a:extLst xmlns:a="http://schemas.openxmlformats.org/drawingml/2006/main">
              <a:ext uri="{FF2B5EF4-FFF2-40B4-BE49-F238E27FC236}">
                <a16:creationId xmlns:a16="http://schemas.microsoft.com/office/drawing/2014/main" id="{BEAB1B21-2C31-4FAE-ACA4-FB08C82F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905500"/>
            <a:ext cx="29241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отделить затронутые сервисы от кандидатов</a:t>
            </a:r>
          </a:p>
        </p:txBody>
      </p:sp>
      <p:sp>
        <p:nvSpPr>
          <p:cNvPr id="32" name="Блок алгоритма 5">
            <a:extLst xmlns:a="http://schemas.openxmlformats.org/drawingml/2006/main">
              <a:ext uri="{FF2B5EF4-FFF2-40B4-BE49-F238E27FC236}">
                <a16:creationId xmlns:a16="http://schemas.microsoft.com/office/drawing/2014/main" id="{F79C2442-3D44-476C-9715-E3B76DCC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953000"/>
            <a:ext cx="328612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Акцент алгоритма 5">
            <a:extLst xmlns:a="http://schemas.openxmlformats.org/drawingml/2006/main">
              <a:ext uri="{FF2B5EF4-FFF2-40B4-BE49-F238E27FC236}">
                <a16:creationId xmlns:a16="http://schemas.microsoft.com/office/drawing/2014/main" id="{D60E33D2-8C17-4906-9229-3F3EF0B5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953000"/>
            <a:ext cx="3286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9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Номер шага 5">
            <a:extLst xmlns:a="http://schemas.openxmlformats.org/drawingml/2006/main">
              <a:ext uri="{FF2B5EF4-FFF2-40B4-BE49-F238E27FC236}">
                <a16:creationId xmlns:a16="http://schemas.microsoft.com/office/drawing/2014/main" id="{D3F1AA9B-DD29-4F85-BCC7-5CF4A8C1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863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5" name="Действие 5">
            <a:extLst xmlns:a="http://schemas.openxmlformats.org/drawingml/2006/main">
              <a:ext uri="{FF2B5EF4-FFF2-40B4-BE49-F238E27FC236}">
                <a16:creationId xmlns:a16="http://schemas.microsoft.com/office/drawing/2014/main" id="{19B095B4-896E-4C49-9E98-6260E60E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81625"/>
            <a:ext cx="2924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Собрать план</a:t>
            </a:r>
          </a:p>
        </p:txBody>
      </p:sp>
      <p:sp>
        <p:nvSpPr>
          <p:cNvPr id="36" name="Описание действия 5">
            <a:extLst xmlns:a="http://schemas.openxmlformats.org/drawingml/2006/main">
              <a:ext uri="{FF2B5EF4-FFF2-40B4-BE49-F238E27FC236}">
                <a16:creationId xmlns:a16="http://schemas.microsoft.com/office/drawing/2014/main" id="{BB4E63B8-AB8B-4BD1-9457-BD3B374B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905500"/>
            <a:ext cx="29241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изменения, контракты, rollout, тесты и риски</a:t>
            </a:r>
          </a:p>
        </p:txBody>
      </p:sp>
      <p:sp>
        <p:nvSpPr>
          <p:cNvPr id="37" name="Блок алгоритма 6">
            <a:extLst xmlns:a="http://schemas.openxmlformats.org/drawingml/2006/main">
              <a:ext uri="{FF2B5EF4-FFF2-40B4-BE49-F238E27FC236}">
                <a16:creationId xmlns:a16="http://schemas.microsoft.com/office/drawing/2014/main" id="{866FE99B-3950-4F1C-A387-8DE8C40C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53000"/>
            <a:ext cx="328612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Акцент алгоритма 6">
            <a:extLst xmlns:a="http://schemas.openxmlformats.org/drawingml/2006/main">
              <a:ext uri="{FF2B5EF4-FFF2-40B4-BE49-F238E27FC236}">
                <a16:creationId xmlns:a16="http://schemas.microsoft.com/office/drawing/2014/main" id="{171F282E-9312-4466-8654-0578D089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53000"/>
            <a:ext cx="3286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3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Номер шага 6">
            <a:extLst xmlns:a="http://schemas.openxmlformats.org/drawingml/2006/main">
              <a:ext uri="{FF2B5EF4-FFF2-40B4-BE49-F238E27FC236}">
                <a16:creationId xmlns:a16="http://schemas.microsoft.com/office/drawing/2014/main" id="{57E775F8-59B1-4376-BE38-5F1E1B57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0863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0" name="Действие 6">
            <a:extLst xmlns:a="http://schemas.openxmlformats.org/drawingml/2006/main">
              <a:ext uri="{FF2B5EF4-FFF2-40B4-BE49-F238E27FC236}">
                <a16:creationId xmlns:a16="http://schemas.microsoft.com/office/drawing/2014/main" id="{FE65FDE7-642F-445B-A3E6-554234B9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381625"/>
            <a:ext cx="2924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Проверить план</a:t>
            </a:r>
          </a:p>
        </p:txBody>
      </p:sp>
      <p:sp>
        <p:nvSpPr>
          <p:cNvPr id="41" name="Описание действия 6">
            <a:extLst xmlns:a="http://schemas.openxmlformats.org/drawingml/2006/main">
              <a:ext uri="{FF2B5EF4-FFF2-40B4-BE49-F238E27FC236}">
                <a16:creationId xmlns:a16="http://schemas.microsoft.com/office/drawing/2014/main" id="{2DB409EE-2660-4C53-A146-6D12676A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905500"/>
            <a:ext cx="29241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найти выдуманные факты, конфликты и пробелы</a:t>
            </a:r>
          </a:p>
        </p:txBody>
      </p:sp>
      <p:sp>
        <p:nvSpPr>
          <p:cNvPr id="42" name="Блок алгоритма 7">
            <a:extLst xmlns:a="http://schemas.openxmlformats.org/drawingml/2006/main">
              <a:ext uri="{FF2B5EF4-FFF2-40B4-BE49-F238E27FC236}">
                <a16:creationId xmlns:a16="http://schemas.microsoft.com/office/drawing/2014/main" id="{0F451A88-40FB-42CF-9445-0B001BFD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953000"/>
            <a:ext cx="328612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Акцент алгоритма 7">
            <a:extLst xmlns:a="http://schemas.openxmlformats.org/drawingml/2006/main">
              <a:ext uri="{FF2B5EF4-FFF2-40B4-BE49-F238E27FC236}">
                <a16:creationId xmlns:a16="http://schemas.microsoft.com/office/drawing/2014/main" id="{BB9F01D2-480E-49F0-B460-F1223515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953000"/>
            <a:ext cx="3286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Номер шага 7">
            <a:extLst xmlns:a="http://schemas.openxmlformats.org/drawingml/2006/main">
              <a:ext uri="{FF2B5EF4-FFF2-40B4-BE49-F238E27FC236}">
                <a16:creationId xmlns:a16="http://schemas.microsoft.com/office/drawing/2014/main" id="{DFF67B97-A109-4054-8E3C-7C1ED6E7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50863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5" name="Действие 7">
            <a:extLst xmlns:a="http://schemas.openxmlformats.org/drawingml/2006/main">
              <a:ext uri="{FF2B5EF4-FFF2-40B4-BE49-F238E27FC236}">
                <a16:creationId xmlns:a16="http://schemas.microsoft.com/office/drawing/2014/main" id="{9AC508E2-A166-461C-AF8B-44263DD0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5381625"/>
            <a:ext cx="2924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Подготовить Jira</a:t>
            </a:r>
          </a:p>
        </p:txBody>
      </p:sp>
      <p:sp>
        <p:nvSpPr>
          <p:cNvPr id="46" name="Описание действия 7">
            <a:extLst xmlns:a="http://schemas.openxmlformats.org/drawingml/2006/main">
              <a:ext uri="{FF2B5EF4-FFF2-40B4-BE49-F238E27FC236}">
                <a16:creationId xmlns:a16="http://schemas.microsoft.com/office/drawing/2014/main" id="{ED13339E-E098-412C-AC4B-0BF9F679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5905500"/>
            <a:ext cx="29241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показать preview и ждать явного подтверждения</a:t>
            </a:r>
          </a:p>
        </p:txBody>
      </p:sp>
      <p:sp>
        <p:nvSpPr>
          <p:cNvPr id="47" name="Акцент вывода">
            <a:extLst xmlns:a="http://schemas.openxmlformats.org/drawingml/2006/main">
              <a:ext uri="{FF2B5EF4-FFF2-40B4-BE49-F238E27FC236}">
                <a16:creationId xmlns:a16="http://schemas.microsoft.com/office/drawing/2014/main" id="{51383351-9D0B-41C1-A422-A3BCD7F2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96100"/>
            <a:ext cx="381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Ключевой вывод">
            <a:extLst xmlns:a="http://schemas.openxmlformats.org/drawingml/2006/main">
              <a:ext uri="{FF2B5EF4-FFF2-40B4-BE49-F238E27FC236}">
                <a16:creationId xmlns:a16="http://schemas.microsoft.com/office/drawing/2014/main" id="{694AA197-DA81-415C-9C7B-86D9A505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943725"/>
            <a:ext cx="134207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На каждом шаге можно остановиться:</a:t>
            </a:r>
            <a:r>
              <a:rPr sz="180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 если не найдена точка входа, нет источника или сервис остаётся кандидатом, это фиксируется как неизвестное, а не маскируется красивым планом.</a:t>
            </a:r>
          </a:p>
        </p:txBody>
      </p:sp>
    </p:spTree>
    <p:extLst>
      <p:ext uri="{BB962C8B-B14F-4D97-AF65-F5344CB8AC3E}">
        <p14:creationId xmlns:p14="http://schemas.microsoft.com/office/powerpoint/2010/main" val="176065255"/>
      </p:ext>
    </p:extLst>
  </p:cSld>
</p:sld>
</file>

<file path=ppt/slides/slide1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D1B2C"/>
            </a:gs>
            <a:gs pos="100000">
              <a:srgbClr val="040C1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Рамка слайда">
            <a:extLst xmlns:a="http://schemas.openxmlformats.org/drawingml/2006/main">
              <a:ext uri="{FF2B5EF4-FFF2-40B4-BE49-F238E27FC236}">
                <a16:creationId xmlns:a16="http://schemas.microsoft.com/office/drawing/2014/main" id="{63D8849A-7FA5-4A2D-899B-E81D744B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4859000" cy="8191500"/>
          </a:xfrm>
          <a:prstGeom xmlns:a="http://schemas.openxmlformats.org/drawingml/2006/main" prst="roundRect">
            <a:avLst>
              <a:gd name="adj" fmla="val 255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C3145"/>
            </a:solidFill>
            <a:prstDash val="solid"/>
          </a:ln>
        </p:spPr>
      </p:sp>
      <p:sp>
        <p:nvSpPr>
          <p:cNvPr id="2" name="Нижняя разделительная линия">
            <a:extLst xmlns:a="http://schemas.openxmlformats.org/drawingml/2006/main">
              <a:ext uri="{FF2B5EF4-FFF2-40B4-BE49-F238E27FC236}">
                <a16:creationId xmlns:a16="http://schemas.microsoft.com/office/drawing/2014/main" id="{26FAD9C6-C950-41DE-8309-AE83C9DD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Тема презентации">
            <a:extLst xmlns:a="http://schemas.openxmlformats.org/drawingml/2006/main">
              <a:ext uri="{FF2B5EF4-FFF2-40B4-BE49-F238E27FC236}">
                <a16:creationId xmlns:a16="http://schemas.microsoft.com/office/drawing/2014/main" id="{1E16C877-8CE0-4329-9D9E-C594D3D5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4B8C9"/>
                </a:solidFill>
                <a:latin typeface="Arial"/>
                <a:ea typeface="Arial"/>
                <a:cs typeface="Arial"/>
              </a:rPr>
              <a:t>RAG  /  SDD  /  300+ МИКРОСЕРВИСОВ</a:t>
            </a:r>
          </a:p>
        </p:txBody>
      </p:sp>
      <p:sp>
        <p:nvSpPr>
          <p:cNvPr id="4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3F814FFE-C903-422C-98CE-0CA34256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77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16 / 20</a:t>
            </a:r>
          </a:p>
        </p:txBody>
      </p:sp>
      <p:sp>
        <p:nvSpPr>
          <p:cNvPr id="5" name="Надзаголовок">
            <a:extLst xmlns:a="http://schemas.openxmlformats.org/drawingml/2006/main">
              <a:ext uri="{FF2B5EF4-FFF2-40B4-BE49-F238E27FC236}">
                <a16:creationId xmlns:a16="http://schemas.microsoft.com/office/drawing/2014/main" id="{E6C2EDE4-5B62-434B-8B49-32845B4D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"/>
            <a:ext cx="1369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СТРУКТУРА РЕЗУЛЬТАТА</a:t>
            </a:r>
          </a:p>
        </p:txBody>
      </p:sp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A7AF7DBE-2D3F-4E66-B265-92828AD9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Формат PLAN_OUTPUT_V1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и проверка плана изменений</a:t>
            </a:r>
          </a:p>
        </p:txBody>
      </p:sp>
      <p:sp>
        <p:nvSpPr>
          <p:cNvPr id="7" name="Переход skill 0">
            <a:extLst xmlns:a="http://schemas.openxmlformats.org/drawingml/2006/main">
              <a:ext uri="{FF2B5EF4-FFF2-40B4-BE49-F238E27FC236}">
                <a16:creationId xmlns:a16="http://schemas.microsoft.com/office/drawing/2014/main" id="{CF113A97-3910-493C-AB07-0FE0C562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600575"/>
            <a:ext cx="292036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Переход skill 1">
            <a:extLst xmlns:a="http://schemas.openxmlformats.org/drawingml/2006/main">
              <a:ext uri="{FF2B5EF4-FFF2-40B4-BE49-F238E27FC236}">
                <a16:creationId xmlns:a16="http://schemas.microsoft.com/office/drawing/2014/main" id="{86E3CD61-CE3A-4C1A-9E85-E681D271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887" y="4600575"/>
            <a:ext cx="292036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Переход skill 2">
            <a:extLst xmlns:a="http://schemas.openxmlformats.org/drawingml/2006/main">
              <a:ext uri="{FF2B5EF4-FFF2-40B4-BE49-F238E27FC236}">
                <a16:creationId xmlns:a16="http://schemas.microsoft.com/office/drawing/2014/main" id="{CFA92D06-8247-41C2-8CDC-91715034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4423" y="4600575"/>
            <a:ext cx="292036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kill 0">
            <a:extLst xmlns:a="http://schemas.openxmlformats.org/drawingml/2006/main">
              <a:ext uri="{FF2B5EF4-FFF2-40B4-BE49-F238E27FC236}">
                <a16:creationId xmlns:a16="http://schemas.microsoft.com/office/drawing/2014/main" id="{6AFB5715-2107-492A-ABC4-085D283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3124200" cy="33909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0D1B2C"/>
          </a:solidFill>
          <a:ln xmlns:a="http://schemas.openxmlformats.org/drawingml/2006/main" w="9525">
            <a:solidFill>
              <a:srgbClr val="28425A"/>
            </a:solidFill>
            <a:prstDash val="solid"/>
          </a:ln>
        </p:spPr>
      </p:sp>
      <p:sp>
        <p:nvSpPr>
          <p:cNvPr id="11" name="Акцент skill 0">
            <a:extLst xmlns:a="http://schemas.openxmlformats.org/drawingml/2006/main">
              <a:ext uri="{FF2B5EF4-FFF2-40B4-BE49-F238E27FC236}">
                <a16:creationId xmlns:a16="http://schemas.microsoft.com/office/drawing/2014/main" id="{940E6A15-B96D-4155-A412-8443717C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19450"/>
            <a:ext cx="276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Команда skill 0">
            <a:extLst xmlns:a="http://schemas.openxmlformats.org/drawingml/2006/main">
              <a:ext uri="{FF2B5EF4-FFF2-40B4-BE49-F238E27FC236}">
                <a16:creationId xmlns:a16="http://schemas.microsoft.com/office/drawing/2014/main" id="{9387BF1A-165B-4929-A427-D3F468BF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274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$generate-cross-service-feature</a:t>
            </a:r>
          </a:p>
        </p:txBody>
      </p:sp>
      <p:sp>
        <p:nvSpPr>
          <p:cNvPr id="13" name="Действие skill 0">
            <a:extLst xmlns:a="http://schemas.openxmlformats.org/drawingml/2006/main">
              <a:ext uri="{FF2B5EF4-FFF2-40B4-BE49-F238E27FC236}">
                <a16:creationId xmlns:a16="http://schemas.microsoft.com/office/drawing/2014/main" id="{DF4058A0-E43E-4E5A-AAE5-517BC318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2743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Формулирует задачу</a:t>
            </a:r>
          </a:p>
        </p:txBody>
      </p:sp>
      <p:sp>
        <p:nvSpPr>
          <p:cNvPr id="14" name="Результат skill 0">
            <a:extLst xmlns:a="http://schemas.openxmlformats.org/drawingml/2006/main">
              <a:ext uri="{FF2B5EF4-FFF2-40B4-BE49-F238E27FC236}">
                <a16:creationId xmlns:a16="http://schemas.microsoft.com/office/drawing/2014/main" id="{FC54CE66-6792-4F9A-8BE2-CF603B29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2743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цель, акторы, сценарии, ограничения и критерии приёмки</a:t>
            </a:r>
          </a:p>
        </p:txBody>
      </p:sp>
      <p:sp>
        <p:nvSpPr>
          <p:cNvPr id="15" name="Skill 1">
            <a:extLst xmlns:a="http://schemas.openxmlformats.org/drawingml/2006/main">
              <a:ext uri="{FF2B5EF4-FFF2-40B4-BE49-F238E27FC236}">
                <a16:creationId xmlns:a16="http://schemas.microsoft.com/office/drawing/2014/main" id="{BAB52C15-19AD-4910-9BE3-3AD23417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537" y="3219450"/>
            <a:ext cx="3124200" cy="33909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0D1B2C"/>
          </a:solidFill>
          <a:ln xmlns:a="http://schemas.openxmlformats.org/drawingml/2006/main" w="9525">
            <a:solidFill>
              <a:srgbClr val="28425A"/>
            </a:solidFill>
            <a:prstDash val="solid"/>
          </a:ln>
        </p:spPr>
      </p:sp>
      <p:sp>
        <p:nvSpPr>
          <p:cNvPr id="16" name="Акцент skill 1">
            <a:extLst xmlns:a="http://schemas.openxmlformats.org/drawingml/2006/main">
              <a:ext uri="{FF2B5EF4-FFF2-40B4-BE49-F238E27FC236}">
                <a16:creationId xmlns:a16="http://schemas.microsoft.com/office/drawing/2014/main" id="{7FA581AD-D2AB-4DB3-9720-40394C34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512" y="3219450"/>
            <a:ext cx="276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Команда skill 1">
            <a:extLst xmlns:a="http://schemas.openxmlformats.org/drawingml/2006/main">
              <a:ext uri="{FF2B5EF4-FFF2-40B4-BE49-F238E27FC236}">
                <a16:creationId xmlns:a16="http://schemas.microsoft.com/office/drawing/2014/main" id="{4A0B6B54-14A4-4055-B5FE-F3D8AF1C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037" y="3543300"/>
            <a:ext cx="274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$verify-cross-service-feature</a:t>
            </a:r>
          </a:p>
        </p:txBody>
      </p:sp>
      <p:sp>
        <p:nvSpPr>
          <p:cNvPr id="18" name="Действие skill 1">
            <a:extLst xmlns:a="http://schemas.openxmlformats.org/drawingml/2006/main">
              <a:ext uri="{FF2B5EF4-FFF2-40B4-BE49-F238E27FC236}">
                <a16:creationId xmlns:a16="http://schemas.microsoft.com/office/drawing/2014/main" id="{99ED5015-F217-4695-9DCD-E223C35F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037" y="4429125"/>
            <a:ext cx="2743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Проверяет исходные факты</a:t>
            </a:r>
          </a:p>
        </p:txBody>
      </p:sp>
      <p:sp>
        <p:nvSpPr>
          <p:cNvPr id="19" name="Результат skill 1">
            <a:extLst xmlns:a="http://schemas.openxmlformats.org/drawingml/2006/main">
              <a:ext uri="{FF2B5EF4-FFF2-40B4-BE49-F238E27FC236}">
                <a16:creationId xmlns:a16="http://schemas.microsoft.com/office/drawing/2014/main" id="{231A7E60-14DB-4E85-B8E4-4ED7328E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037" y="5524500"/>
            <a:ext cx="2743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не даёт выдать требования или догадки за текущее состояние</a:t>
            </a:r>
          </a:p>
        </p:txBody>
      </p:sp>
      <p:sp>
        <p:nvSpPr>
          <p:cNvPr id="20" name="Skill 2">
            <a:extLst xmlns:a="http://schemas.openxmlformats.org/drawingml/2006/main">
              <a:ext uri="{FF2B5EF4-FFF2-40B4-BE49-F238E27FC236}">
                <a16:creationId xmlns:a16="http://schemas.microsoft.com/office/drawing/2014/main" id="{EA606AE7-D5B4-498D-A53F-3EEFBA1D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073" y="3219450"/>
            <a:ext cx="3124200" cy="33909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0D1B2C"/>
          </a:solidFill>
          <a:ln xmlns:a="http://schemas.openxmlformats.org/drawingml/2006/main" w="9525">
            <a:solidFill>
              <a:srgbClr val="28425A"/>
            </a:solidFill>
            <a:prstDash val="solid"/>
          </a:ln>
        </p:spPr>
      </p:sp>
      <p:sp>
        <p:nvSpPr>
          <p:cNvPr id="21" name="Акцент skill 2">
            <a:extLst xmlns:a="http://schemas.openxmlformats.org/drawingml/2006/main">
              <a:ext uri="{FF2B5EF4-FFF2-40B4-BE49-F238E27FC236}">
                <a16:creationId xmlns:a16="http://schemas.microsoft.com/office/drawing/2014/main" id="{D164FFE8-0CB9-4CCC-85EA-009B8C02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4048" y="3219450"/>
            <a:ext cx="276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9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Команда skill 2">
            <a:extLst xmlns:a="http://schemas.openxmlformats.org/drawingml/2006/main">
              <a:ext uri="{FF2B5EF4-FFF2-40B4-BE49-F238E27FC236}">
                <a16:creationId xmlns:a16="http://schemas.microsoft.com/office/drawing/2014/main" id="{E4636FCC-49DA-4E10-89FD-CC9C236F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573" y="3543300"/>
            <a:ext cx="274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$plan-feature-with-system-graph</a:t>
            </a:r>
          </a:p>
        </p:txBody>
      </p:sp>
      <p:sp>
        <p:nvSpPr>
          <p:cNvPr id="23" name="Действие skill 2">
            <a:extLst xmlns:a="http://schemas.openxmlformats.org/drawingml/2006/main">
              <a:ext uri="{FF2B5EF4-FFF2-40B4-BE49-F238E27FC236}">
                <a16:creationId xmlns:a16="http://schemas.microsoft.com/office/drawing/2014/main" id="{E3D020EE-F9E2-4D3C-AEED-624ED0C7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573" y="4429125"/>
            <a:ext cx="2743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Собирает единый план</a:t>
            </a:r>
          </a:p>
        </p:txBody>
      </p:sp>
      <p:sp>
        <p:nvSpPr>
          <p:cNvPr id="24" name="Результат skill 2">
            <a:extLst xmlns:a="http://schemas.openxmlformats.org/drawingml/2006/main">
              <a:ext uri="{FF2B5EF4-FFF2-40B4-BE49-F238E27FC236}">
                <a16:creationId xmlns:a16="http://schemas.microsoft.com/office/drawing/2014/main" id="{E1561DF5-384C-448C-AA59-99CF1F57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573" y="5524500"/>
            <a:ext cx="2743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бизнес-резюме · сервисы · изменения · тесты · риски · Jira drafts</a:t>
            </a:r>
          </a:p>
        </p:txBody>
      </p:sp>
      <p:sp>
        <p:nvSpPr>
          <p:cNvPr id="25" name="Skill 3">
            <a:extLst xmlns:a="http://schemas.openxmlformats.org/drawingml/2006/main">
              <a:ext uri="{FF2B5EF4-FFF2-40B4-BE49-F238E27FC236}">
                <a16:creationId xmlns:a16="http://schemas.microsoft.com/office/drawing/2014/main" id="{EFD0BC72-8206-48DF-A38D-CD2DE5E7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610" y="3219450"/>
            <a:ext cx="3124200" cy="33909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0D1B2C"/>
          </a:solidFill>
          <a:ln xmlns:a="http://schemas.openxmlformats.org/drawingml/2006/main" w="9525">
            <a:solidFill>
              <a:srgbClr val="28425A"/>
            </a:solidFill>
            <a:prstDash val="solid"/>
          </a:ln>
        </p:spPr>
      </p:sp>
      <p:sp>
        <p:nvSpPr>
          <p:cNvPr id="26" name="Акцент skill 3">
            <a:extLst xmlns:a="http://schemas.openxmlformats.org/drawingml/2006/main">
              <a:ext uri="{FF2B5EF4-FFF2-40B4-BE49-F238E27FC236}">
                <a16:creationId xmlns:a16="http://schemas.microsoft.com/office/drawing/2014/main" id="{95C57258-53FB-4ECB-A365-32C1C0A6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585" y="3219450"/>
            <a:ext cx="276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Команда skill 3">
            <a:extLst xmlns:a="http://schemas.openxmlformats.org/drawingml/2006/main">
              <a:ext uri="{FF2B5EF4-FFF2-40B4-BE49-F238E27FC236}">
                <a16:creationId xmlns:a16="http://schemas.microsoft.com/office/drawing/2014/main" id="{3BB5F97D-B48E-488A-929D-2248562F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110" y="3543300"/>
            <a:ext cx="274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$verify-cross-service-feature</a:t>
            </a:r>
          </a:p>
        </p:txBody>
      </p:sp>
      <p:sp>
        <p:nvSpPr>
          <p:cNvPr id="28" name="Действие skill 3">
            <a:extLst xmlns:a="http://schemas.openxmlformats.org/drawingml/2006/main">
              <a:ext uri="{FF2B5EF4-FFF2-40B4-BE49-F238E27FC236}">
                <a16:creationId xmlns:a16="http://schemas.microsoft.com/office/drawing/2014/main" id="{5F53D418-2187-4F70-AFF1-883225C3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110" y="4429125"/>
            <a:ext cx="2743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Проверяет готовый план</a:t>
            </a:r>
          </a:p>
        </p:txBody>
      </p:sp>
      <p:sp>
        <p:nvSpPr>
          <p:cNvPr id="29" name="Результат skill 3">
            <a:extLst xmlns:a="http://schemas.openxmlformats.org/drawingml/2006/main">
              <a:ext uri="{FF2B5EF4-FFF2-40B4-BE49-F238E27FC236}">
                <a16:creationId xmlns:a16="http://schemas.microsoft.com/office/drawing/2014/main" id="{DB2919CA-CB7C-4894-A5A5-9FD1584A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110" y="5524500"/>
            <a:ext cx="2743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сверяет сервисы, контракты, evidence и оставшиеся неизвестные</a:t>
            </a:r>
          </a:p>
        </p:txBody>
      </p:sp>
      <p:sp>
        <p:nvSpPr>
          <p:cNvPr id="30" name="Акцент вывода">
            <a:extLst xmlns:a="http://schemas.openxmlformats.org/drawingml/2006/main">
              <a:ext uri="{FF2B5EF4-FFF2-40B4-BE49-F238E27FC236}">
                <a16:creationId xmlns:a16="http://schemas.microsoft.com/office/drawing/2014/main" id="{5C325A98-F4D0-45D2-A0AA-A5D5D546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05625"/>
            <a:ext cx="381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Ключевой вывод">
            <a:extLst xmlns:a="http://schemas.openxmlformats.org/drawingml/2006/main">
              <a:ext uri="{FF2B5EF4-FFF2-40B4-BE49-F238E27FC236}">
                <a16:creationId xmlns:a16="http://schemas.microsoft.com/office/drawing/2014/main" id="{D8582036-CE80-4E86-BFA6-7F6C6548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953250"/>
            <a:ext cx="134207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Бизнес читает резюме и риски; инженер — изменения, контракты, rollout и тесты. Оба смотрят на один и тот же план.</a:t>
            </a:r>
          </a:p>
        </p:txBody>
      </p:sp>
    </p:spTree>
    <p:extLst>
      <p:ext uri="{BB962C8B-B14F-4D97-AF65-F5344CB8AC3E}">
        <p14:creationId xmlns:p14="http://schemas.microsoft.com/office/powerpoint/2010/main" val="1334772315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D1B2C"/>
            </a:gs>
            <a:gs pos="100000">
              <a:srgbClr val="040C1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Рамка слайда">
            <a:extLst xmlns:a="http://schemas.openxmlformats.org/drawingml/2006/main">
              <a:ext uri="{FF2B5EF4-FFF2-40B4-BE49-F238E27FC236}">
                <a16:creationId xmlns:a16="http://schemas.microsoft.com/office/drawing/2014/main" id="{1018250A-F11A-43FD-AFDE-64614024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4859000" cy="8191500"/>
          </a:xfrm>
          <a:prstGeom xmlns:a="http://schemas.openxmlformats.org/drawingml/2006/main" prst="roundRect">
            <a:avLst>
              <a:gd name="adj" fmla="val 255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C3145"/>
            </a:solidFill>
            <a:prstDash val="solid"/>
          </a:ln>
        </p:spPr>
      </p:sp>
      <p:sp>
        <p:nvSpPr>
          <p:cNvPr id="2" name="Нижняя разделительная линия">
            <a:extLst xmlns:a="http://schemas.openxmlformats.org/drawingml/2006/main">
              <a:ext uri="{FF2B5EF4-FFF2-40B4-BE49-F238E27FC236}">
                <a16:creationId xmlns:a16="http://schemas.microsoft.com/office/drawing/2014/main" id="{FA63DAD4-7326-482B-B2F2-94D6F128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Тема презентации">
            <a:extLst xmlns:a="http://schemas.openxmlformats.org/drawingml/2006/main">
              <a:ext uri="{FF2B5EF4-FFF2-40B4-BE49-F238E27FC236}">
                <a16:creationId xmlns:a16="http://schemas.microsoft.com/office/drawing/2014/main" id="{3D87FC7B-4BB2-43BC-B27E-3274A515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4B8C9"/>
                </a:solidFill>
                <a:latin typeface="Arial"/>
                <a:ea typeface="Arial"/>
                <a:cs typeface="Arial"/>
              </a:rPr>
              <a:t>RAG  /  SDD  /  300+ МИКРОСЕРВИСОВ</a:t>
            </a:r>
          </a:p>
        </p:txBody>
      </p:sp>
      <p:sp>
        <p:nvSpPr>
          <p:cNvPr id="4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8BA5644B-08F1-4791-AC26-F12F8FD1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77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17 / 20</a:t>
            </a:r>
          </a:p>
        </p:txBody>
      </p:sp>
      <p:sp>
        <p:nvSpPr>
          <p:cNvPr id="5" name="Надзаголовок">
            <a:extLst xmlns:a="http://schemas.openxmlformats.org/drawingml/2006/main">
              <a:ext uri="{FF2B5EF4-FFF2-40B4-BE49-F238E27FC236}">
                <a16:creationId xmlns:a16="http://schemas.microsoft.com/office/drawing/2014/main" id="{5192F21E-D3E5-4958-A38B-C943068C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"/>
            <a:ext cx="1369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ПЛАН ИЗМЕНЕНИЙ В GIGACODE</a:t>
            </a:r>
          </a:p>
        </p:txBody>
      </p:sp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9945F9B9-FCE4-43EB-9C8B-722DBFE1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Планирование межсервисных изменений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5CE3A0"/>
                </a:solidFill>
                <a:latin typeface="Arial"/>
                <a:ea typeface="Arial"/>
                <a:cs typeface="Arial"/>
              </a:rPr>
              <a:t>в GigaCode</a:t>
            </a:r>
          </a:p>
        </p:txBody>
      </p:sp>
      <p:sp>
        <p:nvSpPr>
          <p:cNvPr id="7" name="Редактируемая область для скриншота">
            <a:extLst xmlns:a="http://schemas.openxmlformats.org/drawingml/2006/main">
              <a:ext uri="{FF2B5EF4-FFF2-40B4-BE49-F238E27FC236}">
                <a16:creationId xmlns:a16="http://schemas.microsoft.com/office/drawing/2014/main" id="{60229D3F-CFF0-4381-A56D-0C8C17B8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9410700" cy="4171950"/>
          </a:xfrm>
          <a:prstGeom xmlns:a="http://schemas.openxmlformats.org/drawingml/2006/main" prst="roundRect">
            <a:avLst>
              <a:gd name="adj" fmla="val 4566"/>
            </a:avLst>
          </a:prstGeom>
          <a:solidFill xmlns:a="http://schemas.openxmlformats.org/drawingml/2006/main">
            <a:srgbClr val="0D1B2C"/>
          </a:solidFill>
          <a:ln xmlns:a="http://schemas.openxmlformats.org/drawingml/2006/main" w="14288">
            <a:solidFill>
              <a:srgbClr val="28425A"/>
            </a:solidFill>
            <a:prstDash val="solid"/>
          </a:ln>
        </p:spPr>
      </p:sp>
      <p:sp>
        <p:nvSpPr>
          <p:cNvPr id="8" name="Линия окна">
            <a:extLst xmlns:a="http://schemas.openxmlformats.org/drawingml/2006/main">
              <a:ext uri="{FF2B5EF4-FFF2-40B4-BE49-F238E27FC236}">
                <a16:creationId xmlns:a16="http://schemas.microsoft.com/office/drawing/2014/main" id="{6EC17CCE-DED2-4503-86D8-D6E73CBE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Индикатор окна 0">
            <a:extLst xmlns:a="http://schemas.openxmlformats.org/drawingml/2006/main">
              <a:ext uri="{FF2B5EF4-FFF2-40B4-BE49-F238E27FC236}">
                <a16:creationId xmlns:a16="http://schemas.microsoft.com/office/drawing/2014/main" id="{A3D08F09-1A46-4D96-82E9-0C0BBD61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Индикатор окна 1">
            <a:extLst xmlns:a="http://schemas.openxmlformats.org/drawingml/2006/main">
              <a:ext uri="{FF2B5EF4-FFF2-40B4-BE49-F238E27FC236}">
                <a16:creationId xmlns:a16="http://schemas.microsoft.com/office/drawing/2014/main" id="{54DFAB54-CF08-4572-B7AA-20885CCA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9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Индикатор окна 2">
            <a:extLst xmlns:a="http://schemas.openxmlformats.org/drawingml/2006/main">
              <a:ext uri="{FF2B5EF4-FFF2-40B4-BE49-F238E27FC236}">
                <a16:creationId xmlns:a16="http://schemas.microsoft.com/office/drawing/2014/main" id="{7E2F0DF7-FCC4-4474-99FC-0F108E12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52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E3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Заголовок окна">
            <a:extLst xmlns:a="http://schemas.openxmlformats.org/drawingml/2006/main">
              <a:ext uri="{FF2B5EF4-FFF2-40B4-BE49-F238E27FC236}">
                <a16:creationId xmlns:a16="http://schemas.microsoft.com/office/drawing/2014/main" id="{C375ABEF-EAC0-487C-A73E-BD919D1F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267075"/>
            <a:ext cx="8153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GigaCode · feature planning</a:t>
            </a:r>
          </a:p>
        </p:txBody>
      </p:sp>
      <p:sp>
        <p:nvSpPr>
          <p:cNvPr id="13" name="Содержимое демо">
            <a:extLst xmlns:a="http://schemas.openxmlformats.org/drawingml/2006/main">
              <a:ext uri="{FF2B5EF4-FFF2-40B4-BE49-F238E27FC236}">
                <a16:creationId xmlns:a16="http://schemas.microsoft.com/office/drawing/2014/main" id="{94EE1F38-872E-4A3E-B364-64243A17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10100"/>
            <a:ext cx="8743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План кросс-сервисной фичи</a:t>
            </a:r>
          </a:p>
        </p:txBody>
      </p:sp>
      <p:sp>
        <p:nvSpPr>
          <p:cNvPr id="14" name="Описание демо">
            <a:extLst xmlns:a="http://schemas.openxmlformats.org/drawingml/2006/main">
              <a:ext uri="{FF2B5EF4-FFF2-40B4-BE49-F238E27FC236}">
                <a16:creationId xmlns:a16="http://schemas.microsoft.com/office/drawing/2014/main" id="{DE2F5BBB-F279-4F09-87CE-AAAD3D92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9775"/>
            <a:ext cx="80772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Сервисы · evidence · изменения · тесты · неизвестные</a:t>
            </a:r>
          </a:p>
        </p:txBody>
      </p:sp>
      <p:sp>
        <p:nvSpPr>
          <p:cNvPr id="15" name="Разделитель подсказки 0">
            <a:extLst xmlns:a="http://schemas.openxmlformats.org/drawingml/2006/main">
              <a:ext uri="{FF2B5EF4-FFF2-40B4-BE49-F238E27FC236}">
                <a16:creationId xmlns:a16="http://schemas.microsoft.com/office/drawing/2014/main" id="{9C78C8FC-FF06-4806-828C-8DD9BE0D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33725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Подсказка 0">
            <a:extLst xmlns:a="http://schemas.openxmlformats.org/drawingml/2006/main">
              <a:ext uri="{FF2B5EF4-FFF2-40B4-BE49-F238E27FC236}">
                <a16:creationId xmlns:a16="http://schemas.microsoft.com/office/drawing/2014/main" id="{14E37F88-4F23-4EF1-A092-590DD231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67075"/>
            <a:ext cx="3810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Маршрут</a:t>
            </a:r>
          </a:p>
        </p:txBody>
      </p:sp>
      <p:sp>
        <p:nvSpPr>
          <p:cNvPr id="17" name="Детали подсказки 0">
            <a:extLst xmlns:a="http://schemas.openxmlformats.org/drawingml/2006/main">
              <a:ext uri="{FF2B5EF4-FFF2-40B4-BE49-F238E27FC236}">
                <a16:creationId xmlns:a16="http://schemas.microsoft.com/office/drawing/2014/main" id="{5468BC41-5219-4ED2-8FB3-7B3C67D6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57600"/>
            <a:ext cx="3810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корневой и затронутые сервисы</a:t>
            </a:r>
          </a:p>
        </p:txBody>
      </p:sp>
      <p:sp>
        <p:nvSpPr>
          <p:cNvPr id="18" name="Разделитель подсказки 1">
            <a:extLst xmlns:a="http://schemas.openxmlformats.org/drawingml/2006/main">
              <a:ext uri="{FF2B5EF4-FFF2-40B4-BE49-F238E27FC236}">
                <a16:creationId xmlns:a16="http://schemas.microsoft.com/office/drawing/2014/main" id="{7BBD454C-5BBF-47BE-8441-29547F07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81475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Подсказка 1">
            <a:extLst xmlns:a="http://schemas.openxmlformats.org/drawingml/2006/main">
              <a:ext uri="{FF2B5EF4-FFF2-40B4-BE49-F238E27FC236}">
                <a16:creationId xmlns:a16="http://schemas.microsoft.com/office/drawing/2014/main" id="{60DB464A-B2BC-4441-B0CD-616CF2AC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14825"/>
            <a:ext cx="3810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0" name="Детали подсказки 1">
            <a:extLst xmlns:a="http://schemas.openxmlformats.org/drawingml/2006/main">
              <a:ext uri="{FF2B5EF4-FFF2-40B4-BE49-F238E27FC236}">
                <a16:creationId xmlns:a16="http://schemas.microsoft.com/office/drawing/2014/main" id="{33494CA4-B04D-4AF8-8B5C-BF8D8440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705350"/>
            <a:ext cx="3810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ссылки на документы, код и связи графа</a:t>
            </a:r>
          </a:p>
        </p:txBody>
      </p:sp>
      <p:sp>
        <p:nvSpPr>
          <p:cNvPr id="21" name="Разделитель подсказки 2">
            <a:extLst xmlns:a="http://schemas.openxmlformats.org/drawingml/2006/main">
              <a:ext uri="{FF2B5EF4-FFF2-40B4-BE49-F238E27FC236}">
                <a16:creationId xmlns:a16="http://schemas.microsoft.com/office/drawing/2014/main" id="{418CCDE6-A314-443F-8EB0-1C374636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29225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Подсказка 2">
            <a:extLst xmlns:a="http://schemas.openxmlformats.org/drawingml/2006/main">
              <a:ext uri="{FF2B5EF4-FFF2-40B4-BE49-F238E27FC236}">
                <a16:creationId xmlns:a16="http://schemas.microsoft.com/office/drawing/2014/main" id="{DE0896DA-3118-431D-8C21-48C01E2A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62575"/>
            <a:ext cx="3810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Изменения</a:t>
            </a:r>
          </a:p>
        </p:txBody>
      </p:sp>
      <p:sp>
        <p:nvSpPr>
          <p:cNvPr id="23" name="Детали подсказки 2">
            <a:extLst xmlns:a="http://schemas.openxmlformats.org/drawingml/2006/main">
              <a:ext uri="{FF2B5EF4-FFF2-40B4-BE49-F238E27FC236}">
                <a16:creationId xmlns:a16="http://schemas.microsoft.com/office/drawing/2014/main" id="{0C5A81FD-F53A-4E25-87DA-FC9545E7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753100"/>
            <a:ext cx="3810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контракты, данные, тесты и rollout</a:t>
            </a:r>
          </a:p>
        </p:txBody>
      </p:sp>
      <p:sp>
        <p:nvSpPr>
          <p:cNvPr id="24" name="Разделитель подсказки 3">
            <a:extLst xmlns:a="http://schemas.openxmlformats.org/drawingml/2006/main">
              <a:ext uri="{FF2B5EF4-FFF2-40B4-BE49-F238E27FC236}">
                <a16:creationId xmlns:a16="http://schemas.microsoft.com/office/drawing/2014/main" id="{E0A6D969-93CD-47CA-8B63-C5931871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76975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Подсказка 3">
            <a:extLst xmlns:a="http://schemas.openxmlformats.org/drawingml/2006/main">
              <a:ext uri="{FF2B5EF4-FFF2-40B4-BE49-F238E27FC236}">
                <a16:creationId xmlns:a16="http://schemas.microsoft.com/office/drawing/2014/main" id="{9C9A7629-100C-4253-AE57-B54B77BE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3810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Unknowns</a:t>
            </a:r>
          </a:p>
        </p:txBody>
      </p:sp>
      <p:sp>
        <p:nvSpPr>
          <p:cNvPr id="26" name="Детали подсказки 3">
            <a:extLst xmlns:a="http://schemas.openxmlformats.org/drawingml/2006/main">
              <a:ext uri="{FF2B5EF4-FFF2-40B4-BE49-F238E27FC236}">
                <a16:creationId xmlns:a16="http://schemas.microsoft.com/office/drawing/2014/main" id="{51EF88D9-4A95-4B11-BCAF-6BE7BFEA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800850"/>
            <a:ext cx="3810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что ещё нельзя считать подтверждённым</a:t>
            </a:r>
          </a:p>
        </p:txBody>
      </p:sp>
    </p:spTree>
    <p:extLst>
      <p:ext uri="{BB962C8B-B14F-4D97-AF65-F5344CB8AC3E}">
        <p14:creationId xmlns:p14="http://schemas.microsoft.com/office/powerpoint/2010/main" val="256672073"/>
      </p:ext>
    </p:extLst>
  </p:cSld>
</p:sld>
</file>

<file path=ppt/slides/slide1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D1B2C"/>
            </a:gs>
            <a:gs pos="100000">
              <a:srgbClr val="040C1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Рамка слайда">
            <a:extLst xmlns:a="http://schemas.openxmlformats.org/drawingml/2006/main">
              <a:ext uri="{FF2B5EF4-FFF2-40B4-BE49-F238E27FC236}">
                <a16:creationId xmlns:a16="http://schemas.microsoft.com/office/drawing/2014/main" id="{A8BD162C-A183-4684-9AE1-C49CA900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4859000" cy="8191500"/>
          </a:xfrm>
          <a:prstGeom xmlns:a="http://schemas.openxmlformats.org/drawingml/2006/main" prst="roundRect">
            <a:avLst>
              <a:gd name="adj" fmla="val 255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C3145"/>
            </a:solidFill>
            <a:prstDash val="solid"/>
          </a:ln>
        </p:spPr>
      </p:sp>
      <p:sp>
        <p:nvSpPr>
          <p:cNvPr id="2" name="Нижняя разделительная линия">
            <a:extLst xmlns:a="http://schemas.openxmlformats.org/drawingml/2006/main">
              <a:ext uri="{FF2B5EF4-FFF2-40B4-BE49-F238E27FC236}">
                <a16:creationId xmlns:a16="http://schemas.microsoft.com/office/drawing/2014/main" id="{8FB5D811-88DB-4499-9109-BFC59730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Тема презентации">
            <a:extLst xmlns:a="http://schemas.openxmlformats.org/drawingml/2006/main">
              <a:ext uri="{FF2B5EF4-FFF2-40B4-BE49-F238E27FC236}">
                <a16:creationId xmlns:a16="http://schemas.microsoft.com/office/drawing/2014/main" id="{51BA3A25-84C4-456C-8CDB-70F56533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4B8C9"/>
                </a:solidFill>
                <a:latin typeface="Arial"/>
                <a:ea typeface="Arial"/>
                <a:cs typeface="Arial"/>
              </a:rPr>
              <a:t>RAG  /  SDD  /  300+ МИКРОСЕРВИСОВ</a:t>
            </a:r>
          </a:p>
        </p:txBody>
      </p:sp>
      <p:sp>
        <p:nvSpPr>
          <p:cNvPr id="4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9A18B29D-EC57-4D12-9CB8-88311C05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77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18 / 20</a:t>
            </a:r>
          </a:p>
        </p:txBody>
      </p:sp>
      <p:sp>
        <p:nvSpPr>
          <p:cNvPr id="5" name="Надзаголовок">
            <a:extLst xmlns:a="http://schemas.openxmlformats.org/drawingml/2006/main">
              <a:ext uri="{FF2B5EF4-FFF2-40B4-BE49-F238E27FC236}">
                <a16:creationId xmlns:a16="http://schemas.microsoft.com/office/drawing/2014/main" id="{F2CCF840-592B-4FAA-9C1D-2BFF80B3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"/>
            <a:ext cx="1369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ПУБЛИКАЦИЯ ЗАДАЧ В JIRA</a:t>
            </a:r>
          </a:p>
        </p:txBody>
      </p:sp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4605607A-FA1A-4803-A6F3-615D7837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Создание задач Jira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BD73"/>
                </a:solidFill>
                <a:latin typeface="Arial"/>
                <a:ea typeface="Arial"/>
                <a:cs typeface="Arial"/>
              </a:rPr>
              <a:t>на основе согласованного плана</a:t>
            </a:r>
          </a:p>
        </p:txBody>
      </p:sp>
      <p:sp>
        <p:nvSpPr>
          <p:cNvPr id="7" name="Редактируемая область для скриншота">
            <a:extLst xmlns:a="http://schemas.openxmlformats.org/drawingml/2006/main">
              <a:ext uri="{FF2B5EF4-FFF2-40B4-BE49-F238E27FC236}">
                <a16:creationId xmlns:a16="http://schemas.microsoft.com/office/drawing/2014/main" id="{202381C3-8A09-4DEC-9711-354C4B0A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9410700" cy="302895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0D1B2C"/>
          </a:solidFill>
          <a:ln xmlns:a="http://schemas.openxmlformats.org/drawingml/2006/main" w="14288">
            <a:solidFill>
              <a:srgbClr val="28425A"/>
            </a:solidFill>
            <a:prstDash val="solid"/>
          </a:ln>
        </p:spPr>
      </p:sp>
      <p:sp>
        <p:nvSpPr>
          <p:cNvPr id="8" name="Линия окна">
            <a:extLst xmlns:a="http://schemas.openxmlformats.org/drawingml/2006/main">
              <a:ext uri="{FF2B5EF4-FFF2-40B4-BE49-F238E27FC236}">
                <a16:creationId xmlns:a16="http://schemas.microsoft.com/office/drawing/2014/main" id="{244770DF-706A-4755-9BA1-D2883181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Индикатор окна 0">
            <a:extLst xmlns:a="http://schemas.openxmlformats.org/drawingml/2006/main">
              <a:ext uri="{FF2B5EF4-FFF2-40B4-BE49-F238E27FC236}">
                <a16:creationId xmlns:a16="http://schemas.microsoft.com/office/drawing/2014/main" id="{51821BE8-79A3-4557-B1C4-07BBEE68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Индикатор окна 1">
            <a:extLst xmlns:a="http://schemas.openxmlformats.org/drawingml/2006/main">
              <a:ext uri="{FF2B5EF4-FFF2-40B4-BE49-F238E27FC236}">
                <a16:creationId xmlns:a16="http://schemas.microsoft.com/office/drawing/2014/main" id="{BF3F1E45-835F-4C0B-B5D0-D475FFC1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9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Индикатор окна 2">
            <a:extLst xmlns:a="http://schemas.openxmlformats.org/drawingml/2006/main">
              <a:ext uri="{FF2B5EF4-FFF2-40B4-BE49-F238E27FC236}">
                <a16:creationId xmlns:a16="http://schemas.microsoft.com/office/drawing/2014/main" id="{1FA933AE-54E4-451B-9D5D-DBD43076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52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E3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Заголовок окна">
            <a:extLst xmlns:a="http://schemas.openxmlformats.org/drawingml/2006/main">
              <a:ext uri="{FF2B5EF4-FFF2-40B4-BE49-F238E27FC236}">
                <a16:creationId xmlns:a16="http://schemas.microsoft.com/office/drawing/2014/main" id="{60001B54-9084-4B42-A366-5DD4E5ED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267075"/>
            <a:ext cx="8153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GigaCode · Jira publication</a:t>
            </a:r>
          </a:p>
        </p:txBody>
      </p:sp>
      <p:sp>
        <p:nvSpPr>
          <p:cNvPr id="13" name="Содержимое демо">
            <a:extLst xmlns:a="http://schemas.openxmlformats.org/drawingml/2006/main">
              <a:ext uri="{FF2B5EF4-FFF2-40B4-BE49-F238E27FC236}">
                <a16:creationId xmlns:a16="http://schemas.microsoft.com/office/drawing/2014/main" id="{A5895E31-450A-41E7-8FD1-F12848FC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05275"/>
            <a:ext cx="8743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FBD7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BD73"/>
                </a:solidFill>
                <a:latin typeface="Arial"/>
                <a:ea typeface="Arial"/>
                <a:cs typeface="Arial"/>
              </a:rPr>
              <a:t>Предпросмотр → выбор проекта → Task</a:t>
            </a:r>
          </a:p>
        </p:txBody>
      </p:sp>
      <p:sp>
        <p:nvSpPr>
          <p:cNvPr id="14" name="Описание демо">
            <a:extLst xmlns:a="http://schemas.openxmlformats.org/drawingml/2006/main">
              <a:ext uri="{FF2B5EF4-FFF2-40B4-BE49-F238E27FC236}">
                <a16:creationId xmlns:a16="http://schemas.microsoft.com/office/drawing/2014/main" id="{010216AD-4B12-4EFD-993D-0113FB2B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80772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Черновики по сервисам · явное подтверждение · созданные ключи задач</a:t>
            </a:r>
          </a:p>
        </p:txBody>
      </p:sp>
      <p:sp>
        <p:nvSpPr>
          <p:cNvPr id="15" name="Разделитель подсказки 0">
            <a:extLst xmlns:a="http://schemas.openxmlformats.org/drawingml/2006/main">
              <a:ext uri="{FF2B5EF4-FFF2-40B4-BE49-F238E27FC236}">
                <a16:creationId xmlns:a16="http://schemas.microsoft.com/office/drawing/2014/main" id="{88BEB5A8-1102-46B5-B6F3-F8E2943B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33725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Подсказка 0">
            <a:extLst xmlns:a="http://schemas.openxmlformats.org/drawingml/2006/main">
              <a:ext uri="{FF2B5EF4-FFF2-40B4-BE49-F238E27FC236}">
                <a16:creationId xmlns:a16="http://schemas.microsoft.com/office/drawing/2014/main" id="{BE1D2B28-07D5-4078-A4DA-CEAD78C0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67075"/>
            <a:ext cx="3810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Сначала preview</a:t>
            </a:r>
          </a:p>
        </p:txBody>
      </p:sp>
      <p:sp>
        <p:nvSpPr>
          <p:cNvPr id="17" name="Детали подсказки 0">
            <a:extLst xmlns:a="http://schemas.openxmlformats.org/drawingml/2006/main">
              <a:ext uri="{FF2B5EF4-FFF2-40B4-BE49-F238E27FC236}">
                <a16:creationId xmlns:a16="http://schemas.microsoft.com/office/drawing/2014/main" id="{79EA91E4-BFC4-4BB6-A26C-C1E106E1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57600"/>
            <a:ext cx="3810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до выбора проекта Jira не изменяется</a:t>
            </a:r>
          </a:p>
        </p:txBody>
      </p:sp>
      <p:sp>
        <p:nvSpPr>
          <p:cNvPr id="18" name="Разделитель подсказки 1">
            <a:extLst xmlns:a="http://schemas.openxmlformats.org/drawingml/2006/main">
              <a:ext uri="{FF2B5EF4-FFF2-40B4-BE49-F238E27FC236}">
                <a16:creationId xmlns:a16="http://schemas.microsoft.com/office/drawing/2014/main" id="{010A7427-A684-447A-A125-6000A47C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81475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Подсказка 1">
            <a:extLst xmlns:a="http://schemas.openxmlformats.org/drawingml/2006/main">
              <a:ext uri="{FF2B5EF4-FFF2-40B4-BE49-F238E27FC236}">
                <a16:creationId xmlns:a16="http://schemas.microsoft.com/office/drawing/2014/main" id="{7BFF9A46-0372-4C18-934D-2BF8C80B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14825"/>
            <a:ext cx="3810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Явное подтверждение</a:t>
            </a:r>
          </a:p>
        </p:txBody>
      </p:sp>
      <p:sp>
        <p:nvSpPr>
          <p:cNvPr id="20" name="Детали подсказки 1">
            <a:extLst xmlns:a="http://schemas.openxmlformats.org/drawingml/2006/main">
              <a:ext uri="{FF2B5EF4-FFF2-40B4-BE49-F238E27FC236}">
                <a16:creationId xmlns:a16="http://schemas.microsoft.com/office/drawing/2014/main" id="{E14DCCD0-F7B7-4CD3-B1DE-11C4CFB8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705350"/>
            <a:ext cx="3810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пользователь выбирает один доступный проект</a:t>
            </a:r>
          </a:p>
        </p:txBody>
      </p:sp>
      <p:sp>
        <p:nvSpPr>
          <p:cNvPr id="21" name="Разделитель подсказки 2">
            <a:extLst xmlns:a="http://schemas.openxmlformats.org/drawingml/2006/main">
              <a:ext uri="{FF2B5EF4-FFF2-40B4-BE49-F238E27FC236}">
                <a16:creationId xmlns:a16="http://schemas.microsoft.com/office/drawing/2014/main" id="{A6F7805F-6F9B-4453-929F-1932F079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29225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Подсказка 2">
            <a:extLst xmlns:a="http://schemas.openxmlformats.org/drawingml/2006/main">
              <a:ext uri="{FF2B5EF4-FFF2-40B4-BE49-F238E27FC236}">
                <a16:creationId xmlns:a16="http://schemas.microsoft.com/office/drawing/2014/main" id="{F4153880-30F0-4990-9703-2D86602D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62575"/>
            <a:ext cx="3810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Проверка результата</a:t>
            </a:r>
          </a:p>
        </p:txBody>
      </p:sp>
      <p:sp>
        <p:nvSpPr>
          <p:cNvPr id="23" name="Детали подсказки 2">
            <a:extLst xmlns:a="http://schemas.openxmlformats.org/drawingml/2006/main">
              <a:ext uri="{FF2B5EF4-FFF2-40B4-BE49-F238E27FC236}">
                <a16:creationId xmlns:a16="http://schemas.microsoft.com/office/drawing/2014/main" id="{0BA28E54-8FBF-47D2-93D1-269DF192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753100"/>
            <a:ext cx="3810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созданная задача читается обратно</a:t>
            </a:r>
          </a:p>
        </p:txBody>
      </p:sp>
      <p:sp>
        <p:nvSpPr>
          <p:cNvPr id="24" name="Акцент правила Jira 0">
            <a:extLst xmlns:a="http://schemas.openxmlformats.org/drawingml/2006/main">
              <a:ext uri="{FF2B5EF4-FFF2-40B4-BE49-F238E27FC236}">
                <a16:creationId xmlns:a16="http://schemas.microsoft.com/office/drawing/2014/main" id="{13DCBD10-1728-476A-A8EB-604AF156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438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Правило Jira 0">
            <a:extLst xmlns:a="http://schemas.openxmlformats.org/drawingml/2006/main">
              <a:ext uri="{FF2B5EF4-FFF2-40B4-BE49-F238E27FC236}">
                <a16:creationId xmlns:a16="http://schemas.microsoft.com/office/drawing/2014/main" id="{B61CFBFB-E8E9-4395-9DA2-0A0BAC3F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6272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FFBD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BD73"/>
                </a:solidFill>
                <a:latin typeface="Arial"/>
                <a:ea typeface="Arial"/>
                <a:cs typeface="Arial"/>
              </a:rPr>
              <a:t>1 проект</a:t>
            </a:r>
          </a:p>
        </p:txBody>
      </p:sp>
      <p:sp>
        <p:nvSpPr>
          <p:cNvPr id="26" name="Описание правила Jira 0">
            <a:extLst xmlns:a="http://schemas.openxmlformats.org/drawingml/2006/main">
              <a:ext uri="{FF2B5EF4-FFF2-40B4-BE49-F238E27FC236}">
                <a16:creationId xmlns:a16="http://schemas.microsoft.com/office/drawing/2014/main" id="{025B2D31-9320-44DA-A092-F04C9ED1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один выбранный пользователем Jira-проект</a:t>
            </a:r>
          </a:p>
        </p:txBody>
      </p:sp>
      <p:sp>
        <p:nvSpPr>
          <p:cNvPr id="27" name="Акцент правила Jira 1">
            <a:extLst xmlns:a="http://schemas.openxmlformats.org/drawingml/2006/main">
              <a:ext uri="{FF2B5EF4-FFF2-40B4-BE49-F238E27FC236}">
                <a16:creationId xmlns:a16="http://schemas.microsoft.com/office/drawing/2014/main" id="{44CEC7A1-6401-44E5-9F52-24522D94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334125"/>
            <a:ext cx="438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Правило Jira 1">
            <a:extLst xmlns:a="http://schemas.openxmlformats.org/drawingml/2006/main">
              <a:ext uri="{FF2B5EF4-FFF2-40B4-BE49-F238E27FC236}">
                <a16:creationId xmlns:a16="http://schemas.microsoft.com/office/drawing/2014/main" id="{28604B00-B8C4-4E36-A094-0B086C40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56272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FFBD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BD73"/>
                </a:solidFill>
                <a:latin typeface="Arial"/>
                <a:ea typeface="Arial"/>
                <a:cs typeface="Arial"/>
              </a:rPr>
              <a:t>1 сервис = 1 Task</a:t>
            </a:r>
          </a:p>
        </p:txBody>
      </p:sp>
      <p:sp>
        <p:nvSpPr>
          <p:cNvPr id="29" name="Описание правила Jira 1">
            <a:extLst xmlns:a="http://schemas.openxmlformats.org/drawingml/2006/main">
              <a:ext uri="{FF2B5EF4-FFF2-40B4-BE49-F238E27FC236}">
                <a16:creationId xmlns:a16="http://schemas.microsoft.com/office/drawing/2014/main" id="{7F229D66-09DD-4158-BD90-F72B3CF6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096125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только для подтверждённых сервисов</a:t>
            </a:r>
          </a:p>
        </p:txBody>
      </p:sp>
      <p:sp>
        <p:nvSpPr>
          <p:cNvPr id="30" name="Акцент правила Jira 2">
            <a:extLst xmlns:a="http://schemas.openxmlformats.org/drawingml/2006/main">
              <a:ext uri="{FF2B5EF4-FFF2-40B4-BE49-F238E27FC236}">
                <a16:creationId xmlns:a16="http://schemas.microsoft.com/office/drawing/2014/main" id="{4EE3BA9D-A2F5-4D3D-8E5F-EAAF7449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34125"/>
            <a:ext cx="438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Правило Jira 2">
            <a:extLst xmlns:a="http://schemas.openxmlformats.org/drawingml/2006/main">
              <a:ext uri="{FF2B5EF4-FFF2-40B4-BE49-F238E27FC236}">
                <a16:creationId xmlns:a16="http://schemas.microsoft.com/office/drawing/2014/main" id="{35F06FB1-B38C-40E7-AE81-A15038EA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56272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FFBD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BD73"/>
                </a:solidFill>
                <a:latin typeface="Arial"/>
                <a:ea typeface="Arial"/>
                <a:cs typeface="Arial"/>
              </a:rPr>
              <a:t>0 скрытых записей</a:t>
            </a:r>
          </a:p>
        </p:txBody>
      </p:sp>
      <p:sp>
        <p:nvSpPr>
          <p:cNvPr id="32" name="Описание правила Jira 2">
            <a:extLst xmlns:a="http://schemas.openxmlformats.org/drawingml/2006/main">
              <a:ext uri="{FF2B5EF4-FFF2-40B4-BE49-F238E27FC236}">
                <a16:creationId xmlns:a16="http://schemas.microsoft.com/office/drawing/2014/main" id="{13AD6BC0-7C87-4E50-9DE7-958FAA3C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96125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без подтверждения публикации нет</a:t>
            </a:r>
          </a:p>
        </p:txBody>
      </p:sp>
    </p:spTree>
    <p:extLst>
      <p:ext uri="{BB962C8B-B14F-4D97-AF65-F5344CB8AC3E}">
        <p14:creationId xmlns:p14="http://schemas.microsoft.com/office/powerpoint/2010/main" val="630373834"/>
      </p:ext>
    </p:extLst>
  </p:cSld>
</p:sld>
</file>

<file path=ppt/slides/slide1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D1B2C"/>
            </a:gs>
            <a:gs pos="100000">
              <a:srgbClr val="040C1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Рамка слайда">
            <a:extLst xmlns:a="http://schemas.openxmlformats.org/drawingml/2006/main">
              <a:ext uri="{FF2B5EF4-FFF2-40B4-BE49-F238E27FC236}">
                <a16:creationId xmlns:a16="http://schemas.microsoft.com/office/drawing/2014/main" id="{B61F2450-D88D-4E98-8D36-9F90F182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4859000" cy="8191500"/>
          </a:xfrm>
          <a:prstGeom xmlns:a="http://schemas.openxmlformats.org/drawingml/2006/main" prst="roundRect">
            <a:avLst>
              <a:gd name="adj" fmla="val 255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C3145"/>
            </a:solidFill>
            <a:prstDash val="solid"/>
          </a:ln>
        </p:spPr>
      </p:sp>
      <p:sp>
        <p:nvSpPr>
          <p:cNvPr id="2" name="Нижняя разделительная линия">
            <a:extLst xmlns:a="http://schemas.openxmlformats.org/drawingml/2006/main">
              <a:ext uri="{FF2B5EF4-FFF2-40B4-BE49-F238E27FC236}">
                <a16:creationId xmlns:a16="http://schemas.microsoft.com/office/drawing/2014/main" id="{114EB2D1-9F9E-4774-9E17-A99BEB5B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Тема презентации">
            <a:extLst xmlns:a="http://schemas.openxmlformats.org/drawingml/2006/main">
              <a:ext uri="{FF2B5EF4-FFF2-40B4-BE49-F238E27FC236}">
                <a16:creationId xmlns:a16="http://schemas.microsoft.com/office/drawing/2014/main" id="{901D9CDE-F775-4822-BA0C-43A948B8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4B8C9"/>
                </a:solidFill>
                <a:latin typeface="Arial"/>
                <a:ea typeface="Arial"/>
                <a:cs typeface="Arial"/>
              </a:rPr>
              <a:t>RAG  /  SDD  /  300+ МИКРОСЕРВИСОВ</a:t>
            </a:r>
          </a:p>
        </p:txBody>
      </p:sp>
      <p:sp>
        <p:nvSpPr>
          <p:cNvPr id="4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C954EC24-4401-4C62-8B6C-19BCCC1D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77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19 / 20</a:t>
            </a:r>
          </a:p>
        </p:txBody>
      </p:sp>
      <p:sp>
        <p:nvSpPr>
          <p:cNvPr id="5" name="Надзаголовок">
            <a:extLst xmlns:a="http://schemas.openxmlformats.org/drawingml/2006/main">
              <a:ext uri="{FF2B5EF4-FFF2-40B4-BE49-F238E27FC236}">
                <a16:creationId xmlns:a16="http://schemas.microsoft.com/office/drawing/2014/main" id="{4A24D724-4146-48C5-BD9B-EB61EEE7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"/>
            <a:ext cx="1369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КОНТРОЛЬ КАЧЕСТВА</a:t>
            </a:r>
          </a:p>
        </p:txBody>
      </p:sp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988792DB-5239-46D4-AE7A-CFA14F89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Проверяемость результатов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BD73"/>
                </a:solidFill>
                <a:latin typeface="Arial"/>
                <a:ea typeface="Arial"/>
                <a:cs typeface="Arial"/>
              </a:rPr>
              <a:t>и ограничения подхода</a:t>
            </a:r>
          </a:p>
        </p:txBody>
      </p:sp>
      <p:sp>
        <p:nvSpPr>
          <p:cNvPr id="7" name="Акцент колонки 0">
            <a:extLst xmlns:a="http://schemas.openxmlformats.org/drawingml/2006/main">
              <a:ext uri="{FF2B5EF4-FFF2-40B4-BE49-F238E27FC236}">
                <a16:creationId xmlns:a16="http://schemas.microsoft.com/office/drawing/2014/main" id="{5C87E3E6-62CD-4BF5-A578-3084EC48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19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Заголовок колонки 0">
            <a:extLst xmlns:a="http://schemas.openxmlformats.org/drawingml/2006/main">
              <a:ext uri="{FF2B5EF4-FFF2-40B4-BE49-F238E27FC236}">
                <a16:creationId xmlns:a16="http://schemas.microsoft.com/office/drawing/2014/main" id="{485A7361-D688-46EA-93C4-AA254620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Факт можно открыть</a:t>
            </a:r>
          </a:p>
        </p:txBody>
      </p:sp>
      <p:sp>
        <p:nvSpPr>
          <p:cNvPr id="9" name="Текст колонки 0">
            <a:extLst xmlns:a="http://schemas.openxmlformats.org/drawingml/2006/main">
              <a:ext uri="{FF2B5EF4-FFF2-40B4-BE49-F238E27FC236}">
                <a16:creationId xmlns:a16="http://schemas.microsoft.com/office/drawing/2014/main" id="{86838A3F-6BE7-4E17-9843-E8B465B0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4191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Документ, код или связь графа остаются рядом с выводом. Предлагаемое изменение не выдаётся за уже работающую функцию.</a:t>
            </a:r>
          </a:p>
        </p:txBody>
      </p:sp>
      <p:sp>
        <p:nvSpPr>
          <p:cNvPr id="10" name="Акцент колонки 1">
            <a:extLst xmlns:a="http://schemas.openxmlformats.org/drawingml/2006/main">
              <a:ext uri="{FF2B5EF4-FFF2-40B4-BE49-F238E27FC236}">
                <a16:creationId xmlns:a16="http://schemas.microsoft.com/office/drawing/2014/main" id="{57379222-4EEC-4579-9855-107F1F87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33750"/>
            <a:ext cx="419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Заголовок колонки 1">
            <a:extLst xmlns:a="http://schemas.openxmlformats.org/drawingml/2006/main">
              <a:ext uri="{FF2B5EF4-FFF2-40B4-BE49-F238E27FC236}">
                <a16:creationId xmlns:a16="http://schemas.microsoft.com/office/drawing/2014/main" id="{3CE56F66-7919-41D4-9D95-D5215A1E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385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План читает второй skill</a:t>
            </a:r>
          </a:p>
        </p:txBody>
      </p:sp>
      <p:sp>
        <p:nvSpPr>
          <p:cNvPr id="12" name="Текст колонки 1">
            <a:extLst xmlns:a="http://schemas.openxmlformats.org/drawingml/2006/main">
              <a:ext uri="{FF2B5EF4-FFF2-40B4-BE49-F238E27FC236}">
                <a16:creationId xmlns:a16="http://schemas.microsoft.com/office/drawing/2014/main" id="{691E22B6-DB24-4828-B747-F72D2A43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10100"/>
            <a:ext cx="4191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Он ищет несуществующие сервисы, перепутанные контракты и противоречия между источниками.</a:t>
            </a:r>
          </a:p>
        </p:txBody>
      </p:sp>
      <p:sp>
        <p:nvSpPr>
          <p:cNvPr id="13" name="Акцент колонки 2">
            <a:extLst xmlns:a="http://schemas.openxmlformats.org/drawingml/2006/main">
              <a:ext uri="{FF2B5EF4-FFF2-40B4-BE49-F238E27FC236}">
                <a16:creationId xmlns:a16="http://schemas.microsoft.com/office/drawing/2014/main" id="{17BD71A5-5C38-467D-891A-75A2F344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33750"/>
            <a:ext cx="419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Заголовок колонки 2">
            <a:extLst xmlns:a="http://schemas.openxmlformats.org/drawingml/2006/main">
              <a:ext uri="{FF2B5EF4-FFF2-40B4-BE49-F238E27FC236}">
                <a16:creationId xmlns:a16="http://schemas.microsoft.com/office/drawing/2014/main" id="{E525EFA9-87DD-45F4-82CF-200A89CA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385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Пробел не прячется</a:t>
            </a:r>
          </a:p>
        </p:txBody>
      </p:sp>
      <p:sp>
        <p:nvSpPr>
          <p:cNvPr id="15" name="Текст колонки 2">
            <a:extLst xmlns:a="http://schemas.openxmlformats.org/drawingml/2006/main">
              <a:ext uri="{FF2B5EF4-FFF2-40B4-BE49-F238E27FC236}">
                <a16:creationId xmlns:a16="http://schemas.microsoft.com/office/drawing/2014/main" id="{0CC7DB54-85F0-4AAB-AEE7-885964A6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10100"/>
            <a:ext cx="4191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Устаревший индекс, слабая связь графа или отсутствие источника становятся вопросом к команде и задачей проверки.</a:t>
            </a:r>
          </a:p>
        </p:txBody>
      </p:sp>
      <p:sp>
        <p:nvSpPr>
          <p:cNvPr id="16" name="Ключевой вывод">
            <a:extLst xmlns:a="http://schemas.openxmlformats.org/drawingml/2006/main">
              <a:ext uri="{FF2B5EF4-FFF2-40B4-BE49-F238E27FC236}">
                <a16:creationId xmlns:a16="http://schemas.microsoft.com/office/drawing/2014/main" id="{CD4CF6AB-7B32-4B4A-B131-CCAC454B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48475"/>
            <a:ext cx="1366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550" b="0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8FB"/>
                </a:solidFill>
                <a:latin typeface="Arial"/>
                <a:ea typeface="Arial"/>
                <a:cs typeface="Arial"/>
              </a:rPr>
              <a:t>Если нет источника — это </a:t>
            </a:r>
            <a:r>
              <a:rPr sz="2550" b="0">
                <a:solidFill>
                  <a:srgbClr val="54D7FF"/>
                </a:solidFill>
                <a:latin typeface="Arial"/>
                <a:ea typeface="Arial"/>
                <a:cs typeface="Arial"/>
              </a:rPr>
              <a:t>не факт в плане,</a:t>
            </a:r>
            <a:r>
              <a:rPr sz="2550" b="0">
                <a:solidFill>
                  <a:srgbClr val="F4F8FB"/>
                </a:solidFill>
                <a:latin typeface="Arial"/>
                <a:ea typeface="Arial"/>
                <a:cs typeface="Arial"/>
              </a:rPr>
              <a:t> а открытый вопрос.</a:t>
            </a:r>
          </a:p>
        </p:txBody>
      </p:sp>
    </p:spTree>
    <p:extLst>
      <p:ext uri="{BB962C8B-B14F-4D97-AF65-F5344CB8AC3E}">
        <p14:creationId xmlns:p14="http://schemas.microsoft.com/office/powerpoint/2010/main" val="628080671"/>
      </p:ext>
    </p:extLst>
  </p:cSld>
</p:sld>
</file>

<file path=ppt/slides/slide2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D1B2C"/>
            </a:gs>
            <a:gs pos="100000">
              <a:srgbClr val="040C1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Рамка слайда">
            <a:extLst xmlns:a="http://schemas.openxmlformats.org/drawingml/2006/main">
              <a:ext uri="{FF2B5EF4-FFF2-40B4-BE49-F238E27FC236}">
                <a16:creationId xmlns:a16="http://schemas.microsoft.com/office/drawing/2014/main" id="{B828A4CE-991D-4285-92EE-4D8D6D32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4859000" cy="8191500"/>
          </a:xfrm>
          <a:prstGeom xmlns:a="http://schemas.openxmlformats.org/drawingml/2006/main" prst="roundRect">
            <a:avLst>
              <a:gd name="adj" fmla="val 255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C3145"/>
            </a:solidFill>
            <a:prstDash val="solid"/>
          </a:ln>
        </p:spPr>
      </p:sp>
      <p:sp>
        <p:nvSpPr>
          <p:cNvPr id="2" name="Нижняя разделительная линия">
            <a:extLst xmlns:a="http://schemas.openxmlformats.org/drawingml/2006/main">
              <a:ext uri="{FF2B5EF4-FFF2-40B4-BE49-F238E27FC236}">
                <a16:creationId xmlns:a16="http://schemas.microsoft.com/office/drawing/2014/main" id="{0A82BD08-7C64-4D3B-8F97-8FBE3C96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Тема презентации">
            <a:extLst xmlns:a="http://schemas.openxmlformats.org/drawingml/2006/main">
              <a:ext uri="{FF2B5EF4-FFF2-40B4-BE49-F238E27FC236}">
                <a16:creationId xmlns:a16="http://schemas.microsoft.com/office/drawing/2014/main" id="{0C44CACE-DF69-407F-928C-1A013A0D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4B8C9"/>
                </a:solidFill>
                <a:latin typeface="Arial"/>
                <a:ea typeface="Arial"/>
                <a:cs typeface="Arial"/>
              </a:rPr>
              <a:t>RAG  /  SDD  /  300+ МИКРОСЕРВИСОВ</a:t>
            </a:r>
          </a:p>
        </p:txBody>
      </p:sp>
      <p:sp>
        <p:nvSpPr>
          <p:cNvPr id="4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05044323-BE67-4298-8979-050FA4BD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77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20 / 20</a:t>
            </a:r>
          </a:p>
        </p:txBody>
      </p:sp>
      <p:sp>
        <p:nvSpPr>
          <p:cNvPr id="5" name="Надзаголовок">
            <a:extLst xmlns:a="http://schemas.openxmlformats.org/drawingml/2006/main">
              <a:ext uri="{FF2B5EF4-FFF2-40B4-BE49-F238E27FC236}">
                <a16:creationId xmlns:a16="http://schemas.microsoft.com/office/drawing/2014/main" id="{A29A64ED-A4DB-46EA-9DB1-0B982A0F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"/>
            <a:ext cx="1369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РЕЗУЛЬТАТЫ</a:t>
            </a:r>
          </a:p>
        </p:txBody>
      </p:sp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1624B50B-CADC-46F1-AF80-1FBEF6E7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Результаты применения общего контекста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5CE3A0"/>
                </a:solidFill>
                <a:latin typeface="Arial"/>
                <a:ea typeface="Arial"/>
                <a:cs typeface="Arial"/>
              </a:rPr>
              <a:t>в SDD-разработке</a:t>
            </a:r>
          </a:p>
        </p:txBody>
      </p:sp>
      <p:sp>
        <p:nvSpPr>
          <p:cNvPr id="7" name="Акцент аудитории 0">
            <a:extLst xmlns:a="http://schemas.openxmlformats.org/drawingml/2006/main">
              <a:ext uri="{FF2B5EF4-FFF2-40B4-BE49-F238E27FC236}">
                <a16:creationId xmlns:a16="http://schemas.microsoft.com/office/drawing/2014/main" id="{D00CBF4B-5AAE-445A-B5F9-3C3B440F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6457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3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Заголовок аудитории 0">
            <a:extLst xmlns:a="http://schemas.openxmlformats.org/drawingml/2006/main">
              <a:ext uri="{FF2B5EF4-FFF2-40B4-BE49-F238E27FC236}">
                <a16:creationId xmlns:a16="http://schemas.microsoft.com/office/drawing/2014/main" id="{B7B15E90-D002-4E21-A9AC-0F246B73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6457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5CE3A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CE3A0"/>
                </a:solidFill>
                <a:latin typeface="Arial"/>
                <a:ea typeface="Arial"/>
                <a:cs typeface="Arial"/>
              </a:rPr>
              <a:t>Для бизнеса</a:t>
            </a:r>
          </a:p>
        </p:txBody>
      </p:sp>
      <p:sp>
        <p:nvSpPr>
          <p:cNvPr id="9" name="Маркер 0-0">
            <a:extLst xmlns:a="http://schemas.openxmlformats.org/drawingml/2006/main">
              <a:ext uri="{FF2B5EF4-FFF2-40B4-BE49-F238E27FC236}">
                <a16:creationId xmlns:a16="http://schemas.microsoft.com/office/drawing/2014/main" id="{DA9B75E3-70BD-46E6-AF8C-5074B97C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5CE3A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CE3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Тезис 0-0">
            <a:extLst xmlns:a="http://schemas.openxmlformats.org/drawingml/2006/main">
              <a:ext uri="{FF2B5EF4-FFF2-40B4-BE49-F238E27FC236}">
                <a16:creationId xmlns:a16="http://schemas.microsoft.com/office/drawing/2014/main" id="{CB3DCE4D-2730-4EA3-9BB7-BB504728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05325"/>
            <a:ext cx="609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затронутые команды и сервисы видны до оценки;</a:t>
            </a:r>
          </a:p>
        </p:txBody>
      </p:sp>
      <p:sp>
        <p:nvSpPr>
          <p:cNvPr id="11" name="Маркер 0-1">
            <a:extLst xmlns:a="http://schemas.openxmlformats.org/drawingml/2006/main">
              <a:ext uri="{FF2B5EF4-FFF2-40B4-BE49-F238E27FC236}">
                <a16:creationId xmlns:a16="http://schemas.microsoft.com/office/drawing/2014/main" id="{2D59B39B-691B-455F-8A22-E297480D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5CE3A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CE3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Тезис 0-1">
            <a:extLst xmlns:a="http://schemas.openxmlformats.org/drawingml/2006/main">
              <a:ext uri="{FF2B5EF4-FFF2-40B4-BE49-F238E27FC236}">
                <a16:creationId xmlns:a16="http://schemas.microsoft.com/office/drawing/2014/main" id="{98975910-C19A-4151-9B1F-EB2EFCBD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238750"/>
            <a:ext cx="609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риски и неизвестные появляются до обещаний;</a:t>
            </a:r>
          </a:p>
        </p:txBody>
      </p:sp>
      <p:sp>
        <p:nvSpPr>
          <p:cNvPr id="13" name="Маркер 0-2">
            <a:extLst xmlns:a="http://schemas.openxmlformats.org/drawingml/2006/main">
              <a:ext uri="{FF2B5EF4-FFF2-40B4-BE49-F238E27FC236}">
                <a16:creationId xmlns:a16="http://schemas.microsoft.com/office/drawing/2014/main" id="{189D5786-4B67-457C-A76B-DD06EE42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5CE3A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CE3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Тезис 0-2">
            <a:extLst xmlns:a="http://schemas.openxmlformats.org/drawingml/2006/main">
              <a:ext uri="{FF2B5EF4-FFF2-40B4-BE49-F238E27FC236}">
                <a16:creationId xmlns:a16="http://schemas.microsoft.com/office/drawing/2014/main" id="{01EC3174-85C2-4CBD-98F2-1BC2D4B8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72175"/>
            <a:ext cx="609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план и задачи связаны с исходным требованием.</a:t>
            </a:r>
          </a:p>
        </p:txBody>
      </p:sp>
      <p:sp>
        <p:nvSpPr>
          <p:cNvPr id="15" name="Акцент аудитории 1">
            <a:extLst xmlns:a="http://schemas.openxmlformats.org/drawingml/2006/main">
              <a:ext uri="{FF2B5EF4-FFF2-40B4-BE49-F238E27FC236}">
                <a16:creationId xmlns:a16="http://schemas.microsoft.com/office/drawing/2014/main" id="{E5B18C46-D513-45AB-9C26-B20B3D43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6457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Заголовок аудитории 1">
            <a:extLst xmlns:a="http://schemas.openxmlformats.org/drawingml/2006/main">
              <a:ext uri="{FF2B5EF4-FFF2-40B4-BE49-F238E27FC236}">
                <a16:creationId xmlns:a16="http://schemas.microsoft.com/office/drawing/2014/main" id="{7AFCC17B-A317-42E5-AB2B-926F46B6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6457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4D7FF"/>
                </a:solidFill>
                <a:latin typeface="Arial"/>
                <a:ea typeface="Arial"/>
                <a:cs typeface="Arial"/>
              </a:rPr>
              <a:t>Для разработки</a:t>
            </a:r>
          </a:p>
        </p:txBody>
      </p:sp>
      <p:sp>
        <p:nvSpPr>
          <p:cNvPr id="17" name="Маркер 1-0">
            <a:extLst xmlns:a="http://schemas.openxmlformats.org/drawingml/2006/main">
              <a:ext uri="{FF2B5EF4-FFF2-40B4-BE49-F238E27FC236}">
                <a16:creationId xmlns:a16="http://schemas.microsoft.com/office/drawing/2014/main" id="{A6EA6A87-23E2-4556-AC75-AD6BEE59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958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4D7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Тезис 1-0">
            <a:extLst xmlns:a="http://schemas.openxmlformats.org/drawingml/2006/main">
              <a:ext uri="{FF2B5EF4-FFF2-40B4-BE49-F238E27FC236}">
                <a16:creationId xmlns:a16="http://schemas.microsoft.com/office/drawing/2014/main" id="{C0900B73-AA82-451F-B8D1-70B2E2AD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505325"/>
            <a:ext cx="609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поиск начинается с вопроса, а не обхода репозиториев;</a:t>
            </a:r>
          </a:p>
        </p:txBody>
      </p:sp>
      <p:sp>
        <p:nvSpPr>
          <p:cNvPr id="19" name="Маркер 1-1">
            <a:extLst xmlns:a="http://schemas.openxmlformats.org/drawingml/2006/main">
              <a:ext uri="{FF2B5EF4-FFF2-40B4-BE49-F238E27FC236}">
                <a16:creationId xmlns:a16="http://schemas.microsoft.com/office/drawing/2014/main" id="{4329D9FB-E136-4CBE-9059-06E4ADDF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2922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4D7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Тезис 1-1">
            <a:extLst xmlns:a="http://schemas.openxmlformats.org/drawingml/2006/main">
              <a:ext uri="{FF2B5EF4-FFF2-40B4-BE49-F238E27FC236}">
                <a16:creationId xmlns:a16="http://schemas.microsoft.com/office/drawing/2014/main" id="{976350C8-713B-4652-8744-AE11C533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238750"/>
            <a:ext cx="609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ключевые выводы можно проверить по evidence;</a:t>
            </a:r>
          </a:p>
        </p:txBody>
      </p:sp>
      <p:sp>
        <p:nvSpPr>
          <p:cNvPr id="21" name="Маркер 1-2">
            <a:extLst xmlns:a="http://schemas.openxmlformats.org/drawingml/2006/main">
              <a:ext uri="{FF2B5EF4-FFF2-40B4-BE49-F238E27FC236}">
                <a16:creationId xmlns:a16="http://schemas.microsoft.com/office/drawing/2014/main" id="{D66DB132-65EE-4F64-87B2-3E8C5F8A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9626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54D7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4D7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Тезис 1-2">
            <a:extLst xmlns:a="http://schemas.openxmlformats.org/drawingml/2006/main">
              <a:ext uri="{FF2B5EF4-FFF2-40B4-BE49-F238E27FC236}">
                <a16:creationId xmlns:a16="http://schemas.microsoft.com/office/drawing/2014/main" id="{2733C82D-8CBB-428D-91EC-3BEAE7BC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972175"/>
            <a:ext cx="609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план учитывает контракты, данные, тесты и rollout.</a:t>
            </a:r>
          </a:p>
        </p:txBody>
      </p:sp>
      <p:sp>
        <p:nvSpPr>
          <p:cNvPr id="23" name="Акцент вывода">
            <a:extLst xmlns:a="http://schemas.openxmlformats.org/drawingml/2006/main">
              <a:ext uri="{FF2B5EF4-FFF2-40B4-BE49-F238E27FC236}">
                <a16:creationId xmlns:a16="http://schemas.microsoft.com/office/drawing/2014/main" id="{E8DC54A8-5991-48EC-97C7-F8498099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381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Ключевой вывод">
            <a:extLst xmlns:a="http://schemas.openxmlformats.org/drawingml/2006/main">
              <a:ext uri="{FF2B5EF4-FFF2-40B4-BE49-F238E27FC236}">
                <a16:creationId xmlns:a16="http://schemas.microsoft.com/office/drawing/2014/main" id="{D1CB4BC9-3C17-4732-8F4A-0E935670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48500"/>
            <a:ext cx="134207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A4B8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Главный результат:</a:t>
            </a:r>
            <a:r>
              <a:rPr sz="1800" b="0">
                <a:solidFill>
                  <a:srgbClr val="A4B8C9"/>
                </a:solidFill>
                <a:latin typeface="Arial"/>
                <a:ea typeface="Arial"/>
                <a:cs typeface="Arial"/>
              </a:rPr>
              <a:t> единый RAG не заменяет владельцев знаний — он связывает их источники в повторяемый и проверяемый процесс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9271855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2026-09-08T07:05:40.1710000Z</dcterms:created>
  <dcterms:modified xsi:type="dcterms:W3CDTF">2026-09-08T07:05:40.1710000Z</dcterms:modified>
</coreProperties>
</file>